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9"/>
  </p:notesMasterIdLst>
  <p:sldIdLst>
    <p:sldId id="281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2" r:id="rId28"/>
  </p:sldIdLst>
  <p:sldSz cx="9144000" cy="5143500" type="screen16x9"/>
  <p:notesSz cx="6858000" cy="9144000"/>
  <p:embeddedFontLst>
    <p:embeddedFont>
      <p:font typeface="Open Sans" panose="020B0604020202020204" charset="0"/>
      <p:regular r:id="rId30"/>
      <p:bold r:id="rId31"/>
      <p:italic r:id="rId32"/>
      <p:boldItalic r:id="rId33"/>
    </p:embeddedFont>
    <p:embeddedFont>
      <p:font typeface="맑은 고딕" panose="020B0503020000020004" pitchFamily="34" charset="-127"/>
      <p:regular r:id="rId34"/>
      <p:bold r:id="rId35"/>
    </p:embeddedFont>
    <p:embeddedFont>
      <p:font typeface="PT Sans Narrow" panose="020B0604020202020204" charset="0"/>
      <p:regular r:id="rId36"/>
      <p:bold r:id="rId37"/>
    </p:embeddedFont>
    <p:embeddedFont>
      <p:font typeface="Inter" panose="020B0604020202020204" charset="0"/>
      <p:regular r:id="rId38"/>
      <p:bold r:id="rId39"/>
      <p:italic r:id="rId40"/>
      <p:boldItalic r:id="rId4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2" d="100"/>
          <a:sy n="92" d="100"/>
        </p:scale>
        <p:origin x="102" y="57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5.fntdata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4.fntdata"/><Relationship Id="rId38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41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3.fntdata"/><Relationship Id="rId37" Type="http://schemas.openxmlformats.org/officeDocument/2006/relationships/font" Target="fonts/font8.fntdata"/><Relationship Id="rId40" Type="http://schemas.openxmlformats.org/officeDocument/2006/relationships/font" Target="fonts/font11.fntdata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7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2.fntdata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1.fntdata"/><Relationship Id="rId35" Type="http://schemas.openxmlformats.org/officeDocument/2006/relationships/font" Target="fonts/font6.fntdata"/><Relationship Id="rId43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Lab Session 01: AWS Compute Foundations – EC2, Networking, and Application Deployment	Lab Session 02: Identity and Access Control with IAM	Lab Session 03: Cloud Storage Solutions – S3, EBS, and EFS	Lab Session 04: Database Services – RDS, </a:t>
            </a:r>
            <a:r>
              <a:rPr lang="en-US" dirty="0" err="1" smtClean="0"/>
              <a:t>DynamoDB</a:t>
            </a:r>
            <a:r>
              <a:rPr lang="en-US" dirty="0" smtClean="0"/>
              <a:t>, and </a:t>
            </a:r>
            <a:r>
              <a:rPr lang="en-US" dirty="0" err="1" smtClean="0"/>
              <a:t>ElastiCache</a:t>
            </a:r>
            <a:r>
              <a:rPr lang="en-US" dirty="0" smtClean="0"/>
              <a:t>	Lab Session 05: Load Balancing and Auto Scaling	Lab Session 06: Container Orchestration with ECS, </a:t>
            </a:r>
            <a:r>
              <a:rPr lang="en-US" dirty="0" err="1" smtClean="0"/>
              <a:t>Fargate</a:t>
            </a:r>
            <a:r>
              <a:rPr lang="en-US" dirty="0" smtClean="0"/>
              <a:t>, and EKS	Lab Session 07: </a:t>
            </a:r>
            <a:r>
              <a:rPr lang="en-US" dirty="0" err="1" smtClean="0"/>
              <a:t>Serverless</a:t>
            </a:r>
            <a:r>
              <a:rPr lang="en-US" dirty="0" smtClean="0"/>
              <a:t> Computing with Lambda	Lab Session 08: Monitoring, Logging, and Security Auditing	Lab Session 09: Infrastructure as Code – </a:t>
            </a:r>
            <a:r>
              <a:rPr lang="en-US" dirty="0" err="1" smtClean="0"/>
              <a:t>CloudFormation</a:t>
            </a:r>
            <a:r>
              <a:rPr lang="en-US" dirty="0" smtClean="0"/>
              <a:t>, CDK, and Terraform	Lab Session 10: CI/CD Pipelines – App Runner, </a:t>
            </a:r>
            <a:r>
              <a:rPr lang="en-US" dirty="0" err="1" smtClean="0"/>
              <a:t>CodePipeline</a:t>
            </a:r>
            <a:r>
              <a:rPr lang="en-US" dirty="0" smtClean="0"/>
              <a:t>, GitHub Actions, and </a:t>
            </a:r>
            <a:r>
              <a:rPr lang="en-US" dirty="0" err="1" smtClean="0"/>
              <a:t>CodeDeploy</a:t>
            </a:r>
            <a:r>
              <a:rPr lang="en-US" dirty="0" smtClean="0"/>
              <a:t>	Lab Session 11: AI/ML Services – </a:t>
            </a:r>
            <a:r>
              <a:rPr lang="en-US" dirty="0" err="1" smtClean="0"/>
              <a:t>Rekognition</a:t>
            </a:r>
            <a:r>
              <a:rPr lang="en-US" dirty="0" smtClean="0"/>
              <a:t>, Comprehend, Translate, and </a:t>
            </a:r>
            <a:r>
              <a:rPr lang="en-US" dirty="0" err="1" smtClean="0"/>
              <a:t>SageMaker</a:t>
            </a:r>
            <a:r>
              <a:rPr lang="en-US" dirty="0" smtClean="0"/>
              <a:t>	Lab Session 12: Hybrid Cloud Networking – VPC Peering, Transit Gateway, VPN, and Direct Connect	Lab Session 13: Security and Compliance – AWS </a:t>
            </a:r>
            <a:r>
              <a:rPr lang="en-US" dirty="0" err="1" smtClean="0"/>
              <a:t>Config</a:t>
            </a:r>
            <a:r>
              <a:rPr lang="en-US" dirty="0" smtClean="0"/>
              <a:t>, </a:t>
            </a:r>
            <a:r>
              <a:rPr lang="en-US" dirty="0" err="1" smtClean="0"/>
              <a:t>GuardDuty</a:t>
            </a:r>
            <a:r>
              <a:rPr lang="en-US" dirty="0" smtClean="0"/>
              <a:t>, Security Hub, and KMS	Lab Session 14: Disaster Recovery and Business Continuity – AWS Backup, Multi-Region, and Failover	Lab Session 15: Migration and Modernization – </a:t>
            </a:r>
            <a:r>
              <a:rPr lang="en-US" dirty="0" err="1" smtClean="0"/>
              <a:t>DataSync</a:t>
            </a:r>
            <a:r>
              <a:rPr lang="en-US" dirty="0" smtClean="0"/>
              <a:t>, DMS, MGN, Containers, and </a:t>
            </a:r>
            <a:r>
              <a:rPr lang="en-US" dirty="0" err="1" smtClean="0"/>
              <a:t>Serverless</a:t>
            </a:r>
            <a:r>
              <a:rPr lang="en-US" dirty="0" smtClean="0"/>
              <a:t>	</a:t>
            </a:r>
          </a:p>
          <a:p>
            <a:endParaRPr lang="en-US" dirty="0" smtClean="0"/>
          </a:p>
          <a:p>
            <a:r>
              <a:rPr lang="en-US" dirty="0" smtClean="0"/>
              <a:t>Lab Session 16: Cost Management and Optimization – Cost Explorer, Trusted Advisor, Budgets, and Well-Architected</a:t>
            </a:r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https://www.youtube.com/watch?v=SOTamWNgDKc&amp;t=19604s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C773BF-E5C9-44BF-B19B-39EF1F90376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62375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SLIDES_API115911536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SLIDES_API115911536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📣 This is Slido interaction slide, please don't delete it.</a:t>
            </a:r>
            <a:br>
              <a:rPr lang="en-GB"/>
            </a:br>
            <a:r>
              <a:rPr lang="en-GB"/>
              <a:t>✅ Click on 'Present with Slido' and the joining instructions will appear when you get to this slide.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SLIDES_API999239184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SLIDES_API999239184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📣 This is Slido interaction slide, please don't delete it.</a:t>
            </a:r>
            <a:br>
              <a:rPr lang="en-GB"/>
            </a:br>
            <a:r>
              <a:rPr lang="en-GB"/>
              <a:t>✅ Click on 'Present with Slido' and the poll will launch automatically when you get to this slide.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SLIDES_API172564527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SLIDES_API172564527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📣 This is Slido interaction slide, please don't delete it.</a:t>
            </a:r>
            <a:br>
              <a:rPr lang="en-GB"/>
            </a:br>
            <a:r>
              <a:rPr lang="en-GB"/>
              <a:t>✅ Click on 'Present with Slido' and the poll will launch automatically when you get to this slide.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3cd11376de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3cd11376de_0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SLIDES_API255777515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SLIDES_API255777515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📣 This is Slido interaction slide, please don't delete it.</a:t>
            </a:r>
            <a:br>
              <a:rPr lang="en-GB"/>
            </a:br>
            <a:r>
              <a:rPr lang="en-GB"/>
              <a:t>✅ Click on 'Present with Slido' and the poll will launch automatically when you get to this slide.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3cd11376de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3cd11376de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SLIDES_API1935059427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SLIDES_API1935059427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📣 This is Slido interaction slide, please don't delete it.</a:t>
            </a:r>
            <a:br>
              <a:rPr lang="en-GB"/>
            </a:br>
            <a:r>
              <a:rPr lang="en-GB"/>
              <a:t>✅ Click on 'Present with Slido' and the poll will launch automatically when you get to this slide.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3cd11376de_0_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3cd11376de_0_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SLIDES_API1916042958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SLIDES_API1916042958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📣 This is Slido interaction slide, please don't delete it.</a:t>
            </a:r>
            <a:br>
              <a:rPr lang="en-GB"/>
            </a:br>
            <a:r>
              <a:rPr lang="en-GB"/>
              <a:t>✅ Click on 'Present with Slido' and the poll will launch automatically when you get to this slide.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3cd11376de_0_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3cd11376de_0_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SLIDES_API477100359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SLIDES_API477100359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📣 This is Slido interaction slide, please don't delete it.</a:t>
            </a:r>
            <a:br>
              <a:rPr lang="en-GB"/>
            </a:br>
            <a:r>
              <a:rPr lang="en-GB"/>
              <a:t>✅ Click on 'Present with Slido' and the poll will launch automatically when you get to this slide.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3cd11376de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3cd11376de_0_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SLIDES_API2078959937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SLIDES_API2078959937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📣 This is Slido interaction slide, please don't delete it.</a:t>
            </a:r>
            <a:br>
              <a:rPr lang="en-GB"/>
            </a:br>
            <a:r>
              <a:rPr lang="en-GB"/>
              <a:t>✅ Click on 'Present with Slido' and the poll will launch automatically when you get to this slide.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3cd11376de_0_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3cd11376de_0_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SLIDES_API147277438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SLIDES_API147277438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📣 This is Slido interaction slide, please don't delete it.</a:t>
            </a:r>
            <a:br>
              <a:rPr lang="en-GB"/>
            </a:br>
            <a:r>
              <a:rPr lang="en-GB"/>
              <a:t>✅ Click on 'Present with Slido' and the poll will launch automatically when you get to this slide.</a:t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3cd11376de_0_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33cd11376de_0_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SLIDES_API1015434937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SLIDES_API1015434937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📣 This is Slido interaction slide, please don't delete it.</a:t>
            </a:r>
            <a:br>
              <a:rPr lang="en-GB"/>
            </a:br>
            <a:r>
              <a:rPr lang="en-GB"/>
              <a:t>✅ Click on 'Present with Slido' and the poll will launch automatically when you get to this slide.</a:t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3cd11376de_0_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33cd11376de_0_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SLIDES_API1998259869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SLIDES_API1998259869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📣 This is Slido interaction slide, please don't delete it.</a:t>
            </a:r>
            <a:br>
              <a:rPr lang="en-GB"/>
            </a:br>
            <a:r>
              <a:rPr lang="en-GB"/>
              <a:t>✅ Click on 'Present with Slido' and the poll will launch automatically when you get to this slide.</a:t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3cd11376de_0_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33cd11376de_0_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SLIDES_API151616227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" name="Google Shape;256;SLIDES_API151616227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📣 This is Slido interaction slide, please don't delete it.</a:t>
            </a:r>
            <a:br>
              <a:rPr lang="en-GB"/>
            </a:br>
            <a:r>
              <a:rPr lang="en-GB"/>
              <a:t>✅ Click on 'Present with Slido' and the poll will launch automatically when you get to this slide.</a:t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3cd11376de_0_1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33cd11376de_0_1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3cd11376de_0_1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" name="Google Shape;274;g33cd11376de_0_1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SLIDES_API1683330515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SLIDES_API1683330515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📣 This is Slido interaction slide, please don't delete it.</a:t>
            </a:r>
            <a:br>
              <a:rPr lang="en-GB"/>
            </a:br>
            <a:r>
              <a:rPr lang="en-GB"/>
              <a:t>✅ Click on 'Present with Slido' and the poll will launch automatically when you get to this slide.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7007735" y="3176888"/>
            <a:ext cx="562200" cy="0"/>
          </a:xfrm>
          <a:prstGeom prst="straightConnector1">
            <a:avLst/>
          </a:prstGeom>
          <a:noFill/>
          <a:ln w="762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" name="Google Shape;11;p2"/>
          <p:cNvCxnSpPr/>
          <p:nvPr/>
        </p:nvCxnSpPr>
        <p:spPr>
          <a:xfrm>
            <a:off x="1575035" y="3158252"/>
            <a:ext cx="562200" cy="0"/>
          </a:xfrm>
          <a:prstGeom prst="straightConnector1">
            <a:avLst/>
          </a:prstGeom>
          <a:noFill/>
          <a:ln w="762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12" name="Google Shape;12;p2"/>
          <p:cNvGrpSpPr/>
          <p:nvPr/>
        </p:nvGrpSpPr>
        <p:grpSpPr>
          <a:xfrm>
            <a:off x="1004144" y="1022025"/>
            <a:ext cx="7136668" cy="152400"/>
            <a:chOff x="1346429" y="1011300"/>
            <a:chExt cx="6452100" cy="152400"/>
          </a:xfrm>
        </p:grpSpPr>
        <p:cxnSp>
          <p:nvCxnSpPr>
            <p:cNvPr id="13" name="Google Shape;13;p2"/>
            <p:cNvCxnSpPr/>
            <p:nvPr/>
          </p:nvCxnSpPr>
          <p:spPr>
            <a:xfrm rot="10800000">
              <a:off x="1346429" y="1011300"/>
              <a:ext cx="6452100" cy="0"/>
            </a:xfrm>
            <a:prstGeom prst="straightConnector1">
              <a:avLst/>
            </a:prstGeom>
            <a:noFill/>
            <a:ln w="762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4" name="Google Shape;14;p2"/>
            <p:cNvCxnSpPr/>
            <p:nvPr/>
          </p:nvCxnSpPr>
          <p:spPr>
            <a:xfrm rot="10800000">
              <a:off x="1346429" y="1163700"/>
              <a:ext cx="64521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15" name="Google Shape;15;p2"/>
          <p:cNvGrpSpPr/>
          <p:nvPr/>
        </p:nvGrpSpPr>
        <p:grpSpPr>
          <a:xfrm>
            <a:off x="1004151" y="3969100"/>
            <a:ext cx="7136668" cy="152400"/>
            <a:chOff x="1346435" y="3969088"/>
            <a:chExt cx="6452100" cy="152400"/>
          </a:xfrm>
        </p:grpSpPr>
        <p:cxnSp>
          <p:nvCxnSpPr>
            <p:cNvPr id="16" name="Google Shape;16;p2"/>
            <p:cNvCxnSpPr/>
            <p:nvPr/>
          </p:nvCxnSpPr>
          <p:spPr>
            <a:xfrm>
              <a:off x="1346435" y="4121488"/>
              <a:ext cx="6452100" cy="0"/>
            </a:xfrm>
            <a:prstGeom prst="straightConnector1">
              <a:avLst/>
            </a:prstGeom>
            <a:noFill/>
            <a:ln w="762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7" name="Google Shape;17;p2"/>
            <p:cNvCxnSpPr/>
            <p:nvPr/>
          </p:nvCxnSpPr>
          <p:spPr>
            <a:xfrm>
              <a:off x="1346435" y="3969088"/>
              <a:ext cx="64521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18" name="Google Shape;18;p2"/>
          <p:cNvSpPr txBox="1">
            <a:spLocks noGrp="1"/>
          </p:cNvSpPr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subTitle" idx="1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/>
          <p:nvPr/>
        </p:nvSpPr>
        <p:spPr>
          <a:xfrm>
            <a:off x="-50" y="2571900"/>
            <a:ext cx="9144000" cy="25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title"/>
          </p:nvPr>
        </p:nvSpPr>
        <p:spPr>
          <a:xfrm>
            <a:off x="311700" y="814800"/>
            <a:ext cx="8571300" cy="94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body" idx="1"/>
          </p:nvPr>
        </p:nvSpPr>
        <p:spPr>
          <a:xfrm>
            <a:off x="311700" y="1266175"/>
            <a:ext cx="39999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2"/>
          </p:nvPr>
        </p:nvSpPr>
        <p:spPr>
          <a:xfrm>
            <a:off x="4832400" y="1266175"/>
            <a:ext cx="39999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6"/>
        </a:solidFill>
        <a:effectLst/>
      </p:bgPr>
    </p:bg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6136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4" name="Google Shape;4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7" name="Google Shape;47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8" name="Google Shape;48;p9"/>
          <p:cNvSpPr txBox="1">
            <a:spLocks noGrp="1"/>
          </p:cNvSpPr>
          <p:nvPr>
            <p:ph type="title"/>
          </p:nvPr>
        </p:nvSpPr>
        <p:spPr>
          <a:xfrm>
            <a:off x="265500" y="1039675"/>
            <a:ext cx="4045200" cy="1675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9" name="Google Shape;49;p9"/>
          <p:cNvSpPr txBox="1">
            <a:spLocks noGrp="1"/>
          </p:cNvSpPr>
          <p:nvPr>
            <p:ph type="subTitle" idx="1"/>
          </p:nvPr>
        </p:nvSpPr>
        <p:spPr>
          <a:xfrm>
            <a:off x="265500" y="27268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0" name="Google Shape;50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>
            <a:spLocks noGrp="1"/>
          </p:cNvSpPr>
          <p:nvPr>
            <p:ph type="body" idx="1"/>
          </p:nvPr>
        </p:nvSpPr>
        <p:spPr>
          <a:xfrm>
            <a:off x="311700" y="423072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 Narrow"/>
              <a:buNone/>
              <a:defRPr sz="2400">
                <a:latin typeface="PT Sans Narrow"/>
                <a:ea typeface="PT Sans Narrow"/>
                <a:cs typeface="PT Sans Narrow"/>
                <a:sym typeface="PT Sans Narrow"/>
              </a:defRPr>
            </a:lvl1pPr>
          </a:lstStyle>
          <a:p>
            <a:endParaRPr/>
          </a:p>
        </p:txBody>
      </p:sp>
      <p:sp>
        <p:nvSpPr>
          <p:cNvPr id="54" name="Google Shape;54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1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304850"/>
            <a:ext cx="8520600" cy="15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8" name="Google Shape;58;p11"/>
          <p:cNvSpPr txBox="1">
            <a:spLocks noGrp="1"/>
          </p:cNvSpPr>
          <p:nvPr>
            <p:ph type="body" idx="1"/>
          </p:nvPr>
        </p:nvSpPr>
        <p:spPr>
          <a:xfrm>
            <a:off x="311700" y="2995650"/>
            <a:ext cx="85206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9" name="Google Shape;59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8954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tropic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  <a:defRPr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amelcharolinesgn2/AWS" TargetMode="External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sli.do/features-google-slides?payload=eyJwcmVzZW50YXRpb25JZCI6IjE1eUc5RU9OTXpKZWk4OVc0V19LM1d6WDI4WlpLRllDME4zSW9Id01nWkVVIiwic2xpZGVJZCI6IlNMSURFU19BUEkxMTU5MTE1MzYwXzAiLCJ0eXBlIjoiU2xpZG9Kb2luaW5nIn0%3D" TargetMode="External"/><Relationship Id="rId3" Type="http://schemas.openxmlformats.org/officeDocument/2006/relationships/hyperlink" Target="https://www.slido.com/support/gsi/how-to-change-the-design" TargetMode="External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Relationship Id="rId6" Type="http://schemas.openxmlformats.org/officeDocument/2006/relationships/hyperlink" Target="https://chrome.google.com/webstore/detail/slido/dhhclfjehmpacimcdknijodpjpmppkii" TargetMode="External"/><Relationship Id="rId5" Type="http://schemas.openxmlformats.org/officeDocument/2006/relationships/image" Target="../media/image6.png"/><Relationship Id="rId4" Type="http://schemas.openxmlformats.org/officeDocument/2006/relationships/hyperlink" Target="https://www.sli.do/features-google-slides?interaction-type=Sm9pbg%3D%3D" TargetMode="External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sli.do/features-google-slides?payload=eyJwb2xsVXVpZCI6IjQyZTIxMmNkLTI0ZmMtNGY1MC05M2UwLWRmYzUwMmE5NjYyNSIsInByZXNlbnRhdGlvbklkIjoiMTV5RzlFT05NekplaTg5VzRXX0szV3pYMjhaWktGWUMwTjNJb0h3TWdaRVUiLCJzbGlkZUlkIjoiU0xJREVTX0FQSTk5OTIzOTE4NF8wIiwidGltZWxpbmUiOlt7InBvbGxRdWVzdGlvblV1aWQiOiI4Mzg0YjkwYi03OTcyLTQ5NWUtOTk0ZS05NzJjZDE1Y2Y5OGUiLCJzaG93UmVzdWx0cyI6ZmFsc2V9LHsicG9sbFF1ZXN0aW9uVXVpZCI6IjgzODRiOTBiLTc5NzItNDk1ZS05OTRlLTk3MmNkMTVjZjk4ZSIsInNob3dSZXN1bHRzIjp0cnVlfV0sInR5cGUiOiJTbGlkb1BvbGwifQ%3D%3D" TargetMode="External"/><Relationship Id="rId3" Type="http://schemas.openxmlformats.org/officeDocument/2006/relationships/hyperlink" Target="https://www.slido.com/support/gsi/how-to-change-the-design" TargetMode="External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Relationship Id="rId6" Type="http://schemas.openxmlformats.org/officeDocument/2006/relationships/hyperlink" Target="https://chrome.google.com/webstore/detail/slido/dhhclfjehmpacimcdknijodpjpmppkii" TargetMode="External"/><Relationship Id="rId5" Type="http://schemas.openxmlformats.org/officeDocument/2006/relationships/image" Target="../media/image9.png"/><Relationship Id="rId4" Type="http://schemas.openxmlformats.org/officeDocument/2006/relationships/hyperlink" Target="https://www.sli.do/features-google-slides?interaction-type=T3BlblRleHQ%3D" TargetMode="External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sli.do/features-google-slides?payload=eyJwb2xsVXVpZCI6ImZiNzc4ZTJmLTA2YmYtNDQ5Ni1iNTIwLWEyYjIyMDJiNTRiYyIsInByZXNlbnRhdGlvbklkIjoiMTV5RzlFT05NekplaTg5VzRXX0szV3pYMjhaWktGWUMwTjNJb0h3TWdaRVUiLCJzbGlkZUlkIjoiU0xJREVTX0FQSTE3MjU2NDUyNzJfMCIsInRpbWVsaW5lIjpbeyJwb2xsUXVlc3Rpb25VdWlkIjoiYTY1NTc5YWMtYTk2Mi00YWJiLWEyYWEtODk1ZTdiY2NlZTcwIiwic2hvd1Jlc3VsdHMiOmZhbHNlfSx7InBvbGxRdWVzdGlvblV1aWQiOiJhNjU1NzlhYy1hOTYyLTRhYmItYTJhYS04OTVlN2JjY2VlNzAiLCJzaG93UmVzdWx0cyI6dHJ1ZX1dLCJ0eXBlIjoiU2xpZG9Qb2xsIn0%3D" TargetMode="External"/><Relationship Id="rId3" Type="http://schemas.openxmlformats.org/officeDocument/2006/relationships/hyperlink" Target="https://www.slido.com/support/gsi/how-to-change-the-design" TargetMode="External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Relationship Id="rId6" Type="http://schemas.openxmlformats.org/officeDocument/2006/relationships/hyperlink" Target="https://chrome.google.com/webstore/detail/slido/dhhclfjehmpacimcdknijodpjpmppkii" TargetMode="External"/><Relationship Id="rId5" Type="http://schemas.openxmlformats.org/officeDocument/2006/relationships/image" Target="../media/image10.png"/><Relationship Id="rId4" Type="http://schemas.openxmlformats.org/officeDocument/2006/relationships/hyperlink" Target="https://www.sli.do/features-google-slides?interaction-type=V29yZENsb3Vk" TargetMode="External"/><Relationship Id="rId9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sli.do/features-google-slides?payload=eyJwb2xsUXVlc3Rpb25VdWlkIjoiZjdlZDQ4MDYtYTVmZS00YTczLWEyOGEtMGMyYjQ5NjNhMjRmIiwicG9sbFV1aWQiOiI1MWYzYzcyYi0wZTRlLTRiMGEtYmEyMC0zMGQyNTg0NzM0ZjQiLCJwcmVzZW50YXRpb25JZCI6IjE1eUc5RU9OTXpKZWk4OVc0V19LM1d6WDI4WlpLRllDME4zSW9Id01nWkVVIiwic2xpZGVJZCI6IlNMSURFU19BUEkyNTU3Nzc1MTVfMCIsInRpbWVsaW5lIjpbeyJzY3JlZW4iOiJRdWl6Sm9pbmluZyJ9LHsicG9sbFF1ZXN0aW9uVXVpZCI6ImY3ZWQ0ODA2LWE1ZmUtNGE3My1hMjhhLTBjMmI0OTYzYTI0ZiIsInNob3dDb3JyZWN0QW5zd2VycyI6ZmFsc2UsInNob3dSZXN1bHRzIjpmYWxzZSwidm90aW5nTG9ja2VkIjpmYWxzZX0seyJwb2xsUXVlc3Rpb25VdWlkIjoiZjdlZDQ4MDYtYTVmZS00YTczLWEyOGEtMGMyYjQ5NjNhMjRmIiwic2hvd0NvcnJlY3RBbnN3ZXJzIjpmYWxzZSwic2hvd1Jlc3VsdHMiOnRydWUsInZvdGluZ0xvY2tlZCI6dHJ1ZX0seyJwb2xsUXVlc3Rpb25VdWlkIjoiZjdlZDQ4MDYtYTVmZS00YTczLWEyOGEtMGMyYjQ5NjNhMjRmIiwic2hvd0NvcnJlY3RBbnN3ZXJzIjp0cnVlLCJzaG93UmVzdWx0cyI6dHJ1ZSwidm90aW5nTG9ja2VkIjp0cnVlfSx7InBvbGxRdWVzdGlvblV1aWQiOiJmN2VkNDgwNi1hNWZlLTRhNzMtYTI4YS0wYzJiNDk2M2EyNGYiLCJzY3JlZW4iOiJRdWl6SW50ZXJpbUxlYWRlcmJvYXJkIn1dLCJ0eXBlIjoiU2xpZG9Qb2xsIn0%3D" TargetMode="External"/><Relationship Id="rId3" Type="http://schemas.openxmlformats.org/officeDocument/2006/relationships/hyperlink" Target="https://www.slido.com/support/gsi/how-to-change-the-design" TargetMode="External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Relationship Id="rId6" Type="http://schemas.openxmlformats.org/officeDocument/2006/relationships/hyperlink" Target="https://chrome.google.com/webstore/detail/slido/dhhclfjehmpacimcdknijodpjpmppkii" TargetMode="External"/><Relationship Id="rId5" Type="http://schemas.openxmlformats.org/officeDocument/2006/relationships/image" Target="../media/image11.png"/><Relationship Id="rId4" Type="http://schemas.openxmlformats.org/officeDocument/2006/relationships/hyperlink" Target="https://www.sli.do/features-google-slides?interaction-type=UXVpeg%3D%3D" TargetMode="External"/><Relationship Id="rId9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sli.do/features-google-slides?payload=eyJwb2xsUXVlc3Rpb25VdWlkIjoiNjdkY2YyODktM2U3ZS00M2VlLTliN2ItYmU2MjE4YmU1ZWNlIiwicG9sbFV1aWQiOiI1MWYzYzcyYi0wZTRlLTRiMGEtYmEyMC0zMGQyNTg0NzM0ZjQiLCJwcmVzZW50YXRpb25JZCI6IjE1eUc5RU9OTXpKZWk4OVc0V19LM1d6WDI4WlpLRllDME4zSW9Id01nWkVVIiwic2xpZGVJZCI6IlNMSURFU19BUEkxOTM1MDU5NDI3XzAiLCJ0aW1lbGluZSI6W3sic2NyZWVuIjoiUXVpekdldFJlYWR5In0seyJwb2xsUXVlc3Rpb25VdWlkIjoiNjdkY2YyODktM2U3ZS00M2VlLTliN2ItYmU2MjE4YmU1ZWNlIiwic2hvd0NvcnJlY3RBbnN3ZXJzIjpmYWxzZSwic2hvd1Jlc3VsdHMiOmZhbHNlLCJ2b3RpbmdMb2NrZWQiOmZhbHNlfSx7InBvbGxRdWVzdGlvblV1aWQiOiI2N2RjZjI4OS0zZTdlLTQzZWUtOWI3Yi1iZTYyMThiZTVlY2UiLCJzaG93Q29ycmVjdEFuc3dlcnMiOmZhbHNlLCJzaG93UmVzdWx0cyI6dHJ1ZSwidm90aW5nTG9ja2VkIjp0cnVlfSx7InBvbGxRdWVzdGlvblV1aWQiOiI2N2RjZjI4OS0zZTdlLTQzZWUtOWI3Yi1iZTYyMThiZTVlY2UiLCJzaG93Q29ycmVjdEFuc3dlcnMiOnRydWUsInNob3dSZXN1bHRzIjp0cnVlLCJ2b3RpbmdMb2NrZWQiOnRydWV9LHsicG9sbFF1ZXN0aW9uVXVpZCI6IjY3ZGNmMjg5LTNlN2UtNDNlZS05YjdiLWJlNjIxOGJlNWVjZSIsInNjcmVlbiI6IlF1aXpJbnRlcmltTGVhZGVyYm9hcmQifV0sInR5cGUiOiJTbGlkb1BvbGwifQ%3D%3D" TargetMode="External"/><Relationship Id="rId3" Type="http://schemas.openxmlformats.org/officeDocument/2006/relationships/hyperlink" Target="https://www.slido.com/support/gsi/how-to-change-the-design" TargetMode="External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Relationship Id="rId6" Type="http://schemas.openxmlformats.org/officeDocument/2006/relationships/hyperlink" Target="https://chrome.google.com/webstore/detail/slido/dhhclfjehmpacimcdknijodpjpmppkii" TargetMode="External"/><Relationship Id="rId5" Type="http://schemas.openxmlformats.org/officeDocument/2006/relationships/image" Target="../media/image11.png"/><Relationship Id="rId4" Type="http://schemas.openxmlformats.org/officeDocument/2006/relationships/hyperlink" Target="https://www.sli.do/features-google-slides?interaction-type=UXVpeg%3D%3D" TargetMode="External"/><Relationship Id="rId9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sli.do/features-google-slides?interaction-type=UXVpeg%3D%3D" TargetMode="External"/><Relationship Id="rId3" Type="http://schemas.openxmlformats.org/officeDocument/2006/relationships/hyperlink" Target="https://www.slido.com/support/gsi/how-to-change-the-design" TargetMode="External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Relationship Id="rId6" Type="http://schemas.openxmlformats.org/officeDocument/2006/relationships/hyperlink" Target="https://www.sli.do/features-google-slides?payload=eyJwb2xsUXVlc3Rpb25VdWlkIjoiNjY0NzZkNWEtMTM1Ny00Y2NlLWIzODUtN2E5OGEwMGFmOGY0IiwicG9sbFV1aWQiOiI1MWYzYzcyYi0wZTRlLTRiMGEtYmEyMC0zMGQyNTg0NzM0ZjQiLCJwcmVzZW50YXRpb25JZCI6IjE1eUc5RU9OTXpKZWk4OVc0V19LM1d6WDI4WlpLRllDME4zSW9Id01nWkVVIiwic2xpZGVJZCI6IlNMSURFU19BUEkxOTE2MDQyOTU4XzAiLCJ0aW1lbGluZSI6W3sic2NyZWVuIjoiUXVpekdldFJlYWR5In0seyJwb2xsUXVlc3Rpb25VdWlkIjoiNjY0NzZkNWEtMTM1Ny00Y2NlLWIzODUtN2E5OGEwMGFmOGY0Iiwic2hvd0NvcnJlY3RBbnN3ZXJzIjpmYWxzZSwic2hvd1Jlc3VsdHMiOmZhbHNlLCJ2b3RpbmdMb2NrZWQiOmZhbHNlfSx7InBvbGxRdWVzdGlvblV1aWQiOiI2NjQ3NmQ1YS0xMzU3LTRjY2UtYjM4NS03YTk4YTAwYWY4ZjQiLCJzaG93Q29ycmVjdEFuc3dlcnMiOmZhbHNlLCJzaG93UmVzdWx0cyI6dHJ1ZSwidm90aW5nTG9ja2VkIjp0cnVlfSx7InBvbGxRdWVzdGlvblV1aWQiOiI2NjQ3NmQ1YS0xMzU3LTRjY2UtYjM4NS03YTk4YTAwYWY4ZjQiLCJzaG93Q29ycmVjdEFuc3dlcnMiOnRydWUsInNob3dSZXN1bHRzIjp0cnVlLCJ2b3RpbmdMb2NrZWQiOnRydWV9LHsicG9sbFF1ZXN0aW9uVXVpZCI6IjY2NDc2ZDVhLTEzNTctNGNjZS1iMzg1LTdhOThhMDBhZjhmNCIsInNjcmVlbiI6IlF1aXpJbnRlcmltTGVhZGVyYm9hcmQifV0sInR5cGUiOiJTbGlkb1BvbGwifQ%3D%3D" TargetMode="External"/><Relationship Id="rId5" Type="http://schemas.openxmlformats.org/officeDocument/2006/relationships/image" Target="../media/image7.png"/><Relationship Id="rId4" Type="http://schemas.openxmlformats.org/officeDocument/2006/relationships/hyperlink" Target="https://chrome.google.com/webstore/detail/slido/dhhclfjehmpacimcdknijodpjpmppkii" TargetMode="External"/><Relationship Id="rId9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sli.do/features-google-slides?interaction-type=UXVpeg%3D%3D" TargetMode="External"/><Relationship Id="rId3" Type="http://schemas.openxmlformats.org/officeDocument/2006/relationships/hyperlink" Target="https://www.slido.com/support/gsi/how-to-change-the-design" TargetMode="External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1.xml"/><Relationship Id="rId6" Type="http://schemas.openxmlformats.org/officeDocument/2006/relationships/hyperlink" Target="https://www.sli.do/features-google-slides?payload=eyJwb2xsUXVlc3Rpb25VdWlkIjoiMzNmNzY4NmYtMTZlNy00MzhmLTk1YjktOWQyMDFiNzM3NWVlIiwicG9sbFV1aWQiOiI1MWYzYzcyYi0wZTRlLTRiMGEtYmEyMC0zMGQyNTg0NzM0ZjQiLCJwcmVzZW50YXRpb25JZCI6IjE1eUc5RU9OTXpKZWk4OVc0V19LM1d6WDI4WlpLRllDME4zSW9Id01nWkVVIiwic2xpZGVJZCI6IlNMSURFU19BUEk0NzcxMDAzNTlfMCIsInRpbWVsaW5lIjpbeyJzY3JlZW4iOiJRdWl6R2V0UmVhZHkifSx7InBvbGxRdWVzdGlvblV1aWQiOiIzM2Y3Njg2Zi0xNmU3LTQzOGYtOTViOS05ZDIwMWI3Mzc1ZWUiLCJzaG93Q29ycmVjdEFuc3dlcnMiOmZhbHNlLCJzaG93UmVzdWx0cyI6ZmFsc2UsInZvdGluZ0xvY2tlZCI6ZmFsc2V9LHsicG9sbFF1ZXN0aW9uVXVpZCI6IjMzZjc2ODZmLTE2ZTctNDM4Zi05NWI5LTlkMjAxYjczNzVlZSIsInNob3dDb3JyZWN0QW5zd2VycyI6ZmFsc2UsInNob3dSZXN1bHRzIjp0cnVlLCJ2b3RpbmdMb2NrZWQiOnRydWV9LHsicG9sbFF1ZXN0aW9uVXVpZCI6IjMzZjc2ODZmLTE2ZTctNDM4Zi05NWI5LTlkMjAxYjczNzVlZSIsInNob3dDb3JyZWN0QW5zd2VycyI6dHJ1ZSwic2hvd1Jlc3VsdHMiOnRydWUsInZvdGluZ0xvY2tlZCI6dHJ1ZX0seyJwb2xsUXVlc3Rpb25VdWlkIjoiMzNmNzY4NmYtMTZlNy00MzhmLTk1YjktOWQyMDFiNzM3NWVlIiwic2NyZWVuIjoiUXVpekludGVyaW1MZWFkZXJib2FyZCJ9XSwidHlwZSI6IlNsaWRvUG9sbCJ9" TargetMode="External"/><Relationship Id="rId5" Type="http://schemas.openxmlformats.org/officeDocument/2006/relationships/image" Target="../media/image7.png"/><Relationship Id="rId4" Type="http://schemas.openxmlformats.org/officeDocument/2006/relationships/hyperlink" Target="https://chrome.google.com/webstore/detail/slido/dhhclfjehmpacimcdknijodpjpmppkii" TargetMode="External"/><Relationship Id="rId9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sli.do/features-google-slides?interaction-type=UXVpeg%3D%3D" TargetMode="External"/><Relationship Id="rId3" Type="http://schemas.openxmlformats.org/officeDocument/2006/relationships/hyperlink" Target="https://www.slido.com/support/gsi/how-to-change-the-design" TargetMode="External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1.xml"/><Relationship Id="rId6" Type="http://schemas.openxmlformats.org/officeDocument/2006/relationships/hyperlink" Target="https://www.sli.do/features-google-slides?payload=eyJwb2xsUXVlc3Rpb25VdWlkIjoiNDA4NjRmYTktYWVmMi00YWE0LTk3NGYtNWNmNjI2N2FiY2NlIiwicG9sbFV1aWQiOiI1MWYzYzcyYi0wZTRlLTRiMGEtYmEyMC0zMGQyNTg0NzM0ZjQiLCJwcmVzZW50YXRpb25JZCI6IjE1eUc5RU9OTXpKZWk4OVc0V19LM1d6WDI4WlpLRllDME4zSW9Id01nWkVVIiwic2xpZGVJZCI6IlNMSURFU19BUEkyMDc4OTU5OTM3XzAiLCJ0aW1lbGluZSI6W3sic2NyZWVuIjoiUXVpekdldFJlYWR5In0seyJwb2xsUXVlc3Rpb25VdWlkIjoiNDA4NjRmYTktYWVmMi00YWE0LTk3NGYtNWNmNjI2N2FiY2NlIiwic2hvd0NvcnJlY3RBbnN3ZXJzIjpmYWxzZSwic2hvd1Jlc3VsdHMiOmZhbHNlLCJ2b3RpbmdMb2NrZWQiOmZhbHNlfSx7InBvbGxRdWVzdGlvblV1aWQiOiI0MDg2NGZhOS1hZWYyLTRhYTQtOTc0Zi01Y2Y2MjY3YWJjY2UiLCJzaG93Q29ycmVjdEFuc3dlcnMiOmZhbHNlLCJzaG93UmVzdWx0cyI6dHJ1ZSwidm90aW5nTG9ja2VkIjp0cnVlfSx7InBvbGxRdWVzdGlvblV1aWQiOiI0MDg2NGZhOS1hZWYyLTRhYTQtOTc0Zi01Y2Y2MjY3YWJjY2UiLCJzaG93Q29ycmVjdEFuc3dlcnMiOnRydWUsInNob3dSZXN1bHRzIjp0cnVlLCJ2b3RpbmdMb2NrZWQiOnRydWV9LHsicG9sbFF1ZXN0aW9uVXVpZCI6IjQwODY0ZmE5LWFlZjItNGFhNC05NzRmLTVjZjYyNjdhYmNjZSIsInNjcmVlbiI6IlF1aXpJbnRlcmltTGVhZGVyYm9hcmQifV0sInR5cGUiOiJTbGlkb1BvbGwifQ%3D%3D" TargetMode="External"/><Relationship Id="rId5" Type="http://schemas.openxmlformats.org/officeDocument/2006/relationships/image" Target="../media/image7.png"/><Relationship Id="rId4" Type="http://schemas.openxmlformats.org/officeDocument/2006/relationships/hyperlink" Target="https://chrome.google.com/webstore/detail/slido/dhhclfjehmpacimcdknijodpjpmppkii" TargetMode="External"/><Relationship Id="rId9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sli.do/features-google-slides?interaction-type=UXVpeg%3D%3D" TargetMode="External"/><Relationship Id="rId3" Type="http://schemas.openxmlformats.org/officeDocument/2006/relationships/hyperlink" Target="https://www.slido.com/support/gsi/how-to-change-the-design" TargetMode="External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1.xml"/><Relationship Id="rId6" Type="http://schemas.openxmlformats.org/officeDocument/2006/relationships/hyperlink" Target="https://www.sli.do/features-google-slides?payload=eyJwb2xsUXVlc3Rpb25VdWlkIjoiMWJlZDIzYjgtYzU1Zi00YWUzLTljNDUtNTJkNzU4OTFiNWY3IiwicG9sbFV1aWQiOiI1MWYzYzcyYi0wZTRlLTRiMGEtYmEyMC0zMGQyNTg0NzM0ZjQiLCJwcmVzZW50YXRpb25JZCI6IjE1eUc5RU9OTXpKZWk4OVc0V19LM1d6WDI4WlpLRllDME4zSW9Id01nWkVVIiwic2xpZGVJZCI6IlNMSURFU19BUEkxNDcyNzc0MzgwXzAiLCJ0aW1lbGluZSI6W3sic2NyZWVuIjoiUXVpekdldFJlYWR5In0seyJwb2xsUXVlc3Rpb25VdWlkIjoiMWJlZDIzYjgtYzU1Zi00YWUzLTljNDUtNTJkNzU4OTFiNWY3Iiwic2hvd0NvcnJlY3RBbnN3ZXJzIjpmYWxzZSwic2hvd1Jlc3VsdHMiOmZhbHNlLCJ2b3RpbmdMb2NrZWQiOmZhbHNlfSx7InBvbGxRdWVzdGlvblV1aWQiOiIxYmVkMjNiOC1jNTVmLTRhZTMtOWM0NS01MmQ3NTg5MWI1ZjciLCJzaG93Q29ycmVjdEFuc3dlcnMiOmZhbHNlLCJzaG93UmVzdWx0cyI6dHJ1ZSwidm90aW5nTG9ja2VkIjp0cnVlfSx7InBvbGxRdWVzdGlvblV1aWQiOiIxYmVkMjNiOC1jNTVmLTRhZTMtOWM0NS01MmQ3NTg5MWI1ZjciLCJzaG93Q29ycmVjdEFuc3dlcnMiOnRydWUsInNob3dSZXN1bHRzIjp0cnVlLCJ2b3RpbmdMb2NrZWQiOnRydWV9LHsicG9sbFF1ZXN0aW9uVXVpZCI6IjFiZWQyM2I4LWM1NWYtNGFlMy05YzQ1LTUyZDc1ODkxYjVmNyIsInNjcmVlbiI6IlF1aXpJbnRlcmltTGVhZGVyYm9hcmQifV0sInR5cGUiOiJTbGlkb1BvbGwifQ%3D%3D" TargetMode="External"/><Relationship Id="rId5" Type="http://schemas.openxmlformats.org/officeDocument/2006/relationships/image" Target="../media/image7.png"/><Relationship Id="rId4" Type="http://schemas.openxmlformats.org/officeDocument/2006/relationships/hyperlink" Target="https://chrome.google.com/webstore/detail/slido/dhhclfjehmpacimcdknijodpjpmppkii" TargetMode="External"/><Relationship Id="rId9" Type="http://schemas.openxmlformats.org/officeDocument/2006/relationships/image" Target="../media/image11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sli.do/features-google-slides?interaction-type=UXVpeg%3D%3D" TargetMode="External"/><Relationship Id="rId3" Type="http://schemas.openxmlformats.org/officeDocument/2006/relationships/hyperlink" Target="https://www.slido.com/support/gsi/how-to-change-the-design" TargetMode="External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1.xml"/><Relationship Id="rId6" Type="http://schemas.openxmlformats.org/officeDocument/2006/relationships/hyperlink" Target="https://www.sli.do/features-google-slides?payload=eyJwb2xsUXVlc3Rpb25VdWlkIjoiNDZjYTZhNWYtMTY4Ny00Yjg3LWEwMDQtZmQ0MTExMTExMDc1IiwicG9sbFV1aWQiOiI1MWYzYzcyYi0wZTRlLTRiMGEtYmEyMC0zMGQyNTg0NzM0ZjQiLCJwcmVzZW50YXRpb25JZCI6IjE1eUc5RU9OTXpKZWk4OVc0V19LM1d6WDI4WlpLRllDME4zSW9Id01nWkVVIiwic2xpZGVJZCI6IlNMSURFU19BUEkxMDE1NDM0OTM3XzAiLCJ0aW1lbGluZSI6W3sic2NyZWVuIjoiUXVpekdldFJlYWR5In0seyJwb2xsUXVlc3Rpb25VdWlkIjoiNDZjYTZhNWYtMTY4Ny00Yjg3LWEwMDQtZmQ0MTExMTExMDc1Iiwic2hvd0NvcnJlY3RBbnN3ZXJzIjpmYWxzZSwic2hvd1Jlc3VsdHMiOmZhbHNlLCJ2b3RpbmdMb2NrZWQiOmZhbHNlfSx7InBvbGxRdWVzdGlvblV1aWQiOiI0NmNhNmE1Zi0xNjg3LTRiODctYTAwNC1mZDQxMTExMTEwNzUiLCJzaG93Q29ycmVjdEFuc3dlcnMiOmZhbHNlLCJzaG93UmVzdWx0cyI6dHJ1ZSwidm90aW5nTG9ja2VkIjp0cnVlfSx7InBvbGxRdWVzdGlvblV1aWQiOiI0NmNhNmE1Zi0xNjg3LTRiODctYTAwNC1mZDQxMTExMTEwNzUiLCJzaG93Q29ycmVjdEFuc3dlcnMiOnRydWUsInNob3dSZXN1bHRzIjp0cnVlLCJ2b3RpbmdMb2NrZWQiOnRydWV9LHsicG9sbFF1ZXN0aW9uVXVpZCI6IjQ2Y2E2YTVmLTE2ODctNGI4Ny1hMDA0LWZkNDExMTExMTA3NSIsInNjcmVlbiI6IlF1aXpJbnRlcmltTGVhZGVyYm9hcmQifV0sInR5cGUiOiJTbGlkb1BvbGwifQ%3D%3D" TargetMode="External"/><Relationship Id="rId5" Type="http://schemas.openxmlformats.org/officeDocument/2006/relationships/image" Target="../media/image7.png"/><Relationship Id="rId4" Type="http://schemas.openxmlformats.org/officeDocument/2006/relationships/hyperlink" Target="https://chrome.google.com/webstore/detail/slido/dhhclfjehmpacimcdknijodpjpmppkii" TargetMode="External"/><Relationship Id="rId9" Type="http://schemas.openxmlformats.org/officeDocument/2006/relationships/image" Target="../media/image11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sli.do/features-google-slides?interaction-type=UXVpeg%3D%3D" TargetMode="External"/><Relationship Id="rId3" Type="http://schemas.openxmlformats.org/officeDocument/2006/relationships/hyperlink" Target="https://www.slido.com/support/gsi/how-to-change-the-design" TargetMode="External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1.xml"/><Relationship Id="rId6" Type="http://schemas.openxmlformats.org/officeDocument/2006/relationships/hyperlink" Target="https://www.sli.do/features-google-slides?payload=eyJwb2xsUXVlc3Rpb25VdWlkIjoiM2I0ODU0ZTItMTFiNy00NDQ2LTllYWYtZjZkZDk4YTNkZGIwIiwicG9sbFV1aWQiOiI1MWYzYzcyYi0wZTRlLTRiMGEtYmEyMC0zMGQyNTg0NzM0ZjQiLCJwcmVzZW50YXRpb25JZCI6IjE1eUc5RU9OTXpKZWk4OVc0V19LM1d6WDI4WlpLRllDME4zSW9Id01nWkVVIiwic2xpZGVJZCI6IlNMSURFU19BUEkxOTk4MjU5ODY5XzAiLCJ0aW1lbGluZSI6W3sic2NyZWVuIjoiUXVpekdldFJlYWR5In0seyJwb2xsUXVlc3Rpb25VdWlkIjoiM2I0ODU0ZTItMTFiNy00NDQ2LTllYWYtZjZkZDk4YTNkZGIwIiwic2hvd0NvcnJlY3RBbnN3ZXJzIjpmYWxzZSwic2hvd1Jlc3VsdHMiOmZhbHNlLCJ2b3RpbmdMb2NrZWQiOmZhbHNlfSx7InBvbGxRdWVzdGlvblV1aWQiOiIzYjQ4NTRlMi0xMWI3LTQ0NDYtOWVhZi1mNmRkOThhM2RkYjAiLCJzaG93Q29ycmVjdEFuc3dlcnMiOmZhbHNlLCJzaG93UmVzdWx0cyI6dHJ1ZSwidm90aW5nTG9ja2VkIjp0cnVlfSx7InBvbGxRdWVzdGlvblV1aWQiOiIzYjQ4NTRlMi0xMWI3LTQ0NDYtOWVhZi1mNmRkOThhM2RkYjAiLCJzaG93Q29ycmVjdEFuc3dlcnMiOnRydWUsInNob3dSZXN1bHRzIjp0cnVlLCJ2b3RpbmdMb2NrZWQiOnRydWV9LHsicG9sbFF1ZXN0aW9uVXVpZCI6IjNiNDg1NGUyLTExYjctNDQ0Ni05ZWFmLWY2ZGQ5OGEzZGRiMCIsInNjcmVlbiI6IlF1aXpJbnRlcmltTGVhZGVyYm9hcmQifV0sInR5cGUiOiJTbGlkb1BvbGwifQ%3D%3D" TargetMode="External"/><Relationship Id="rId5" Type="http://schemas.openxmlformats.org/officeDocument/2006/relationships/image" Target="../media/image7.png"/><Relationship Id="rId4" Type="http://schemas.openxmlformats.org/officeDocument/2006/relationships/hyperlink" Target="https://chrome.google.com/webstore/detail/slido/dhhclfjehmpacimcdknijodpjpmppkii" TargetMode="External"/><Relationship Id="rId9" Type="http://schemas.openxmlformats.org/officeDocument/2006/relationships/image" Target="../media/image11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sli.do/features-google-slides?interaction-type=UXVpeg%3D%3D" TargetMode="External"/><Relationship Id="rId3" Type="http://schemas.openxmlformats.org/officeDocument/2006/relationships/hyperlink" Target="https://www.slido.com/support/gsi/how-to-change-the-design" TargetMode="External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1.xml"/><Relationship Id="rId6" Type="http://schemas.openxmlformats.org/officeDocument/2006/relationships/hyperlink" Target="https://www.sli.do/features-google-slides?payload=eyJwb2xsUXVlc3Rpb25VdWlkIjoiNDQwZDI2ZjQtMDBhYi00NzlmLTk0YTUtNzBkYjA2ZjgxYjRhIiwicG9sbFV1aWQiOiI1MWYzYzcyYi0wZTRlLTRiMGEtYmEyMC0zMGQyNTg0NzM0ZjQiLCJwcmVzZW50YXRpb25JZCI6IjE1eUc5RU9OTXpKZWk4OVc0V19LM1d6WDI4WlpLRllDME4zSW9Id01nWkVVIiwic2xpZGVJZCI6IlNMSURFU19BUEkxNTE2MTYyMjcyXzAiLCJ0aW1lbGluZSI6W3sic2NyZWVuIjoiUXVpekdldFJlYWR5In0seyJwb2xsUXVlc3Rpb25VdWlkIjoiNDQwZDI2ZjQtMDBhYi00NzlmLTk0YTUtNzBkYjA2ZjgxYjRhIiwic2hvd0NvcnJlY3RBbnN3ZXJzIjpmYWxzZSwic2hvd1Jlc3VsdHMiOmZhbHNlLCJ2b3RpbmdMb2NrZWQiOmZhbHNlfSx7InBvbGxRdWVzdGlvblV1aWQiOiI0NDBkMjZmNC0wMGFiLTQ3OWYtOTRhNS03MGRiMDZmODFiNGEiLCJzaG93Q29ycmVjdEFuc3dlcnMiOmZhbHNlLCJzaG93UmVzdWx0cyI6dHJ1ZSwidm90aW5nTG9ja2VkIjp0cnVlfSx7InBvbGxRdWVzdGlvblV1aWQiOiI0NDBkMjZmNC0wMGFiLTQ3OWYtOTRhNS03MGRiMDZmODFiNGEiLCJzaG93Q29ycmVjdEFuc3dlcnMiOnRydWUsInNob3dSZXN1bHRzIjp0cnVlLCJ2b3RpbmdMb2NrZWQiOnRydWV9LHsicG9sbFF1ZXN0aW9uVXVpZCI6IjQ0MGQyNmY0LTAwYWItNDc5Zi05NGE1LTcwZGIwNmY4MWI0YSIsInNjcmVlbiI6IlF1aXpJbnRlcmltTGVhZGVyYm9hcmQifV0sInR5cGUiOiJTbGlkb1BvbGwifQ%3D%3D" TargetMode="External"/><Relationship Id="rId5" Type="http://schemas.openxmlformats.org/officeDocument/2006/relationships/image" Target="../media/image7.png"/><Relationship Id="rId4" Type="http://schemas.openxmlformats.org/officeDocument/2006/relationships/hyperlink" Target="https://chrome.google.com/webstore/detail/slido/dhhclfjehmpacimcdknijodpjpmppkii" TargetMode="External"/><Relationship Id="rId9" Type="http://schemas.openxmlformats.org/officeDocument/2006/relationships/image" Target="../media/image11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sli.do/features-google-slides?interaction-type=UXVpeg%3D%3D" TargetMode="External"/><Relationship Id="rId3" Type="http://schemas.openxmlformats.org/officeDocument/2006/relationships/hyperlink" Target="https://www.slido.com/support/gsi/how-to-change-the-design" TargetMode="External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1.xml"/><Relationship Id="rId6" Type="http://schemas.openxmlformats.org/officeDocument/2006/relationships/hyperlink" Target="https://www.sli.do/features-google-slides?payload=eyJwb2xsUXVlc3Rpb25VdWlkIjoiMzhjN2QwNzItMzEwOC00OGYyLTgzYmYtZmUxNzNjMzJjMGUwIiwicG9sbFV1aWQiOiI1MWYzYzcyYi0wZTRlLTRiMGEtYmEyMC0zMGQyNTg0NzM0ZjQiLCJwcmVzZW50YXRpb25JZCI6IjE1eUc5RU9OTXpKZWk4OVc0V19LM1d6WDI4WlpLRllDME4zSW9Id01nWkVVIiwic2xpZGVJZCI6IlNMSURFU19BUEkxNjgzMzMwNTE1XzAiLCJ0aW1lbGluZSI6W3sic2NyZWVuIjoiUXVpekdldFJlYWR5In0seyJwb2xsUXVlc3Rpb25VdWlkIjoiMzhjN2QwNzItMzEwOC00OGYyLTgzYmYtZmUxNzNjMzJjMGUwIiwic2hvd0NvcnJlY3RBbnN3ZXJzIjpmYWxzZSwic2hvd1Jlc3VsdHMiOmZhbHNlLCJ2b3RpbmdMb2NrZWQiOmZhbHNlfSx7InBvbGxRdWVzdGlvblV1aWQiOiIzOGM3ZDA3Mi0zMTA4LTQ4ZjItODNiZi1mZTE3M2MzMmMwZTAiLCJzaG93Q29ycmVjdEFuc3dlcnMiOmZhbHNlLCJzaG93UmVzdWx0cyI6dHJ1ZSwidm90aW5nTG9ja2VkIjp0cnVlfSx7InBvbGxRdWVzdGlvblV1aWQiOiIzOGM3ZDA3Mi0zMTA4LTQ4ZjItODNiZi1mZTE3M2MzMmMwZTAiLCJzaG93Q29ycmVjdEFuc3dlcnMiOnRydWUsInNob3dSZXN1bHRzIjp0cnVlLCJ2b3RpbmdMb2NrZWQiOnRydWV9LHsicG9sbFF1ZXN0aW9uVXVpZCI6IjM4YzdkMDcyLTMxMDgtNDhmMi04M2JmLWZlMTczYzMyYzBlMCIsInNjcmVlbiI6IlF1aXpMZWFkZXJib2FyZCIsInNob3dDb3JyZWN0QW5zd2VycyI6dHJ1ZSwic2hvd1Jlc3VsdHMiOnRydWUsInZvdGluZ0xvY2tlZCI6dHJ1ZX1dLCJ0eXBlIjoiU2xpZG9Qb2xsIn0%3D" TargetMode="External"/><Relationship Id="rId5" Type="http://schemas.openxmlformats.org/officeDocument/2006/relationships/image" Target="../media/image7.png"/><Relationship Id="rId4" Type="http://schemas.openxmlformats.org/officeDocument/2006/relationships/hyperlink" Target="https://chrome.google.com/webstore/detail/slido/dhhclfjehmpacimcdknijodpjpmppkii" TargetMode="External"/><Relationship Id="rId9" Type="http://schemas.openxmlformats.org/officeDocument/2006/relationships/image" Target="../media/image11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amelcharolinesgn2/AWS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9919" y="1"/>
            <a:ext cx="3979069" cy="2536031"/>
          </a:xfrm>
          <a:prstGeom prst="rect">
            <a:avLst/>
          </a:prstGeom>
        </p:spPr>
      </p:pic>
      <p:grpSp>
        <p:nvGrpSpPr>
          <p:cNvPr id="9" name="Group 8"/>
          <p:cNvGrpSpPr/>
          <p:nvPr/>
        </p:nvGrpSpPr>
        <p:grpSpPr>
          <a:xfrm>
            <a:off x="277816" y="1346868"/>
            <a:ext cx="3603272" cy="1447266"/>
            <a:chOff x="89638" y="359621"/>
            <a:chExt cx="4804363" cy="1929688"/>
          </a:xfrm>
        </p:grpSpPr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35105" y="1881965"/>
              <a:ext cx="3104181" cy="263526"/>
            </a:xfrm>
            <a:prstGeom prst="rect">
              <a:avLst/>
            </a:prstGeom>
          </p:spPr>
        </p:pic>
        <p:sp>
          <p:nvSpPr>
            <p:cNvPr id="11" name="Title 4">
              <a:extLst>
                <a:ext uri="{FF2B5EF4-FFF2-40B4-BE49-F238E27FC236}">
                  <a16:creationId xmlns:a16="http://schemas.microsoft.com/office/drawing/2014/main" id="{27228BAE-048B-681E-DD8D-BD96B22560E0}"/>
                </a:ext>
              </a:extLst>
            </p:cNvPr>
            <p:cNvSpPr txBox="1">
              <a:spLocks/>
            </p:cNvSpPr>
            <p:nvPr/>
          </p:nvSpPr>
          <p:spPr>
            <a:xfrm>
              <a:off x="89638" y="1389204"/>
              <a:ext cx="4804363" cy="900105"/>
            </a:xfrm>
            <a:prstGeom prst="rect">
              <a:avLst/>
            </a:prstGeom>
          </p:spPr>
          <p:txBody>
            <a:bodyPr vert="horz" lIns="68580" tIns="34290" rIns="68580" bIns="34290" rtlCol="0" anchor="b">
              <a:normAutofit fontScale="97500"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just"/>
              <a:r>
                <a:rPr lang="en-US" sz="3000" dirty="0">
                  <a:solidFill>
                    <a:schemeClr val="accent1">
                      <a:lumMod val="75000"/>
                    </a:schemeClr>
                  </a:solidFill>
                </a:rPr>
                <a:t>Computer </a:t>
              </a:r>
              <a:r>
                <a:rPr lang="en-US" sz="3000" dirty="0">
                  <a:solidFill>
                    <a:srgbClr val="00B0F0"/>
                  </a:solidFill>
                </a:rPr>
                <a:t>Vision</a:t>
              </a:r>
              <a:endParaRPr lang="en-US" sz="3000" dirty="0">
                <a:solidFill>
                  <a:srgbClr val="00B0F0"/>
                </a:solidFill>
              </a:endParaRPr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2AABCB87-2ECC-4C03-B5BB-6EE11C8A4485}"/>
                </a:ext>
              </a:extLst>
            </p:cNvPr>
            <p:cNvGrpSpPr/>
            <p:nvPr/>
          </p:nvGrpSpPr>
          <p:grpSpPr>
            <a:xfrm>
              <a:off x="89638" y="359621"/>
              <a:ext cx="3064025" cy="1516520"/>
              <a:chOff x="4853562" y="1589418"/>
              <a:chExt cx="2609520" cy="1291565"/>
            </a:xfrm>
          </p:grpSpPr>
          <p:sp>
            <p:nvSpPr>
              <p:cNvPr id="19" name="Freeform 18">
                <a:extLst>
                  <a:ext uri="{FF2B5EF4-FFF2-40B4-BE49-F238E27FC236}">
                    <a16:creationId xmlns:a16="http://schemas.microsoft.com/office/drawing/2014/main" id="{03546B24-FABC-4B2A-A80F-B03654D56A7D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4853562" y="1589418"/>
                <a:ext cx="2232248" cy="1202698"/>
              </a:xfrm>
              <a:custGeom>
                <a:avLst/>
                <a:gdLst/>
                <a:ahLst/>
                <a:cxnLst/>
                <a:rect l="l" t="t" r="r" b="b"/>
                <a:pathLst>
                  <a:path w="1872168" h="1008693">
                    <a:moveTo>
                      <a:pt x="699542" y="162"/>
                    </a:moveTo>
                    <a:cubicBezTo>
                      <a:pt x="683169" y="534"/>
                      <a:pt x="666273" y="1556"/>
                      <a:pt x="648845" y="3291"/>
                    </a:cubicBezTo>
                    <a:cubicBezTo>
                      <a:pt x="357120" y="49686"/>
                      <a:pt x="273885" y="284789"/>
                      <a:pt x="274981" y="413694"/>
                    </a:cubicBezTo>
                    <a:cubicBezTo>
                      <a:pt x="4451" y="471904"/>
                      <a:pt x="-11347" y="662854"/>
                      <a:pt x="4101" y="753457"/>
                    </a:cubicBezTo>
                    <a:cubicBezTo>
                      <a:pt x="42383" y="946818"/>
                      <a:pt x="296257" y="1004273"/>
                      <a:pt x="384912" y="1005378"/>
                    </a:cubicBezTo>
                    <a:lnTo>
                      <a:pt x="1507196" y="1008693"/>
                    </a:lnTo>
                    <a:cubicBezTo>
                      <a:pt x="1646895" y="1000406"/>
                      <a:pt x="1746295" y="947371"/>
                      <a:pt x="1825546" y="854557"/>
                    </a:cubicBezTo>
                    <a:cubicBezTo>
                      <a:pt x="1897410" y="760086"/>
                      <a:pt x="1873973" y="626012"/>
                      <a:pt x="1836613" y="558208"/>
                    </a:cubicBezTo>
                    <a:cubicBezTo>
                      <a:pt x="1808089" y="509360"/>
                      <a:pt x="1675919" y="402617"/>
                      <a:pt x="1507617" y="430504"/>
                    </a:cubicBezTo>
                    <a:cubicBezTo>
                      <a:pt x="1525469" y="335682"/>
                      <a:pt x="1477961" y="244522"/>
                      <a:pt x="1398003" y="206286"/>
                    </a:cubicBezTo>
                    <a:cubicBezTo>
                      <a:pt x="1299806" y="153261"/>
                      <a:pt x="1182195" y="177294"/>
                      <a:pt x="1108176" y="215068"/>
                    </a:cubicBezTo>
                    <a:cubicBezTo>
                      <a:pt x="1072916" y="135306"/>
                      <a:pt x="945134" y="-5422"/>
                      <a:pt x="699542" y="162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1">
                  <a:solidFill>
                    <a:schemeClr val="tx1"/>
                  </a:solidFill>
                </a:endParaRPr>
              </a:p>
            </p:txBody>
          </p:sp>
          <p:sp>
            <p:nvSpPr>
              <p:cNvPr id="20" name="Freeform 19">
                <a:extLst>
                  <a:ext uri="{FF2B5EF4-FFF2-40B4-BE49-F238E27FC236}">
                    <a16:creationId xmlns:a16="http://schemas.microsoft.com/office/drawing/2014/main" id="{02E1A011-CDEA-4BBC-B725-C88AF5464891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5230834" y="1678285"/>
                <a:ext cx="2232248" cy="1202698"/>
              </a:xfrm>
              <a:custGeom>
                <a:avLst/>
                <a:gdLst/>
                <a:ahLst/>
                <a:cxnLst/>
                <a:rect l="l" t="t" r="r" b="b"/>
                <a:pathLst>
                  <a:path w="1872168" h="1008693">
                    <a:moveTo>
                      <a:pt x="699542" y="162"/>
                    </a:moveTo>
                    <a:cubicBezTo>
                      <a:pt x="683169" y="534"/>
                      <a:pt x="666273" y="1556"/>
                      <a:pt x="648845" y="3291"/>
                    </a:cubicBezTo>
                    <a:cubicBezTo>
                      <a:pt x="357120" y="49686"/>
                      <a:pt x="273885" y="284789"/>
                      <a:pt x="274981" y="413694"/>
                    </a:cubicBezTo>
                    <a:cubicBezTo>
                      <a:pt x="4451" y="471904"/>
                      <a:pt x="-11347" y="662854"/>
                      <a:pt x="4101" y="753457"/>
                    </a:cubicBezTo>
                    <a:cubicBezTo>
                      <a:pt x="42383" y="946818"/>
                      <a:pt x="296257" y="1004273"/>
                      <a:pt x="384912" y="1005378"/>
                    </a:cubicBezTo>
                    <a:lnTo>
                      <a:pt x="1507196" y="1008693"/>
                    </a:lnTo>
                    <a:cubicBezTo>
                      <a:pt x="1646895" y="1000406"/>
                      <a:pt x="1746295" y="947371"/>
                      <a:pt x="1825546" y="854557"/>
                    </a:cubicBezTo>
                    <a:cubicBezTo>
                      <a:pt x="1897410" y="760086"/>
                      <a:pt x="1873973" y="626012"/>
                      <a:pt x="1836613" y="558208"/>
                    </a:cubicBezTo>
                    <a:cubicBezTo>
                      <a:pt x="1808089" y="509360"/>
                      <a:pt x="1675919" y="402617"/>
                      <a:pt x="1507617" y="430504"/>
                    </a:cubicBezTo>
                    <a:cubicBezTo>
                      <a:pt x="1525469" y="335682"/>
                      <a:pt x="1477961" y="244522"/>
                      <a:pt x="1398003" y="206286"/>
                    </a:cubicBezTo>
                    <a:cubicBezTo>
                      <a:pt x="1299806" y="153261"/>
                      <a:pt x="1182195" y="177294"/>
                      <a:pt x="1108176" y="215068"/>
                    </a:cubicBezTo>
                    <a:cubicBezTo>
                      <a:pt x="1072916" y="135306"/>
                      <a:pt x="945134" y="-5422"/>
                      <a:pt x="699542" y="162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1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AB8BC7BC-BF58-402E-9A69-AA9226DE7CAA}"/>
                </a:ext>
              </a:extLst>
            </p:cNvPr>
            <p:cNvGrpSpPr/>
            <p:nvPr/>
          </p:nvGrpSpPr>
          <p:grpSpPr>
            <a:xfrm>
              <a:off x="1176068" y="503243"/>
              <a:ext cx="1334145" cy="620384"/>
              <a:chOff x="7439031" y="1585639"/>
              <a:chExt cx="2143740" cy="996849"/>
            </a:xfrm>
            <a:solidFill>
              <a:schemeClr val="accent6"/>
            </a:solidFill>
          </p:grpSpPr>
          <p:sp>
            <p:nvSpPr>
              <p:cNvPr id="17" name="Freeform: Shape 66">
                <a:extLst>
                  <a:ext uri="{FF2B5EF4-FFF2-40B4-BE49-F238E27FC236}">
                    <a16:creationId xmlns:a16="http://schemas.microsoft.com/office/drawing/2014/main" id="{2A081543-B9FF-49B1-8EEF-ABDF5438EDCD}"/>
                  </a:ext>
                </a:extLst>
              </p:cNvPr>
              <p:cNvSpPr/>
              <p:nvPr/>
            </p:nvSpPr>
            <p:spPr>
              <a:xfrm>
                <a:off x="7439031" y="1585639"/>
                <a:ext cx="2143740" cy="996849"/>
              </a:xfrm>
              <a:custGeom>
                <a:avLst/>
                <a:gdLst/>
                <a:ahLst/>
                <a:cxnLst/>
                <a:rect l="l" t="t" r="r" b="b"/>
                <a:pathLst>
                  <a:path w="1862733" h="866179">
                    <a:moveTo>
                      <a:pt x="794147" y="204787"/>
                    </a:moveTo>
                    <a:cubicBezTo>
                      <a:pt x="745605" y="204787"/>
                      <a:pt x="701637" y="218416"/>
                      <a:pt x="662244" y="245673"/>
                    </a:cubicBezTo>
                    <a:cubicBezTo>
                      <a:pt x="622851" y="272930"/>
                      <a:pt x="594798" y="309240"/>
                      <a:pt x="578086" y="354601"/>
                    </a:cubicBezTo>
                    <a:cubicBezTo>
                      <a:pt x="568536" y="380467"/>
                      <a:pt x="563761" y="406729"/>
                      <a:pt x="563761" y="433387"/>
                    </a:cubicBezTo>
                    <a:cubicBezTo>
                      <a:pt x="563761" y="488299"/>
                      <a:pt x="582064" y="537440"/>
                      <a:pt x="618670" y="580811"/>
                    </a:cubicBezTo>
                    <a:cubicBezTo>
                      <a:pt x="664031" y="634532"/>
                      <a:pt x="722524" y="661392"/>
                      <a:pt x="794147" y="661392"/>
                    </a:cubicBezTo>
                    <a:cubicBezTo>
                      <a:pt x="865771" y="661392"/>
                      <a:pt x="924462" y="634733"/>
                      <a:pt x="970220" y="581415"/>
                    </a:cubicBezTo>
                    <a:cubicBezTo>
                      <a:pt x="1006826" y="538838"/>
                      <a:pt x="1025128" y="489496"/>
                      <a:pt x="1025128" y="433387"/>
                    </a:cubicBezTo>
                    <a:cubicBezTo>
                      <a:pt x="1025128" y="376088"/>
                      <a:pt x="1006826" y="326547"/>
                      <a:pt x="970220" y="284764"/>
                    </a:cubicBezTo>
                    <a:cubicBezTo>
                      <a:pt x="923265" y="231446"/>
                      <a:pt x="864574" y="204787"/>
                      <a:pt x="794147" y="204787"/>
                    </a:cubicBezTo>
                    <a:close/>
                    <a:moveTo>
                      <a:pt x="1304330" y="24408"/>
                    </a:moveTo>
                    <a:lnTo>
                      <a:pt x="1862733" y="24408"/>
                    </a:lnTo>
                    <a:lnTo>
                      <a:pt x="1862733" y="200620"/>
                    </a:lnTo>
                    <a:lnTo>
                      <a:pt x="1687711" y="200620"/>
                    </a:lnTo>
                    <a:lnTo>
                      <a:pt x="1687711" y="837009"/>
                    </a:lnTo>
                    <a:lnTo>
                      <a:pt x="1476375" y="837009"/>
                    </a:lnTo>
                    <a:lnTo>
                      <a:pt x="1476375" y="200620"/>
                    </a:lnTo>
                    <a:lnTo>
                      <a:pt x="1304330" y="200620"/>
                    </a:lnTo>
                    <a:close/>
                    <a:moveTo>
                      <a:pt x="0" y="24408"/>
                    </a:moveTo>
                    <a:lnTo>
                      <a:pt x="211336" y="24408"/>
                    </a:lnTo>
                    <a:lnTo>
                      <a:pt x="211336" y="837009"/>
                    </a:lnTo>
                    <a:lnTo>
                      <a:pt x="0" y="837009"/>
                    </a:lnTo>
                    <a:close/>
                    <a:moveTo>
                      <a:pt x="794147" y="0"/>
                    </a:moveTo>
                    <a:cubicBezTo>
                      <a:pt x="937022" y="0"/>
                      <a:pt x="1050330" y="47426"/>
                      <a:pt x="1134071" y="142280"/>
                    </a:cubicBezTo>
                    <a:cubicBezTo>
                      <a:pt x="1207493" y="225623"/>
                      <a:pt x="1244204" y="322659"/>
                      <a:pt x="1244204" y="433387"/>
                    </a:cubicBezTo>
                    <a:cubicBezTo>
                      <a:pt x="1244204" y="543719"/>
                      <a:pt x="1207493" y="640556"/>
                      <a:pt x="1134071" y="723900"/>
                    </a:cubicBezTo>
                    <a:cubicBezTo>
                      <a:pt x="1050330" y="818753"/>
                      <a:pt x="937022" y="866179"/>
                      <a:pt x="794147" y="866179"/>
                    </a:cubicBezTo>
                    <a:cubicBezTo>
                      <a:pt x="651669" y="866179"/>
                      <a:pt x="538560" y="818753"/>
                      <a:pt x="454819" y="723900"/>
                    </a:cubicBezTo>
                    <a:cubicBezTo>
                      <a:pt x="381397" y="640556"/>
                      <a:pt x="344686" y="543719"/>
                      <a:pt x="344686" y="433387"/>
                    </a:cubicBezTo>
                    <a:cubicBezTo>
                      <a:pt x="344686" y="382984"/>
                      <a:pt x="354608" y="331291"/>
                      <a:pt x="374452" y="278308"/>
                    </a:cubicBezTo>
                    <a:cubicBezTo>
                      <a:pt x="394296" y="225326"/>
                      <a:pt x="420886" y="179983"/>
                      <a:pt x="454224" y="142280"/>
                    </a:cubicBezTo>
                    <a:cubicBezTo>
                      <a:pt x="537964" y="47426"/>
                      <a:pt x="651272" y="0"/>
                      <a:pt x="794147" y="0"/>
                    </a:cubicBezTo>
                    <a:close/>
                  </a:path>
                </a:pathLst>
              </a:custGeom>
              <a:solidFill>
                <a:srgbClr val="00B0F0"/>
              </a:solidFill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sz="1800" dirty="0"/>
              </a:p>
            </p:txBody>
          </p:sp>
          <p:sp>
            <p:nvSpPr>
              <p:cNvPr id="18" name="Freeform: Shape 67">
                <a:extLst>
                  <a:ext uri="{FF2B5EF4-FFF2-40B4-BE49-F238E27FC236}">
                    <a16:creationId xmlns:a16="http://schemas.microsoft.com/office/drawing/2014/main" id="{275D1FAA-C13F-4A6B-BA37-7704CFB7ADCD}"/>
                  </a:ext>
                </a:extLst>
              </p:cNvPr>
              <p:cNvSpPr/>
              <p:nvPr/>
            </p:nvSpPr>
            <p:spPr>
              <a:xfrm>
                <a:off x="8174174" y="1963600"/>
                <a:ext cx="443936" cy="326799"/>
              </a:xfrm>
              <a:custGeom>
                <a:avLst/>
                <a:gdLst>
                  <a:gd name="connsiteX0" fmla="*/ 1869041 w 3738080"/>
                  <a:gd name="connsiteY0" fmla="*/ 1997576 h 2751770"/>
                  <a:gd name="connsiteX1" fmla="*/ 2246138 w 3738080"/>
                  <a:gd name="connsiteY1" fmla="*/ 2374673 h 2751770"/>
                  <a:gd name="connsiteX2" fmla="*/ 1869041 w 3738080"/>
                  <a:gd name="connsiteY2" fmla="*/ 2751770 h 2751770"/>
                  <a:gd name="connsiteX3" fmla="*/ 1491944 w 3738080"/>
                  <a:gd name="connsiteY3" fmla="*/ 2374673 h 2751770"/>
                  <a:gd name="connsiteX4" fmla="*/ 1869041 w 3738080"/>
                  <a:gd name="connsiteY4" fmla="*/ 1997576 h 2751770"/>
                  <a:gd name="connsiteX5" fmla="*/ 2788485 w 3738080"/>
                  <a:gd name="connsiteY5" fmla="*/ 1841061 h 2751770"/>
                  <a:gd name="connsiteX6" fmla="*/ 2632248 w 3738080"/>
                  <a:gd name="connsiteY6" fmla="*/ 1992174 h 2751770"/>
                  <a:gd name="connsiteX7" fmla="*/ 2624294 w 3738080"/>
                  <a:gd name="connsiteY7" fmla="*/ 1992174 h 2751770"/>
                  <a:gd name="connsiteX8" fmla="*/ 1858846 w 3738080"/>
                  <a:gd name="connsiteY8" fmla="*/ 1306247 h 2751770"/>
                  <a:gd name="connsiteX9" fmla="*/ 2645621 w 3738080"/>
                  <a:gd name="connsiteY9" fmla="*/ 1504218 h 2751770"/>
                  <a:gd name="connsiteX10" fmla="*/ 2795575 w 3738080"/>
                  <a:gd name="connsiteY10" fmla="*/ 1757331 h 2751770"/>
                  <a:gd name="connsiteX11" fmla="*/ 2539052 w 3738080"/>
                  <a:gd name="connsiteY11" fmla="*/ 1841672 h 2751770"/>
                  <a:gd name="connsiteX12" fmla="*/ 1353947 w 3738080"/>
                  <a:gd name="connsiteY12" fmla="*/ 1778974 h 2751770"/>
                  <a:gd name="connsiteX13" fmla="*/ 982333 w 3738080"/>
                  <a:gd name="connsiteY13" fmla="*/ 1780833 h 2751770"/>
                  <a:gd name="connsiteX14" fmla="*/ 966756 w 3738080"/>
                  <a:gd name="connsiteY14" fmla="*/ 1667407 h 2751770"/>
                  <a:gd name="connsiteX15" fmla="*/ 1217540 w 3738080"/>
                  <a:gd name="connsiteY15" fmla="*/ 1445700 h 2751770"/>
                  <a:gd name="connsiteX16" fmla="*/ 1858846 w 3738080"/>
                  <a:gd name="connsiteY16" fmla="*/ 1306247 h 2751770"/>
                  <a:gd name="connsiteX17" fmla="*/ 1828129 w 3738080"/>
                  <a:gd name="connsiteY17" fmla="*/ 650059 h 2751770"/>
                  <a:gd name="connsiteX18" fmla="*/ 3108200 w 3738080"/>
                  <a:gd name="connsiteY18" fmla="*/ 1008980 h 2751770"/>
                  <a:gd name="connsiteX19" fmla="*/ 3258155 w 3738080"/>
                  <a:gd name="connsiteY19" fmla="*/ 1319033 h 2751770"/>
                  <a:gd name="connsiteX20" fmla="*/ 2937692 w 3738080"/>
                  <a:gd name="connsiteY20" fmla="*/ 1304637 h 2751770"/>
                  <a:gd name="connsiteX21" fmla="*/ 763561 w 3738080"/>
                  <a:gd name="connsiteY21" fmla="*/ 1325535 h 2751770"/>
                  <a:gd name="connsiteX22" fmla="*/ 464412 w 3738080"/>
                  <a:gd name="connsiteY22" fmla="*/ 1278813 h 2751770"/>
                  <a:gd name="connsiteX23" fmla="*/ 450482 w 3738080"/>
                  <a:gd name="connsiteY23" fmla="*/ 1202928 h 2751770"/>
                  <a:gd name="connsiteX24" fmla="*/ 622892 w 3738080"/>
                  <a:gd name="connsiteY24" fmla="*/ 1008979 h 2751770"/>
                  <a:gd name="connsiteX25" fmla="*/ 1828129 w 3738080"/>
                  <a:gd name="connsiteY25" fmla="*/ 650059 h 2751770"/>
                  <a:gd name="connsiteX26" fmla="*/ 1764313 w 3738080"/>
                  <a:gd name="connsiteY26" fmla="*/ 591 h 2751770"/>
                  <a:gd name="connsiteX27" fmla="*/ 3559697 w 3738080"/>
                  <a:gd name="connsiteY27" fmla="*/ 547180 h 2751770"/>
                  <a:gd name="connsiteX28" fmla="*/ 3709650 w 3738080"/>
                  <a:gd name="connsiteY28" fmla="*/ 882310 h 2751770"/>
                  <a:gd name="connsiteX29" fmla="*/ 3367875 w 3738080"/>
                  <a:gd name="connsiteY29" fmla="*/ 834477 h 2751770"/>
                  <a:gd name="connsiteX30" fmla="*/ 318417 w 3738080"/>
                  <a:gd name="connsiteY30" fmla="*/ 884635 h 2751770"/>
                  <a:gd name="connsiteX31" fmla="*/ 19267 w 3738080"/>
                  <a:gd name="connsiteY31" fmla="*/ 846272 h 2751770"/>
                  <a:gd name="connsiteX32" fmla="*/ 275 w 3738080"/>
                  <a:gd name="connsiteY32" fmla="*/ 760137 h 2751770"/>
                  <a:gd name="connsiteX33" fmla="*/ 173484 w 3738080"/>
                  <a:gd name="connsiteY33" fmla="*/ 547180 h 2751770"/>
                  <a:gd name="connsiteX34" fmla="*/ 1764313 w 3738080"/>
                  <a:gd name="connsiteY34" fmla="*/ 591 h 2751770"/>
                  <a:gd name="connsiteX0" fmla="*/ 1869041 w 3738080"/>
                  <a:gd name="connsiteY0" fmla="*/ 1997576 h 2751770"/>
                  <a:gd name="connsiteX1" fmla="*/ 2246138 w 3738080"/>
                  <a:gd name="connsiteY1" fmla="*/ 2374673 h 2751770"/>
                  <a:gd name="connsiteX2" fmla="*/ 1869041 w 3738080"/>
                  <a:gd name="connsiteY2" fmla="*/ 2751770 h 2751770"/>
                  <a:gd name="connsiteX3" fmla="*/ 1491944 w 3738080"/>
                  <a:gd name="connsiteY3" fmla="*/ 2374673 h 2751770"/>
                  <a:gd name="connsiteX4" fmla="*/ 1869041 w 3738080"/>
                  <a:gd name="connsiteY4" fmla="*/ 1997576 h 2751770"/>
                  <a:gd name="connsiteX5" fmla="*/ 2624294 w 3738080"/>
                  <a:gd name="connsiteY5" fmla="*/ 1992174 h 2751770"/>
                  <a:gd name="connsiteX6" fmla="*/ 2632248 w 3738080"/>
                  <a:gd name="connsiteY6" fmla="*/ 1992174 h 2751770"/>
                  <a:gd name="connsiteX7" fmla="*/ 2624294 w 3738080"/>
                  <a:gd name="connsiteY7" fmla="*/ 1992174 h 2751770"/>
                  <a:gd name="connsiteX8" fmla="*/ 1858846 w 3738080"/>
                  <a:gd name="connsiteY8" fmla="*/ 1306247 h 2751770"/>
                  <a:gd name="connsiteX9" fmla="*/ 2645621 w 3738080"/>
                  <a:gd name="connsiteY9" fmla="*/ 1504218 h 2751770"/>
                  <a:gd name="connsiteX10" fmla="*/ 2795575 w 3738080"/>
                  <a:gd name="connsiteY10" fmla="*/ 1757331 h 2751770"/>
                  <a:gd name="connsiteX11" fmla="*/ 2539052 w 3738080"/>
                  <a:gd name="connsiteY11" fmla="*/ 1841672 h 2751770"/>
                  <a:gd name="connsiteX12" fmla="*/ 1353947 w 3738080"/>
                  <a:gd name="connsiteY12" fmla="*/ 1778974 h 2751770"/>
                  <a:gd name="connsiteX13" fmla="*/ 982333 w 3738080"/>
                  <a:gd name="connsiteY13" fmla="*/ 1780833 h 2751770"/>
                  <a:gd name="connsiteX14" fmla="*/ 966756 w 3738080"/>
                  <a:gd name="connsiteY14" fmla="*/ 1667407 h 2751770"/>
                  <a:gd name="connsiteX15" fmla="*/ 1217540 w 3738080"/>
                  <a:gd name="connsiteY15" fmla="*/ 1445700 h 2751770"/>
                  <a:gd name="connsiteX16" fmla="*/ 1858846 w 3738080"/>
                  <a:gd name="connsiteY16" fmla="*/ 1306247 h 2751770"/>
                  <a:gd name="connsiteX17" fmla="*/ 1828129 w 3738080"/>
                  <a:gd name="connsiteY17" fmla="*/ 650059 h 2751770"/>
                  <a:gd name="connsiteX18" fmla="*/ 3108200 w 3738080"/>
                  <a:gd name="connsiteY18" fmla="*/ 1008980 h 2751770"/>
                  <a:gd name="connsiteX19" fmla="*/ 3258155 w 3738080"/>
                  <a:gd name="connsiteY19" fmla="*/ 1319033 h 2751770"/>
                  <a:gd name="connsiteX20" fmla="*/ 2937692 w 3738080"/>
                  <a:gd name="connsiteY20" fmla="*/ 1304637 h 2751770"/>
                  <a:gd name="connsiteX21" fmla="*/ 763561 w 3738080"/>
                  <a:gd name="connsiteY21" fmla="*/ 1325535 h 2751770"/>
                  <a:gd name="connsiteX22" fmla="*/ 464412 w 3738080"/>
                  <a:gd name="connsiteY22" fmla="*/ 1278813 h 2751770"/>
                  <a:gd name="connsiteX23" fmla="*/ 450482 w 3738080"/>
                  <a:gd name="connsiteY23" fmla="*/ 1202928 h 2751770"/>
                  <a:gd name="connsiteX24" fmla="*/ 622892 w 3738080"/>
                  <a:gd name="connsiteY24" fmla="*/ 1008979 h 2751770"/>
                  <a:gd name="connsiteX25" fmla="*/ 1828129 w 3738080"/>
                  <a:gd name="connsiteY25" fmla="*/ 650059 h 2751770"/>
                  <a:gd name="connsiteX26" fmla="*/ 1764313 w 3738080"/>
                  <a:gd name="connsiteY26" fmla="*/ 591 h 2751770"/>
                  <a:gd name="connsiteX27" fmla="*/ 3559697 w 3738080"/>
                  <a:gd name="connsiteY27" fmla="*/ 547180 h 2751770"/>
                  <a:gd name="connsiteX28" fmla="*/ 3709650 w 3738080"/>
                  <a:gd name="connsiteY28" fmla="*/ 882310 h 2751770"/>
                  <a:gd name="connsiteX29" fmla="*/ 3367875 w 3738080"/>
                  <a:gd name="connsiteY29" fmla="*/ 834477 h 2751770"/>
                  <a:gd name="connsiteX30" fmla="*/ 318417 w 3738080"/>
                  <a:gd name="connsiteY30" fmla="*/ 884635 h 2751770"/>
                  <a:gd name="connsiteX31" fmla="*/ 19267 w 3738080"/>
                  <a:gd name="connsiteY31" fmla="*/ 846272 h 2751770"/>
                  <a:gd name="connsiteX32" fmla="*/ 275 w 3738080"/>
                  <a:gd name="connsiteY32" fmla="*/ 760137 h 2751770"/>
                  <a:gd name="connsiteX33" fmla="*/ 173484 w 3738080"/>
                  <a:gd name="connsiteY33" fmla="*/ 547180 h 2751770"/>
                  <a:gd name="connsiteX34" fmla="*/ 1764313 w 3738080"/>
                  <a:gd name="connsiteY34" fmla="*/ 591 h 2751770"/>
                  <a:gd name="connsiteX0" fmla="*/ 1869041 w 3738080"/>
                  <a:gd name="connsiteY0" fmla="*/ 1997576 h 2751770"/>
                  <a:gd name="connsiteX1" fmla="*/ 2246138 w 3738080"/>
                  <a:gd name="connsiteY1" fmla="*/ 2374673 h 2751770"/>
                  <a:gd name="connsiteX2" fmla="*/ 1869041 w 3738080"/>
                  <a:gd name="connsiteY2" fmla="*/ 2751770 h 2751770"/>
                  <a:gd name="connsiteX3" fmla="*/ 1491944 w 3738080"/>
                  <a:gd name="connsiteY3" fmla="*/ 2374673 h 2751770"/>
                  <a:gd name="connsiteX4" fmla="*/ 1869041 w 3738080"/>
                  <a:gd name="connsiteY4" fmla="*/ 1997576 h 2751770"/>
                  <a:gd name="connsiteX5" fmla="*/ 1858846 w 3738080"/>
                  <a:gd name="connsiteY5" fmla="*/ 1306247 h 2751770"/>
                  <a:gd name="connsiteX6" fmla="*/ 2645621 w 3738080"/>
                  <a:gd name="connsiteY6" fmla="*/ 1504218 h 2751770"/>
                  <a:gd name="connsiteX7" fmla="*/ 2795575 w 3738080"/>
                  <a:gd name="connsiteY7" fmla="*/ 1757331 h 2751770"/>
                  <a:gd name="connsiteX8" fmla="*/ 2539052 w 3738080"/>
                  <a:gd name="connsiteY8" fmla="*/ 1841672 h 2751770"/>
                  <a:gd name="connsiteX9" fmla="*/ 1353947 w 3738080"/>
                  <a:gd name="connsiteY9" fmla="*/ 1778974 h 2751770"/>
                  <a:gd name="connsiteX10" fmla="*/ 982333 w 3738080"/>
                  <a:gd name="connsiteY10" fmla="*/ 1780833 h 2751770"/>
                  <a:gd name="connsiteX11" fmla="*/ 966756 w 3738080"/>
                  <a:gd name="connsiteY11" fmla="*/ 1667407 h 2751770"/>
                  <a:gd name="connsiteX12" fmla="*/ 1217540 w 3738080"/>
                  <a:gd name="connsiteY12" fmla="*/ 1445700 h 2751770"/>
                  <a:gd name="connsiteX13" fmla="*/ 1858846 w 3738080"/>
                  <a:gd name="connsiteY13" fmla="*/ 1306247 h 2751770"/>
                  <a:gd name="connsiteX14" fmla="*/ 1828129 w 3738080"/>
                  <a:gd name="connsiteY14" fmla="*/ 650059 h 2751770"/>
                  <a:gd name="connsiteX15" fmla="*/ 3108200 w 3738080"/>
                  <a:gd name="connsiteY15" fmla="*/ 1008980 h 2751770"/>
                  <a:gd name="connsiteX16" fmla="*/ 3258155 w 3738080"/>
                  <a:gd name="connsiteY16" fmla="*/ 1319033 h 2751770"/>
                  <a:gd name="connsiteX17" fmla="*/ 2937692 w 3738080"/>
                  <a:gd name="connsiteY17" fmla="*/ 1304637 h 2751770"/>
                  <a:gd name="connsiteX18" fmla="*/ 763561 w 3738080"/>
                  <a:gd name="connsiteY18" fmla="*/ 1325535 h 2751770"/>
                  <a:gd name="connsiteX19" fmla="*/ 464412 w 3738080"/>
                  <a:gd name="connsiteY19" fmla="*/ 1278813 h 2751770"/>
                  <a:gd name="connsiteX20" fmla="*/ 450482 w 3738080"/>
                  <a:gd name="connsiteY20" fmla="*/ 1202928 h 2751770"/>
                  <a:gd name="connsiteX21" fmla="*/ 622892 w 3738080"/>
                  <a:gd name="connsiteY21" fmla="*/ 1008979 h 2751770"/>
                  <a:gd name="connsiteX22" fmla="*/ 1828129 w 3738080"/>
                  <a:gd name="connsiteY22" fmla="*/ 650059 h 2751770"/>
                  <a:gd name="connsiteX23" fmla="*/ 1764313 w 3738080"/>
                  <a:gd name="connsiteY23" fmla="*/ 591 h 2751770"/>
                  <a:gd name="connsiteX24" fmla="*/ 3559697 w 3738080"/>
                  <a:gd name="connsiteY24" fmla="*/ 547180 h 2751770"/>
                  <a:gd name="connsiteX25" fmla="*/ 3709650 w 3738080"/>
                  <a:gd name="connsiteY25" fmla="*/ 882310 h 2751770"/>
                  <a:gd name="connsiteX26" fmla="*/ 3367875 w 3738080"/>
                  <a:gd name="connsiteY26" fmla="*/ 834477 h 2751770"/>
                  <a:gd name="connsiteX27" fmla="*/ 318417 w 3738080"/>
                  <a:gd name="connsiteY27" fmla="*/ 884635 h 2751770"/>
                  <a:gd name="connsiteX28" fmla="*/ 19267 w 3738080"/>
                  <a:gd name="connsiteY28" fmla="*/ 846272 h 2751770"/>
                  <a:gd name="connsiteX29" fmla="*/ 275 w 3738080"/>
                  <a:gd name="connsiteY29" fmla="*/ 760137 h 2751770"/>
                  <a:gd name="connsiteX30" fmla="*/ 173484 w 3738080"/>
                  <a:gd name="connsiteY30" fmla="*/ 547180 h 2751770"/>
                  <a:gd name="connsiteX31" fmla="*/ 1764313 w 3738080"/>
                  <a:gd name="connsiteY31" fmla="*/ 591 h 27517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3738080" h="2751770">
                    <a:moveTo>
                      <a:pt x="1869041" y="1997576"/>
                    </a:moveTo>
                    <a:cubicBezTo>
                      <a:pt x="2077306" y="1997576"/>
                      <a:pt x="2246138" y="2166408"/>
                      <a:pt x="2246138" y="2374673"/>
                    </a:cubicBezTo>
                    <a:cubicBezTo>
                      <a:pt x="2246138" y="2582938"/>
                      <a:pt x="2077306" y="2751770"/>
                      <a:pt x="1869041" y="2751770"/>
                    </a:cubicBezTo>
                    <a:cubicBezTo>
                      <a:pt x="1660776" y="2751770"/>
                      <a:pt x="1491944" y="2582938"/>
                      <a:pt x="1491944" y="2374673"/>
                    </a:cubicBezTo>
                    <a:cubicBezTo>
                      <a:pt x="1491944" y="2166408"/>
                      <a:pt x="1660776" y="1997576"/>
                      <a:pt x="1869041" y="1997576"/>
                    </a:cubicBezTo>
                    <a:close/>
                    <a:moveTo>
                      <a:pt x="1858846" y="1306247"/>
                    </a:moveTo>
                    <a:cubicBezTo>
                      <a:pt x="2165924" y="1301758"/>
                      <a:pt x="2404940" y="1399722"/>
                      <a:pt x="2645621" y="1504218"/>
                    </a:cubicBezTo>
                    <a:cubicBezTo>
                      <a:pt x="2813424" y="1597955"/>
                      <a:pt x="2823993" y="1678797"/>
                      <a:pt x="2795575" y="1757331"/>
                    </a:cubicBezTo>
                    <a:cubicBezTo>
                      <a:pt x="2761471" y="1842158"/>
                      <a:pt x="2685239" y="1908552"/>
                      <a:pt x="2539052" y="1841672"/>
                    </a:cubicBezTo>
                    <a:cubicBezTo>
                      <a:pt x="2347207" y="1684231"/>
                      <a:pt x="1733351" y="1556050"/>
                      <a:pt x="1353947" y="1778974"/>
                    </a:cubicBezTo>
                    <a:cubicBezTo>
                      <a:pt x="1250080" y="1855218"/>
                      <a:pt x="1037749" y="1915097"/>
                      <a:pt x="982333" y="1780833"/>
                    </a:cubicBezTo>
                    <a:cubicBezTo>
                      <a:pt x="968480" y="1736637"/>
                      <a:pt x="963386" y="1699601"/>
                      <a:pt x="966756" y="1667407"/>
                    </a:cubicBezTo>
                    <a:cubicBezTo>
                      <a:pt x="976866" y="1570822"/>
                      <a:pt x="1063141" y="1517802"/>
                      <a:pt x="1217540" y="1445700"/>
                    </a:cubicBezTo>
                    <a:cubicBezTo>
                      <a:pt x="1465851" y="1348519"/>
                      <a:pt x="1674601" y="1308942"/>
                      <a:pt x="1858846" y="1306247"/>
                    </a:cubicBezTo>
                    <a:close/>
                    <a:moveTo>
                      <a:pt x="1828129" y="650059"/>
                    </a:moveTo>
                    <a:cubicBezTo>
                      <a:pt x="2445754" y="646836"/>
                      <a:pt x="2937662" y="894034"/>
                      <a:pt x="3108200" y="1008980"/>
                    </a:cubicBezTo>
                    <a:cubicBezTo>
                      <a:pt x="3228810" y="1075858"/>
                      <a:pt x="3343409" y="1171509"/>
                      <a:pt x="3258155" y="1319033"/>
                    </a:cubicBezTo>
                    <a:cubicBezTo>
                      <a:pt x="3134282" y="1435449"/>
                      <a:pt x="3057301" y="1393031"/>
                      <a:pt x="2937692" y="1304637"/>
                    </a:cubicBezTo>
                    <a:cubicBezTo>
                      <a:pt x="2647778" y="1191783"/>
                      <a:pt x="2008321" y="619142"/>
                      <a:pt x="763561" y="1325535"/>
                    </a:cubicBezTo>
                    <a:cubicBezTo>
                      <a:pt x="621636" y="1425852"/>
                      <a:pt x="511304" y="1376178"/>
                      <a:pt x="464412" y="1278813"/>
                    </a:cubicBezTo>
                    <a:cubicBezTo>
                      <a:pt x="452398" y="1252494"/>
                      <a:pt x="448110" y="1227223"/>
                      <a:pt x="450482" y="1202928"/>
                    </a:cubicBezTo>
                    <a:cubicBezTo>
                      <a:pt x="457599" y="1130049"/>
                      <a:pt x="524660" y="1065987"/>
                      <a:pt x="622892" y="1008979"/>
                    </a:cubicBezTo>
                    <a:cubicBezTo>
                      <a:pt x="1041721" y="744082"/>
                      <a:pt x="1457554" y="651995"/>
                      <a:pt x="1828129" y="650059"/>
                    </a:cubicBezTo>
                    <a:close/>
                    <a:moveTo>
                      <a:pt x="1764313" y="591"/>
                    </a:moveTo>
                    <a:cubicBezTo>
                      <a:pt x="2430887" y="-13278"/>
                      <a:pt x="3056659" y="218017"/>
                      <a:pt x="3559697" y="547180"/>
                    </a:cubicBezTo>
                    <a:cubicBezTo>
                      <a:pt x="3671781" y="597338"/>
                      <a:pt x="3794905" y="759863"/>
                      <a:pt x="3709650" y="882310"/>
                    </a:cubicBezTo>
                    <a:cubicBezTo>
                      <a:pt x="3594303" y="984791"/>
                      <a:pt x="3449118" y="907547"/>
                      <a:pt x="3367875" y="834477"/>
                    </a:cubicBezTo>
                    <a:cubicBezTo>
                      <a:pt x="3193985" y="725799"/>
                      <a:pt x="1920315" y="-235561"/>
                      <a:pt x="318417" y="884635"/>
                    </a:cubicBezTo>
                    <a:cubicBezTo>
                      <a:pt x="189280" y="993311"/>
                      <a:pt x="70419" y="922739"/>
                      <a:pt x="19267" y="846272"/>
                    </a:cubicBezTo>
                    <a:cubicBezTo>
                      <a:pt x="4410" y="817516"/>
                      <a:pt x="-1388" y="788500"/>
                      <a:pt x="275" y="760137"/>
                    </a:cubicBezTo>
                    <a:cubicBezTo>
                      <a:pt x="5260" y="675044"/>
                      <a:pt x="77384" y="595829"/>
                      <a:pt x="173484" y="547180"/>
                    </a:cubicBezTo>
                    <a:cubicBezTo>
                      <a:pt x="702741" y="170471"/>
                      <a:pt x="1245868" y="11376"/>
                      <a:pt x="1764313" y="591"/>
                    </a:cubicBezTo>
                    <a:close/>
                  </a:path>
                </a:pathLst>
              </a:cu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  <p:sp>
          <p:nvSpPr>
            <p:cNvPr id="14" name="Subtitle 2">
              <a:extLst>
                <a:ext uri="{FF2B5EF4-FFF2-40B4-BE49-F238E27FC236}">
                  <a16:creationId xmlns:a16="http://schemas.microsoft.com/office/drawing/2014/main" id="{53858C97-DA2F-8866-47CC-CDF4077BBF9D}"/>
                </a:ext>
              </a:extLst>
            </p:cNvPr>
            <p:cNvSpPr txBox="1">
              <a:spLocks/>
            </p:cNvSpPr>
            <p:nvPr/>
          </p:nvSpPr>
          <p:spPr>
            <a:xfrm>
              <a:off x="1560697" y="757061"/>
              <a:ext cx="729275" cy="203382"/>
            </a:xfrm>
            <a:prstGeom prst="rect">
              <a:avLst/>
            </a:prstGeom>
          </p:spPr>
          <p:txBody>
            <a:bodyPr vert="horz" lIns="68580" tIns="34290" rIns="68580" bIns="34290" rtlCol="0">
              <a:normAutofit fontScale="55000" lnSpcReduction="20000"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200" dirty="0">
                  <a:solidFill>
                    <a:srgbClr val="7030A0"/>
                  </a:solidFill>
                </a:rPr>
                <a:t>PDS</a:t>
              </a:r>
              <a:endParaRPr lang="en-US" sz="1200" dirty="0">
                <a:solidFill>
                  <a:srgbClr val="7030A0"/>
                </a:solidFill>
              </a:endParaRPr>
            </a:p>
          </p:txBody>
        </p:sp>
      </p:grpSp>
      <p:pic>
        <p:nvPicPr>
          <p:cNvPr id="4" name="Pictur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58807" y="1979698"/>
            <a:ext cx="334565" cy="47689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35773" y="1991577"/>
            <a:ext cx="460043" cy="437041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9784" y="1979697"/>
            <a:ext cx="449747" cy="433166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6931268" y="4287340"/>
            <a:ext cx="2063814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600" dirty="0"/>
              <a:t>https://www.youtube.com/@AmelOline/videos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585564" y="4188538"/>
            <a:ext cx="1394132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600" dirty="0"/>
              <a:t>https://github.com/siagianp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788313" y="4400890"/>
            <a:ext cx="2207657" cy="1846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sz="600" dirty="0"/>
              <a:t>https://github.com/amelcharolinesgn2/Cloud-Infrastructures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63518" y="4502428"/>
            <a:ext cx="2632452" cy="1846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sz="600" dirty="0"/>
              <a:t>https://github.com/amelcharolinesgn2/ClouD-Infrastructure-SISKA-2025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931268" y="4583219"/>
            <a:ext cx="2063814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600" dirty="0"/>
              <a:t>https://</a:t>
            </a:r>
            <a:r>
              <a:rPr lang="en-US" sz="600" dirty="0"/>
              <a:t>github.com/amelcharolinesgn2/CCNA1</a:t>
            </a:r>
            <a:endParaRPr lang="en-US" sz="600" dirty="0"/>
          </a:p>
        </p:txBody>
      </p:sp>
      <p:sp>
        <p:nvSpPr>
          <p:cNvPr id="32" name="Rectangle 31"/>
          <p:cNvSpPr/>
          <p:nvPr/>
        </p:nvSpPr>
        <p:spPr>
          <a:xfrm>
            <a:off x="6931268" y="4681038"/>
            <a:ext cx="2063814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600" dirty="0"/>
              <a:t>https://</a:t>
            </a:r>
            <a:r>
              <a:rPr lang="en-US" sz="600" dirty="0"/>
              <a:t>github.com/amelcharolinesgn2/CCNA2</a:t>
            </a:r>
            <a:endParaRPr lang="en-US" sz="600" dirty="0"/>
          </a:p>
        </p:txBody>
      </p:sp>
      <p:sp>
        <p:nvSpPr>
          <p:cNvPr id="33" name="Rectangle 32"/>
          <p:cNvSpPr/>
          <p:nvPr/>
        </p:nvSpPr>
        <p:spPr>
          <a:xfrm>
            <a:off x="6931268" y="4754935"/>
            <a:ext cx="2063814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600" dirty="0">
                <a:hlinkClick r:id="rId8"/>
              </a:rPr>
              <a:t>https://</a:t>
            </a:r>
            <a:r>
              <a:rPr lang="en-US" sz="600" dirty="0">
                <a:hlinkClick r:id="rId8"/>
              </a:rPr>
              <a:t>github.com/amelcharolinesgn2/AWS</a:t>
            </a:r>
            <a:r>
              <a:rPr lang="en-US" sz="600" dirty="0"/>
              <a:t> Certificate</a:t>
            </a:r>
            <a:endParaRPr lang="en-US" sz="600" dirty="0"/>
          </a:p>
        </p:txBody>
      </p:sp>
      <p:sp>
        <p:nvSpPr>
          <p:cNvPr id="24" name="Google Shape;66;p13"/>
          <p:cNvSpPr txBox="1">
            <a:spLocks/>
          </p:cNvSpPr>
          <p:nvPr/>
        </p:nvSpPr>
        <p:spPr>
          <a:xfrm>
            <a:off x="1260707" y="2044358"/>
            <a:ext cx="7136700" cy="161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 fontScale="97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>
            <a:pPr lvl="0"/>
            <a:r>
              <a:rPr lang="en-GB" dirty="0">
                <a:solidFill>
                  <a:srgbClr val="5B5B5B"/>
                </a:solidFill>
                <a:latin typeface="Inter"/>
                <a:ea typeface="Inter"/>
                <a:cs typeface="Inter"/>
                <a:sym typeface="Inter"/>
              </a:rPr>
              <a:t>slido.com</a:t>
            </a:r>
            <a:br>
              <a:rPr lang="en-GB" dirty="0">
                <a:solidFill>
                  <a:srgbClr val="5B5B5B"/>
                </a:solidFill>
                <a:latin typeface="Inter"/>
                <a:ea typeface="Inter"/>
                <a:cs typeface="Inter"/>
                <a:sym typeface="Inter"/>
              </a:rPr>
            </a:br>
            <a:endParaRPr lang="en-GB" dirty="0">
              <a:solidFill>
                <a:srgbClr val="5B5B5B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38966651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"/>
          <p:cNvSpPr/>
          <p:nvPr/>
        </p:nvSpPr>
        <p:spPr>
          <a:xfrm rot="5400000">
            <a:off x="7365228" y="0"/>
            <a:ext cx="1778700" cy="1778700"/>
          </a:xfrm>
          <a:prstGeom prst="diagStripe">
            <a:avLst>
              <a:gd name="adj" fmla="val 50000"/>
            </a:avLst>
          </a:prstGeom>
          <a:solidFill>
            <a:srgbClr val="EDFAF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7" name="Google Shape;67;p13"/>
          <p:cNvSpPr txBox="1"/>
          <p:nvPr/>
        </p:nvSpPr>
        <p:spPr>
          <a:xfrm rot="2700000">
            <a:off x="7215273" y="386217"/>
            <a:ext cx="2501461" cy="583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>
                <a:solidFill>
                  <a:srgbClr val="198038"/>
                </a:solidFill>
                <a:latin typeface="Inter"/>
                <a:ea typeface="Inter"/>
                <a:cs typeface="Inter"/>
                <a:sym typeface="Inter"/>
              </a:rPr>
              <a:t>Do not edit</a:t>
            </a:r>
            <a:endParaRPr sz="1200" b="1">
              <a:solidFill>
                <a:srgbClr val="198038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u="sng">
                <a:solidFill>
                  <a:srgbClr val="198038"/>
                </a:solidFill>
                <a:latin typeface="Inter"/>
                <a:ea typeface="Inter"/>
                <a:cs typeface="Inter"/>
                <a:sym typeface="Inter"/>
                <a:hlinkClick r:id="rId3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How to change the design</a:t>
            </a:r>
            <a:endParaRPr sz="1200">
              <a:solidFill>
                <a:srgbClr val="19803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68" name="Google Shape;68;p13" descr="poll-type-id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3520" y="1307027"/>
            <a:ext cx="1778772" cy="1778772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3" descr="title-id"/>
          <p:cNvSpPr txBox="1"/>
          <p:nvPr/>
        </p:nvSpPr>
        <p:spPr>
          <a:xfrm>
            <a:off x="2334638" y="1320628"/>
            <a:ext cx="6364800" cy="175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b="1" dirty="0" smtClean="0">
                <a:solidFill>
                  <a:srgbClr val="5B5B5B"/>
                </a:solidFill>
                <a:latin typeface="Inter"/>
                <a:ea typeface="Inter"/>
                <a:cs typeface="Inter"/>
                <a:sym typeface="Inter"/>
              </a:rPr>
              <a:t>slido.com</a:t>
            </a:r>
            <a:r>
              <a:rPr lang="en-GB" sz="3600" b="1" dirty="0">
                <a:solidFill>
                  <a:srgbClr val="5B5B5B"/>
                </a:solidFill>
                <a:latin typeface="Inter"/>
                <a:ea typeface="Inter"/>
                <a:cs typeface="Inter"/>
                <a:sym typeface="Inter"/>
              </a:rPr>
              <a:t/>
            </a:r>
            <a:br>
              <a:rPr lang="en-GB" sz="3600" b="1" dirty="0">
                <a:solidFill>
                  <a:srgbClr val="5B5B5B"/>
                </a:solidFill>
                <a:latin typeface="Inter"/>
                <a:ea typeface="Inter"/>
                <a:cs typeface="Inter"/>
                <a:sym typeface="Inter"/>
              </a:rPr>
            </a:br>
            <a:endParaRPr sz="3600" b="1" dirty="0">
              <a:solidFill>
                <a:srgbClr val="5B5B5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0" name="Google Shape;70;p13"/>
          <p:cNvSpPr/>
          <p:nvPr/>
        </p:nvSpPr>
        <p:spPr>
          <a:xfrm>
            <a:off x="0" y="4365024"/>
            <a:ext cx="9144000" cy="778500"/>
          </a:xfrm>
          <a:prstGeom prst="rect">
            <a:avLst/>
          </a:prstGeom>
          <a:solidFill>
            <a:srgbClr val="1980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1" name="Google Shape;71;p13"/>
          <p:cNvSpPr txBox="1"/>
          <p:nvPr/>
        </p:nvSpPr>
        <p:spPr>
          <a:xfrm>
            <a:off x="555866" y="4365024"/>
            <a:ext cx="6948300" cy="77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Presenting with animations, GIFs or speaker notes? Enable our </a:t>
            </a:r>
            <a:r>
              <a:rPr lang="en-GB" sz="1200" u="sng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  <a:hlinkClick r:id="rId6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Chrome extension</a:t>
            </a:r>
            <a:endParaRPr sz="12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72" name="Google Shape;72;p1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22347" y="4643089"/>
            <a:ext cx="222347" cy="222347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3" descr="logo-id">
            <a:hlinkClick r:id="rId8"/>
          </p:cNvPr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921094" y="4476329"/>
            <a:ext cx="1111733" cy="5558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4"/>
          <p:cNvSpPr/>
          <p:nvPr/>
        </p:nvSpPr>
        <p:spPr>
          <a:xfrm rot="5400000">
            <a:off x="7365228" y="0"/>
            <a:ext cx="1778700" cy="1778700"/>
          </a:xfrm>
          <a:prstGeom prst="diagStripe">
            <a:avLst>
              <a:gd name="adj" fmla="val 50000"/>
            </a:avLst>
          </a:prstGeom>
          <a:solidFill>
            <a:srgbClr val="EDFAF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9" name="Google Shape;79;p14"/>
          <p:cNvSpPr txBox="1"/>
          <p:nvPr/>
        </p:nvSpPr>
        <p:spPr>
          <a:xfrm rot="2700000">
            <a:off x="7215273" y="386217"/>
            <a:ext cx="2501461" cy="583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>
                <a:solidFill>
                  <a:srgbClr val="198038"/>
                </a:solidFill>
                <a:latin typeface="Inter"/>
                <a:ea typeface="Inter"/>
                <a:cs typeface="Inter"/>
                <a:sym typeface="Inter"/>
              </a:rPr>
              <a:t>Do not edit</a:t>
            </a:r>
            <a:endParaRPr sz="1200" b="1">
              <a:solidFill>
                <a:srgbClr val="198038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u="sng">
                <a:solidFill>
                  <a:srgbClr val="198038"/>
                </a:solidFill>
                <a:latin typeface="Inter"/>
                <a:ea typeface="Inter"/>
                <a:cs typeface="Inter"/>
                <a:sym typeface="Inter"/>
                <a:hlinkClick r:id="rId3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How to change the design</a:t>
            </a:r>
            <a:endParaRPr sz="1200">
              <a:solidFill>
                <a:srgbClr val="19803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80" name="Google Shape;80;p14" descr="poll-type-id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3520" y="1307027"/>
            <a:ext cx="1778772" cy="1778772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4" descr="title-id"/>
          <p:cNvSpPr txBox="1"/>
          <p:nvPr/>
        </p:nvSpPr>
        <p:spPr>
          <a:xfrm>
            <a:off x="2334638" y="1320628"/>
            <a:ext cx="6364800" cy="175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b="1">
                <a:solidFill>
                  <a:srgbClr val="5B5B5B"/>
                </a:solidFill>
                <a:latin typeface="Inter"/>
                <a:ea typeface="Inter"/>
                <a:cs typeface="Inter"/>
                <a:sym typeface="Inter"/>
              </a:rPr>
              <a:t>How can you prevent yourself from cloud over billing?</a:t>
            </a:r>
            <a:endParaRPr sz="3600" b="1">
              <a:solidFill>
                <a:srgbClr val="5B5B5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2" name="Google Shape;82;p14"/>
          <p:cNvSpPr/>
          <p:nvPr/>
        </p:nvSpPr>
        <p:spPr>
          <a:xfrm>
            <a:off x="0" y="4365024"/>
            <a:ext cx="9144000" cy="778500"/>
          </a:xfrm>
          <a:prstGeom prst="rect">
            <a:avLst/>
          </a:prstGeom>
          <a:solidFill>
            <a:srgbClr val="1980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3" name="Google Shape;83;p14"/>
          <p:cNvSpPr txBox="1"/>
          <p:nvPr/>
        </p:nvSpPr>
        <p:spPr>
          <a:xfrm>
            <a:off x="555866" y="4365024"/>
            <a:ext cx="6948300" cy="77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Presenting with animations, GIFs or speaker notes? Enable our </a:t>
            </a:r>
            <a:r>
              <a:rPr lang="en-GB" sz="1200" u="sng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  <a:hlinkClick r:id="rId6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Chrome extension</a:t>
            </a:r>
            <a:endParaRPr sz="12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84" name="Google Shape;84;p1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22347" y="4643089"/>
            <a:ext cx="222347" cy="222347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4" descr="logo-id">
            <a:hlinkClick r:id="rId8"/>
          </p:cNvPr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921094" y="4476329"/>
            <a:ext cx="1111733" cy="5558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5"/>
          <p:cNvSpPr/>
          <p:nvPr/>
        </p:nvSpPr>
        <p:spPr>
          <a:xfrm rot="5400000">
            <a:off x="7365228" y="0"/>
            <a:ext cx="1778700" cy="1778700"/>
          </a:xfrm>
          <a:prstGeom prst="diagStripe">
            <a:avLst>
              <a:gd name="adj" fmla="val 50000"/>
            </a:avLst>
          </a:prstGeom>
          <a:solidFill>
            <a:srgbClr val="EDFAF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1" name="Google Shape;91;p15"/>
          <p:cNvSpPr txBox="1"/>
          <p:nvPr/>
        </p:nvSpPr>
        <p:spPr>
          <a:xfrm rot="2700000">
            <a:off x="7215273" y="386217"/>
            <a:ext cx="2501461" cy="583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>
                <a:solidFill>
                  <a:srgbClr val="198038"/>
                </a:solidFill>
                <a:latin typeface="Inter"/>
                <a:ea typeface="Inter"/>
                <a:cs typeface="Inter"/>
                <a:sym typeface="Inter"/>
              </a:rPr>
              <a:t>Do not edit</a:t>
            </a:r>
            <a:endParaRPr sz="1200" b="1">
              <a:solidFill>
                <a:srgbClr val="198038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u="sng">
                <a:solidFill>
                  <a:srgbClr val="198038"/>
                </a:solidFill>
                <a:latin typeface="Inter"/>
                <a:ea typeface="Inter"/>
                <a:cs typeface="Inter"/>
                <a:sym typeface="Inter"/>
                <a:hlinkClick r:id="rId3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How to change the design</a:t>
            </a:r>
            <a:endParaRPr sz="1200">
              <a:solidFill>
                <a:srgbClr val="19803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92" name="Google Shape;92;p15" descr="poll-type-id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3520" y="1307027"/>
            <a:ext cx="1778772" cy="1778772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5" descr="title-id"/>
          <p:cNvSpPr txBox="1"/>
          <p:nvPr/>
        </p:nvSpPr>
        <p:spPr>
          <a:xfrm>
            <a:off x="2334638" y="1320628"/>
            <a:ext cx="6364800" cy="175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b="1">
                <a:solidFill>
                  <a:srgbClr val="5B5B5B"/>
                </a:solidFill>
                <a:latin typeface="Inter"/>
                <a:ea typeface="Inter"/>
                <a:cs typeface="Inter"/>
                <a:sym typeface="Inter"/>
              </a:rPr>
              <a:t>What is your first OS?</a:t>
            </a:r>
            <a:endParaRPr sz="3600" b="1">
              <a:solidFill>
                <a:srgbClr val="5B5B5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4" name="Google Shape;94;p15"/>
          <p:cNvSpPr/>
          <p:nvPr/>
        </p:nvSpPr>
        <p:spPr>
          <a:xfrm>
            <a:off x="0" y="4365024"/>
            <a:ext cx="9144000" cy="778500"/>
          </a:xfrm>
          <a:prstGeom prst="rect">
            <a:avLst/>
          </a:prstGeom>
          <a:solidFill>
            <a:srgbClr val="1980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5" name="Google Shape;95;p15"/>
          <p:cNvSpPr txBox="1"/>
          <p:nvPr/>
        </p:nvSpPr>
        <p:spPr>
          <a:xfrm>
            <a:off x="555866" y="4365024"/>
            <a:ext cx="6948300" cy="77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Presenting with animations, GIFs or speaker notes? Enable our </a:t>
            </a:r>
            <a:r>
              <a:rPr lang="en-GB" sz="1200" u="sng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  <a:hlinkClick r:id="rId6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Chrome extension</a:t>
            </a:r>
            <a:endParaRPr sz="12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96" name="Google Shape;96;p1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22347" y="4643089"/>
            <a:ext cx="222347" cy="222347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5" descr="logo-id">
            <a:hlinkClick r:id="rId8"/>
          </p:cNvPr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921094" y="4476329"/>
            <a:ext cx="1111733" cy="5558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6"/>
          <p:cNvSpPr txBox="1">
            <a:spLocks noGrp="1"/>
          </p:cNvSpPr>
          <p:nvPr>
            <p:ph type="ctrTitle"/>
          </p:nvPr>
        </p:nvSpPr>
        <p:spPr>
          <a:xfrm>
            <a:off x="844200" y="1751775"/>
            <a:ext cx="7430400" cy="102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4260"/>
              <a:t>Cloud Operating Systems and Servers</a:t>
            </a:r>
            <a:endParaRPr sz="4260"/>
          </a:p>
        </p:txBody>
      </p:sp>
      <p:sp>
        <p:nvSpPr>
          <p:cNvPr id="103" name="Google Shape;103;p16"/>
          <p:cNvSpPr txBox="1">
            <a:spLocks noGrp="1"/>
          </p:cNvSpPr>
          <p:nvPr>
            <p:ph type="subTitle" idx="1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7500"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42"/>
              <a:t>The way to manage hardware and software resources in a cloud environment</a:t>
            </a:r>
            <a:endParaRPr sz="2542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Introduction to Cloud Operating Systems</a:t>
            </a:r>
            <a:endParaRPr/>
          </a:p>
        </p:txBody>
      </p:sp>
      <p:sp>
        <p:nvSpPr>
          <p:cNvPr id="109" name="Google Shape;109;p17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Cloud Operating System (Cloud OS) manages hardware and software resources in a cloud environment.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It acts as a platform for cloud applications to run.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Enables scalability, virtualization, and multi-tenancy.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Examples: OpenStack, Windows Azure, Google Cloud OS.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8"/>
          <p:cNvSpPr/>
          <p:nvPr/>
        </p:nvSpPr>
        <p:spPr>
          <a:xfrm rot="5400000">
            <a:off x="7365228" y="0"/>
            <a:ext cx="1778700" cy="1778700"/>
          </a:xfrm>
          <a:prstGeom prst="diagStripe">
            <a:avLst>
              <a:gd name="adj" fmla="val 50000"/>
            </a:avLst>
          </a:prstGeom>
          <a:solidFill>
            <a:srgbClr val="EDFAF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5" name="Google Shape;115;p18"/>
          <p:cNvSpPr txBox="1"/>
          <p:nvPr/>
        </p:nvSpPr>
        <p:spPr>
          <a:xfrm rot="2700000">
            <a:off x="7215273" y="386217"/>
            <a:ext cx="2501461" cy="583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>
                <a:solidFill>
                  <a:srgbClr val="198038"/>
                </a:solidFill>
                <a:latin typeface="Inter"/>
                <a:ea typeface="Inter"/>
                <a:cs typeface="Inter"/>
                <a:sym typeface="Inter"/>
              </a:rPr>
              <a:t>Do not edit</a:t>
            </a:r>
            <a:endParaRPr sz="1200" b="1">
              <a:solidFill>
                <a:srgbClr val="198038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u="sng">
                <a:solidFill>
                  <a:srgbClr val="198038"/>
                </a:solidFill>
                <a:latin typeface="Inter"/>
                <a:ea typeface="Inter"/>
                <a:cs typeface="Inter"/>
                <a:sym typeface="Inter"/>
                <a:hlinkClick r:id="rId3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How to change the design</a:t>
            </a:r>
            <a:endParaRPr sz="1200">
              <a:solidFill>
                <a:srgbClr val="19803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16" name="Google Shape;116;p18" descr="poll-type-id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3520" y="1307027"/>
            <a:ext cx="1778772" cy="1778772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8" descr="title-id"/>
          <p:cNvSpPr txBox="1"/>
          <p:nvPr/>
        </p:nvSpPr>
        <p:spPr>
          <a:xfrm>
            <a:off x="2334638" y="1320628"/>
            <a:ext cx="6364800" cy="175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b="1">
                <a:solidFill>
                  <a:srgbClr val="5B5B5B"/>
                </a:solidFill>
                <a:latin typeface="Inter"/>
                <a:ea typeface="Inter"/>
                <a:cs typeface="Inter"/>
                <a:sym typeface="Inter"/>
              </a:rPr>
              <a:t>Which of the following best defines a Cloud Operating System?</a:t>
            </a:r>
            <a:endParaRPr sz="3600" b="1">
              <a:solidFill>
                <a:srgbClr val="5B5B5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8" name="Google Shape;118;p18"/>
          <p:cNvSpPr/>
          <p:nvPr/>
        </p:nvSpPr>
        <p:spPr>
          <a:xfrm>
            <a:off x="0" y="4365024"/>
            <a:ext cx="9144000" cy="778500"/>
          </a:xfrm>
          <a:prstGeom prst="rect">
            <a:avLst/>
          </a:prstGeom>
          <a:solidFill>
            <a:srgbClr val="1980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9" name="Google Shape;119;p18"/>
          <p:cNvSpPr txBox="1"/>
          <p:nvPr/>
        </p:nvSpPr>
        <p:spPr>
          <a:xfrm>
            <a:off x="555866" y="4365024"/>
            <a:ext cx="6948300" cy="77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Presenting with animations, GIFs or speaker notes? Enable our </a:t>
            </a:r>
            <a:r>
              <a:rPr lang="en-GB" sz="1200" u="sng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  <a:hlinkClick r:id="rId6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Chrome extension</a:t>
            </a:r>
            <a:endParaRPr sz="12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20" name="Google Shape;120;p1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22347" y="4643089"/>
            <a:ext cx="222347" cy="22234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8" descr="logo-id">
            <a:hlinkClick r:id="rId8"/>
          </p:cNvPr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921094" y="4476329"/>
            <a:ext cx="1111733" cy="5558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Role of Cloud Operating System</a:t>
            </a:r>
            <a:endParaRPr/>
          </a:p>
        </p:txBody>
      </p:sp>
      <p:sp>
        <p:nvSpPr>
          <p:cNvPr id="127" name="Google Shape;127;p19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 b="1"/>
              <a:t>Manages Virtual Machines (VMs): </a:t>
            </a:r>
            <a:r>
              <a:rPr lang="en-GB"/>
              <a:t>Provision, monitor, and destroy VMs.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 b="1"/>
              <a:t>Resource Management:</a:t>
            </a:r>
            <a:r>
              <a:rPr lang="en-GB"/>
              <a:t> Allocates CPU, memory, and storage dynamically.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 b="1"/>
              <a:t>User &amp; Access Management: </a:t>
            </a:r>
            <a:r>
              <a:rPr lang="en-GB"/>
              <a:t>Multi-user, multi-tenant support.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 b="1"/>
              <a:t>Scalability &amp; Elasticity:</a:t>
            </a:r>
            <a:r>
              <a:rPr lang="en-GB"/>
              <a:t> Supports automatic scaling.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 b="1"/>
              <a:t>Automation:</a:t>
            </a:r>
            <a:r>
              <a:rPr lang="en-GB"/>
              <a:t> Automated deployment, monitoring, and fault tolerance.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0"/>
          <p:cNvSpPr/>
          <p:nvPr/>
        </p:nvSpPr>
        <p:spPr>
          <a:xfrm rot="5400000">
            <a:off x="7365228" y="0"/>
            <a:ext cx="1778700" cy="1778700"/>
          </a:xfrm>
          <a:prstGeom prst="diagStripe">
            <a:avLst>
              <a:gd name="adj" fmla="val 50000"/>
            </a:avLst>
          </a:prstGeom>
          <a:solidFill>
            <a:srgbClr val="EDFAF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3" name="Google Shape;133;p20"/>
          <p:cNvSpPr txBox="1"/>
          <p:nvPr/>
        </p:nvSpPr>
        <p:spPr>
          <a:xfrm rot="2700000">
            <a:off x="7215273" y="386217"/>
            <a:ext cx="2501461" cy="583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>
                <a:solidFill>
                  <a:srgbClr val="198038"/>
                </a:solidFill>
                <a:latin typeface="Inter"/>
                <a:ea typeface="Inter"/>
                <a:cs typeface="Inter"/>
                <a:sym typeface="Inter"/>
              </a:rPr>
              <a:t>Do not edit</a:t>
            </a:r>
            <a:endParaRPr sz="1200" b="1">
              <a:solidFill>
                <a:srgbClr val="198038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u="sng">
                <a:solidFill>
                  <a:srgbClr val="198038"/>
                </a:solidFill>
                <a:latin typeface="Inter"/>
                <a:ea typeface="Inter"/>
                <a:cs typeface="Inter"/>
                <a:sym typeface="Inter"/>
                <a:hlinkClick r:id="rId3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How to change the design</a:t>
            </a:r>
            <a:endParaRPr sz="1200">
              <a:solidFill>
                <a:srgbClr val="19803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34" name="Google Shape;134;p20" descr="poll-type-id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3520" y="1307027"/>
            <a:ext cx="1778772" cy="177877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20" descr="title-id"/>
          <p:cNvSpPr txBox="1"/>
          <p:nvPr/>
        </p:nvSpPr>
        <p:spPr>
          <a:xfrm>
            <a:off x="2334638" y="1320628"/>
            <a:ext cx="6364800" cy="175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b="1">
                <a:solidFill>
                  <a:srgbClr val="5B5B5B"/>
                </a:solidFill>
                <a:latin typeface="Inter"/>
                <a:ea typeface="Inter"/>
                <a:cs typeface="Inter"/>
                <a:sym typeface="Inter"/>
              </a:rPr>
              <a:t>Which of the following is NOT a key function of a Cloud OS?</a:t>
            </a:r>
            <a:endParaRPr sz="3600" b="1">
              <a:solidFill>
                <a:srgbClr val="5B5B5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6" name="Google Shape;136;p20"/>
          <p:cNvSpPr/>
          <p:nvPr/>
        </p:nvSpPr>
        <p:spPr>
          <a:xfrm>
            <a:off x="0" y="4365024"/>
            <a:ext cx="9144000" cy="778500"/>
          </a:xfrm>
          <a:prstGeom prst="rect">
            <a:avLst/>
          </a:prstGeom>
          <a:solidFill>
            <a:srgbClr val="1980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7" name="Google Shape;137;p20"/>
          <p:cNvSpPr txBox="1"/>
          <p:nvPr/>
        </p:nvSpPr>
        <p:spPr>
          <a:xfrm>
            <a:off x="555866" y="4365024"/>
            <a:ext cx="6948300" cy="77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Presenting with animations, GIFs or speaker notes? Enable our </a:t>
            </a:r>
            <a:r>
              <a:rPr lang="en-GB" sz="1200" u="sng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  <a:hlinkClick r:id="rId6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Chrome extension</a:t>
            </a:r>
            <a:endParaRPr sz="12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38" name="Google Shape;138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22347" y="4643089"/>
            <a:ext cx="222347" cy="22234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20" descr="logo-id">
            <a:hlinkClick r:id="rId8"/>
          </p:cNvPr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921094" y="4476329"/>
            <a:ext cx="1111733" cy="5558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Types of Cloud Operating Systems</a:t>
            </a:r>
            <a:endParaRPr/>
          </a:p>
        </p:txBody>
      </p:sp>
      <p:sp>
        <p:nvSpPr>
          <p:cNvPr id="145" name="Google Shape;145;p21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b="1"/>
              <a:t>Open Source Cloud OS</a:t>
            </a:r>
            <a:r>
              <a:rPr lang="en-GB"/>
              <a:t>: OpenStack, CloudStack.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b="1"/>
              <a:t>Proprietary Cloud OS:</a:t>
            </a:r>
            <a:r>
              <a:rPr lang="en-GB"/>
              <a:t> Microsoft Azure, Google Cloud OS.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b="1"/>
              <a:t>Hybrid Solutions:</a:t>
            </a:r>
            <a:r>
              <a:rPr lang="en-GB"/>
              <a:t> Combining private and public features.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2"/>
          <p:cNvSpPr/>
          <p:nvPr/>
        </p:nvSpPr>
        <p:spPr>
          <a:xfrm rot="5400000">
            <a:off x="7365228" y="0"/>
            <a:ext cx="1778700" cy="1778700"/>
          </a:xfrm>
          <a:prstGeom prst="diagStripe">
            <a:avLst>
              <a:gd name="adj" fmla="val 50000"/>
            </a:avLst>
          </a:prstGeom>
          <a:solidFill>
            <a:srgbClr val="EDFAF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1" name="Google Shape;151;p22"/>
          <p:cNvSpPr txBox="1"/>
          <p:nvPr/>
        </p:nvSpPr>
        <p:spPr>
          <a:xfrm rot="2700000">
            <a:off x="7215273" y="386217"/>
            <a:ext cx="2501461" cy="583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>
                <a:solidFill>
                  <a:srgbClr val="198038"/>
                </a:solidFill>
                <a:latin typeface="Inter"/>
                <a:ea typeface="Inter"/>
                <a:cs typeface="Inter"/>
                <a:sym typeface="Inter"/>
              </a:rPr>
              <a:t>Do not edit</a:t>
            </a:r>
            <a:endParaRPr sz="1200" b="1">
              <a:solidFill>
                <a:srgbClr val="198038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u="sng">
                <a:solidFill>
                  <a:srgbClr val="198038"/>
                </a:solidFill>
                <a:latin typeface="Inter"/>
                <a:ea typeface="Inter"/>
                <a:cs typeface="Inter"/>
                <a:sym typeface="Inter"/>
                <a:hlinkClick r:id="rId3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How to change the design</a:t>
            </a:r>
            <a:endParaRPr sz="1200">
              <a:solidFill>
                <a:srgbClr val="19803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2" name="Google Shape;152;p22" descr="title-id"/>
          <p:cNvSpPr txBox="1"/>
          <p:nvPr/>
        </p:nvSpPr>
        <p:spPr>
          <a:xfrm>
            <a:off x="2334638" y="1320628"/>
            <a:ext cx="6364800" cy="175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b="1">
                <a:solidFill>
                  <a:srgbClr val="5B5B5B"/>
                </a:solidFill>
                <a:latin typeface="Inter"/>
                <a:ea typeface="Inter"/>
                <a:cs typeface="Inter"/>
                <a:sym typeface="Inter"/>
              </a:rPr>
              <a:t>Which of these is an open-source Cloud OS?</a:t>
            </a:r>
            <a:endParaRPr sz="3600" b="1">
              <a:solidFill>
                <a:srgbClr val="5B5B5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3" name="Google Shape;153;p22"/>
          <p:cNvSpPr/>
          <p:nvPr/>
        </p:nvSpPr>
        <p:spPr>
          <a:xfrm>
            <a:off x="0" y="4365024"/>
            <a:ext cx="9144000" cy="778500"/>
          </a:xfrm>
          <a:prstGeom prst="rect">
            <a:avLst/>
          </a:prstGeom>
          <a:solidFill>
            <a:srgbClr val="1980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4" name="Google Shape;154;p22"/>
          <p:cNvSpPr txBox="1"/>
          <p:nvPr/>
        </p:nvSpPr>
        <p:spPr>
          <a:xfrm>
            <a:off x="555866" y="4365024"/>
            <a:ext cx="6948300" cy="77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Presenting with animations, GIFs or speaker notes? Enable our </a:t>
            </a:r>
            <a:r>
              <a:rPr lang="en-GB" sz="1200" u="sng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  <a:hlinkClick r:id="rId4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Chrome extension</a:t>
            </a:r>
            <a:endParaRPr sz="12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55" name="Google Shape;155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22347" y="4643089"/>
            <a:ext cx="222347" cy="22234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22" descr="logo-id">
            <a:hlinkClick r:id="rId6"/>
          </p:cNvPr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921094" y="4476329"/>
            <a:ext cx="1111733" cy="55586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22" descr="poll-type-id">
            <a:hlinkClick r:id="rId8"/>
          </p:cNvPr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33520" y="1307027"/>
            <a:ext cx="1778772" cy="17787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Cloud Servers - Introduction</a:t>
            </a:r>
            <a:endParaRPr/>
          </a:p>
        </p:txBody>
      </p:sp>
      <p:sp>
        <p:nvSpPr>
          <p:cNvPr id="163" name="Google Shape;163;p23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Cloud servers are virtual servers running in a cloud environment.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Hosted by cloud providers like AWS, Azure, GCP.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Highly scalable and can be deployed globally.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Types: Compute, Database, Storage, App Servers.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4"/>
          <p:cNvSpPr/>
          <p:nvPr/>
        </p:nvSpPr>
        <p:spPr>
          <a:xfrm rot="5400000">
            <a:off x="7365228" y="0"/>
            <a:ext cx="1778700" cy="1778700"/>
          </a:xfrm>
          <a:prstGeom prst="diagStripe">
            <a:avLst>
              <a:gd name="adj" fmla="val 50000"/>
            </a:avLst>
          </a:prstGeom>
          <a:solidFill>
            <a:srgbClr val="EDFAF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9" name="Google Shape;169;p24"/>
          <p:cNvSpPr txBox="1"/>
          <p:nvPr/>
        </p:nvSpPr>
        <p:spPr>
          <a:xfrm rot="2700000">
            <a:off x="7215273" y="386217"/>
            <a:ext cx="2501461" cy="583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>
                <a:solidFill>
                  <a:srgbClr val="198038"/>
                </a:solidFill>
                <a:latin typeface="Inter"/>
                <a:ea typeface="Inter"/>
                <a:cs typeface="Inter"/>
                <a:sym typeface="Inter"/>
              </a:rPr>
              <a:t>Do not edit</a:t>
            </a:r>
            <a:endParaRPr sz="1200" b="1">
              <a:solidFill>
                <a:srgbClr val="198038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u="sng">
                <a:solidFill>
                  <a:srgbClr val="198038"/>
                </a:solidFill>
                <a:latin typeface="Inter"/>
                <a:ea typeface="Inter"/>
                <a:cs typeface="Inter"/>
                <a:sym typeface="Inter"/>
                <a:hlinkClick r:id="rId3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How to change the design</a:t>
            </a:r>
            <a:endParaRPr sz="1200">
              <a:solidFill>
                <a:srgbClr val="19803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0" name="Google Shape;170;p24" descr="title-id"/>
          <p:cNvSpPr txBox="1"/>
          <p:nvPr/>
        </p:nvSpPr>
        <p:spPr>
          <a:xfrm>
            <a:off x="2334638" y="1320628"/>
            <a:ext cx="6364800" cy="175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b="1">
                <a:solidFill>
                  <a:srgbClr val="5B5B5B"/>
                </a:solidFill>
                <a:latin typeface="Inter"/>
                <a:ea typeface="Inter"/>
                <a:cs typeface="Inter"/>
                <a:sym typeface="Inter"/>
              </a:rPr>
              <a:t>What is a key benefit of using cloud servers?</a:t>
            </a:r>
            <a:endParaRPr sz="3600" b="1">
              <a:solidFill>
                <a:srgbClr val="5B5B5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1" name="Google Shape;171;p24"/>
          <p:cNvSpPr/>
          <p:nvPr/>
        </p:nvSpPr>
        <p:spPr>
          <a:xfrm>
            <a:off x="0" y="4365024"/>
            <a:ext cx="9144000" cy="778500"/>
          </a:xfrm>
          <a:prstGeom prst="rect">
            <a:avLst/>
          </a:prstGeom>
          <a:solidFill>
            <a:srgbClr val="1980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2" name="Google Shape;172;p24"/>
          <p:cNvSpPr txBox="1"/>
          <p:nvPr/>
        </p:nvSpPr>
        <p:spPr>
          <a:xfrm>
            <a:off x="555866" y="4365024"/>
            <a:ext cx="6948300" cy="77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Presenting with animations, GIFs or speaker notes? Enable our </a:t>
            </a:r>
            <a:r>
              <a:rPr lang="en-GB" sz="1200" u="sng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  <a:hlinkClick r:id="rId4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Chrome extension</a:t>
            </a:r>
            <a:endParaRPr sz="12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73" name="Google Shape;173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22347" y="4643089"/>
            <a:ext cx="222347" cy="22234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4" descr="logo-id">
            <a:hlinkClick r:id="rId6"/>
          </p:cNvPr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921094" y="4476329"/>
            <a:ext cx="1111733" cy="55586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24" descr="poll-type-id">
            <a:hlinkClick r:id="rId8"/>
          </p:cNvPr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33520" y="1307027"/>
            <a:ext cx="1778772" cy="17787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Types of Cloud Servers</a:t>
            </a:r>
            <a:endParaRPr/>
          </a:p>
        </p:txBody>
      </p:sp>
      <p:sp>
        <p:nvSpPr>
          <p:cNvPr id="181" name="Google Shape;181;p25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Compute Servers (EC2, VM Instances).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Database Servers (RDS, Cloud SQL).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Storage Servers (S3, Blob Storage).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Application Servers (App Engine, Elastic Beanstalk).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6"/>
          <p:cNvSpPr/>
          <p:nvPr/>
        </p:nvSpPr>
        <p:spPr>
          <a:xfrm rot="5400000">
            <a:off x="7365228" y="0"/>
            <a:ext cx="1778700" cy="1778700"/>
          </a:xfrm>
          <a:prstGeom prst="diagStripe">
            <a:avLst>
              <a:gd name="adj" fmla="val 50000"/>
            </a:avLst>
          </a:prstGeom>
          <a:solidFill>
            <a:srgbClr val="EDFAF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7" name="Google Shape;187;p26"/>
          <p:cNvSpPr txBox="1"/>
          <p:nvPr/>
        </p:nvSpPr>
        <p:spPr>
          <a:xfrm rot="2700000">
            <a:off x="7215273" y="386217"/>
            <a:ext cx="2501461" cy="583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>
                <a:solidFill>
                  <a:srgbClr val="198038"/>
                </a:solidFill>
                <a:latin typeface="Inter"/>
                <a:ea typeface="Inter"/>
                <a:cs typeface="Inter"/>
                <a:sym typeface="Inter"/>
              </a:rPr>
              <a:t>Do not edit</a:t>
            </a:r>
            <a:endParaRPr sz="1200" b="1">
              <a:solidFill>
                <a:srgbClr val="198038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u="sng">
                <a:solidFill>
                  <a:srgbClr val="198038"/>
                </a:solidFill>
                <a:latin typeface="Inter"/>
                <a:ea typeface="Inter"/>
                <a:cs typeface="Inter"/>
                <a:sym typeface="Inter"/>
                <a:hlinkClick r:id="rId3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How to change the design</a:t>
            </a:r>
            <a:endParaRPr sz="1200">
              <a:solidFill>
                <a:srgbClr val="19803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8" name="Google Shape;188;p26" descr="title-id"/>
          <p:cNvSpPr txBox="1"/>
          <p:nvPr/>
        </p:nvSpPr>
        <p:spPr>
          <a:xfrm>
            <a:off x="2334638" y="1320628"/>
            <a:ext cx="6364800" cy="175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b="1">
                <a:solidFill>
                  <a:srgbClr val="5B5B5B"/>
                </a:solidFill>
                <a:latin typeface="Inter"/>
                <a:ea typeface="Inter"/>
                <a:cs typeface="Inter"/>
                <a:sym typeface="Inter"/>
              </a:rPr>
              <a:t>Which type of server is used primarily for computing in the cloud?</a:t>
            </a:r>
            <a:endParaRPr sz="3600" b="1">
              <a:solidFill>
                <a:srgbClr val="5B5B5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9" name="Google Shape;189;p26"/>
          <p:cNvSpPr/>
          <p:nvPr/>
        </p:nvSpPr>
        <p:spPr>
          <a:xfrm>
            <a:off x="0" y="4365024"/>
            <a:ext cx="9144000" cy="778500"/>
          </a:xfrm>
          <a:prstGeom prst="rect">
            <a:avLst/>
          </a:prstGeom>
          <a:solidFill>
            <a:srgbClr val="1980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90" name="Google Shape;190;p26"/>
          <p:cNvSpPr txBox="1"/>
          <p:nvPr/>
        </p:nvSpPr>
        <p:spPr>
          <a:xfrm>
            <a:off x="555866" y="4365024"/>
            <a:ext cx="6948300" cy="77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Presenting with animations, GIFs or speaker notes? Enable our </a:t>
            </a:r>
            <a:r>
              <a:rPr lang="en-GB" sz="1200" u="sng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  <a:hlinkClick r:id="rId4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Chrome extension</a:t>
            </a:r>
            <a:endParaRPr sz="12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91" name="Google Shape;191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22347" y="4643089"/>
            <a:ext cx="222347" cy="22234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6" descr="logo-id">
            <a:hlinkClick r:id="rId6"/>
          </p:cNvPr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921094" y="4476329"/>
            <a:ext cx="1111733" cy="55586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6" descr="poll-type-id">
            <a:hlinkClick r:id="rId8"/>
          </p:cNvPr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33520" y="1307027"/>
            <a:ext cx="1778772" cy="17787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Key Features of Cloud Operating System</a:t>
            </a:r>
            <a:endParaRPr/>
          </a:p>
        </p:txBody>
      </p:sp>
      <p:sp>
        <p:nvSpPr>
          <p:cNvPr id="199" name="Google Shape;199;p27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 b="1"/>
              <a:t>Elastic Scaling: </a:t>
            </a:r>
            <a:r>
              <a:rPr lang="en-GB"/>
              <a:t>Automatically scales resources up/down.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 b="1"/>
              <a:t>API Access:</a:t>
            </a:r>
            <a:r>
              <a:rPr lang="en-GB"/>
              <a:t> Provides programmatic access to all services.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 b="1"/>
              <a:t>Resource Pooling:</a:t>
            </a:r>
            <a:r>
              <a:rPr lang="en-GB"/>
              <a:t> Combines resources for multi-tenancy.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 b="1"/>
              <a:t>Self-service Portals:</a:t>
            </a:r>
            <a:r>
              <a:rPr lang="en-GB"/>
              <a:t> Web interfaces for users to manage services.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 b="1"/>
              <a:t>Monitoring &amp; Alerts: </a:t>
            </a:r>
            <a:r>
              <a:rPr lang="en-GB"/>
              <a:t>Tracks usage and health metrics.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8"/>
          <p:cNvSpPr/>
          <p:nvPr/>
        </p:nvSpPr>
        <p:spPr>
          <a:xfrm rot="5400000">
            <a:off x="7365228" y="0"/>
            <a:ext cx="1778700" cy="1778700"/>
          </a:xfrm>
          <a:prstGeom prst="diagStripe">
            <a:avLst>
              <a:gd name="adj" fmla="val 50000"/>
            </a:avLst>
          </a:prstGeom>
          <a:solidFill>
            <a:srgbClr val="EDFAF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05" name="Google Shape;205;p28"/>
          <p:cNvSpPr txBox="1"/>
          <p:nvPr/>
        </p:nvSpPr>
        <p:spPr>
          <a:xfrm rot="2700000">
            <a:off x="7215273" y="386217"/>
            <a:ext cx="2501461" cy="583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>
                <a:solidFill>
                  <a:srgbClr val="198038"/>
                </a:solidFill>
                <a:latin typeface="Inter"/>
                <a:ea typeface="Inter"/>
                <a:cs typeface="Inter"/>
                <a:sym typeface="Inter"/>
              </a:rPr>
              <a:t>Do not edit</a:t>
            </a:r>
            <a:endParaRPr sz="1200" b="1">
              <a:solidFill>
                <a:srgbClr val="198038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u="sng">
                <a:solidFill>
                  <a:srgbClr val="198038"/>
                </a:solidFill>
                <a:latin typeface="Inter"/>
                <a:ea typeface="Inter"/>
                <a:cs typeface="Inter"/>
                <a:sym typeface="Inter"/>
                <a:hlinkClick r:id="rId3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How to change the design</a:t>
            </a:r>
            <a:endParaRPr sz="1200">
              <a:solidFill>
                <a:srgbClr val="19803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6" name="Google Shape;206;p28" descr="title-id"/>
          <p:cNvSpPr txBox="1"/>
          <p:nvPr/>
        </p:nvSpPr>
        <p:spPr>
          <a:xfrm>
            <a:off x="2334638" y="1320628"/>
            <a:ext cx="6364800" cy="175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 b="1">
                <a:solidFill>
                  <a:srgbClr val="5B5B5B"/>
                </a:solidFill>
                <a:latin typeface="Inter"/>
                <a:ea typeface="Inter"/>
                <a:cs typeface="Inter"/>
                <a:sym typeface="Inter"/>
              </a:rPr>
              <a:t>Which feature allows developers to manage cloud resources using scripts or programs?</a:t>
            </a:r>
            <a:endParaRPr sz="3000" b="1">
              <a:solidFill>
                <a:srgbClr val="5B5B5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7" name="Google Shape;207;p28"/>
          <p:cNvSpPr/>
          <p:nvPr/>
        </p:nvSpPr>
        <p:spPr>
          <a:xfrm>
            <a:off x="0" y="4365024"/>
            <a:ext cx="9144000" cy="778500"/>
          </a:xfrm>
          <a:prstGeom prst="rect">
            <a:avLst/>
          </a:prstGeom>
          <a:solidFill>
            <a:srgbClr val="1980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08" name="Google Shape;208;p28"/>
          <p:cNvSpPr txBox="1"/>
          <p:nvPr/>
        </p:nvSpPr>
        <p:spPr>
          <a:xfrm>
            <a:off x="555866" y="4365024"/>
            <a:ext cx="6948300" cy="77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Presenting with animations, GIFs or speaker notes? Enable our </a:t>
            </a:r>
            <a:r>
              <a:rPr lang="en-GB" sz="1200" u="sng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  <a:hlinkClick r:id="rId4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Chrome extension</a:t>
            </a:r>
            <a:endParaRPr sz="12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209" name="Google Shape;209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22347" y="4643089"/>
            <a:ext cx="222347" cy="222347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28" descr="logo-id">
            <a:hlinkClick r:id="rId6"/>
          </p:cNvPr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921094" y="4476329"/>
            <a:ext cx="1111733" cy="555866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28" descr="poll-type-id">
            <a:hlinkClick r:id="rId8"/>
          </p:cNvPr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33520" y="1307027"/>
            <a:ext cx="1778772" cy="17787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Cloud Operating System vs Traditional Operating System</a:t>
            </a:r>
            <a:endParaRPr/>
          </a:p>
        </p:txBody>
      </p:sp>
      <p:sp>
        <p:nvSpPr>
          <p:cNvPr id="217" name="Google Shape;217;p29"/>
          <p:cNvSpPr txBox="1">
            <a:spLocks noGrp="1"/>
          </p:cNvSpPr>
          <p:nvPr>
            <p:ph type="body" idx="1"/>
          </p:nvPr>
        </p:nvSpPr>
        <p:spPr>
          <a:xfrm>
            <a:off x="98950" y="1266325"/>
            <a:ext cx="90450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b="1">
                <a:highlight>
                  <a:srgbClr val="B7B7B7"/>
                </a:highlight>
              </a:rPr>
              <a:t>Feature			Traditional OS				 Cloud OS</a:t>
            </a:r>
            <a:endParaRPr b="1">
              <a:highlight>
                <a:srgbClr val="B7B7B7"/>
              </a:highlight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700" b="1"/>
              <a:t>Hardware</a:t>
            </a:r>
            <a:r>
              <a:rPr lang="en-GB" sz="1700"/>
              <a:t>		Local device				     Distributed cloud hardware</a:t>
            </a:r>
            <a:endParaRPr sz="17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700" b="1"/>
              <a:t>Users</a:t>
            </a:r>
            <a:r>
              <a:rPr lang="en-GB" sz="1700"/>
              <a:t>			Single or few users		     Multi-tenant</a:t>
            </a:r>
            <a:endParaRPr sz="17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700" b="1"/>
              <a:t>Scalability</a:t>
            </a:r>
            <a:r>
              <a:rPr lang="en-GB" sz="1700"/>
              <a:t>	        Limited Elastic &amp; dynamic         Automation Minimal Highly automated</a:t>
            </a:r>
            <a:endParaRPr sz="170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700" b="1"/>
              <a:t>Deployment</a:t>
            </a:r>
            <a:r>
              <a:rPr lang="en-GB" sz="1700"/>
              <a:t>		Manual					      Self-service &amp; API-based</a:t>
            </a:r>
            <a:endParaRPr sz="17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0"/>
          <p:cNvSpPr/>
          <p:nvPr/>
        </p:nvSpPr>
        <p:spPr>
          <a:xfrm rot="5400000">
            <a:off x="7365228" y="0"/>
            <a:ext cx="1778700" cy="1778700"/>
          </a:xfrm>
          <a:prstGeom prst="diagStripe">
            <a:avLst>
              <a:gd name="adj" fmla="val 50000"/>
            </a:avLst>
          </a:prstGeom>
          <a:solidFill>
            <a:srgbClr val="EDFAF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23" name="Google Shape;223;p30"/>
          <p:cNvSpPr txBox="1"/>
          <p:nvPr/>
        </p:nvSpPr>
        <p:spPr>
          <a:xfrm rot="2700000">
            <a:off x="7215273" y="386217"/>
            <a:ext cx="2501461" cy="583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>
                <a:solidFill>
                  <a:srgbClr val="198038"/>
                </a:solidFill>
                <a:latin typeface="Inter"/>
                <a:ea typeface="Inter"/>
                <a:cs typeface="Inter"/>
                <a:sym typeface="Inter"/>
              </a:rPr>
              <a:t>Do not edit</a:t>
            </a:r>
            <a:endParaRPr sz="1200" b="1">
              <a:solidFill>
                <a:srgbClr val="198038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u="sng">
                <a:solidFill>
                  <a:srgbClr val="198038"/>
                </a:solidFill>
                <a:latin typeface="Inter"/>
                <a:ea typeface="Inter"/>
                <a:cs typeface="Inter"/>
                <a:sym typeface="Inter"/>
                <a:hlinkClick r:id="rId3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How to change the design</a:t>
            </a:r>
            <a:endParaRPr sz="1200">
              <a:solidFill>
                <a:srgbClr val="19803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4" name="Google Shape;224;p30" descr="title-id"/>
          <p:cNvSpPr txBox="1"/>
          <p:nvPr/>
        </p:nvSpPr>
        <p:spPr>
          <a:xfrm>
            <a:off x="2334638" y="1320628"/>
            <a:ext cx="6364800" cy="175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 b="1">
                <a:solidFill>
                  <a:srgbClr val="5B5B5B"/>
                </a:solidFill>
                <a:latin typeface="Inter"/>
                <a:ea typeface="Inter"/>
                <a:cs typeface="Inter"/>
                <a:sym typeface="Inter"/>
              </a:rPr>
              <a:t>Which of the following is a major difference between traditional OS and Cloud OS?</a:t>
            </a:r>
            <a:endParaRPr sz="3200" b="1">
              <a:solidFill>
                <a:srgbClr val="5B5B5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5" name="Google Shape;225;p30"/>
          <p:cNvSpPr/>
          <p:nvPr/>
        </p:nvSpPr>
        <p:spPr>
          <a:xfrm>
            <a:off x="0" y="4365024"/>
            <a:ext cx="9144000" cy="778500"/>
          </a:xfrm>
          <a:prstGeom prst="rect">
            <a:avLst/>
          </a:prstGeom>
          <a:solidFill>
            <a:srgbClr val="1980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26" name="Google Shape;226;p30"/>
          <p:cNvSpPr txBox="1"/>
          <p:nvPr/>
        </p:nvSpPr>
        <p:spPr>
          <a:xfrm>
            <a:off x="555866" y="4365024"/>
            <a:ext cx="6948300" cy="77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Presenting with animations, GIFs or speaker notes? Enable our </a:t>
            </a:r>
            <a:r>
              <a:rPr lang="en-GB" sz="1200" u="sng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  <a:hlinkClick r:id="rId4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Chrome extension</a:t>
            </a:r>
            <a:endParaRPr sz="12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227" name="Google Shape;227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22347" y="4643089"/>
            <a:ext cx="222347" cy="222347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30" descr="logo-id">
            <a:hlinkClick r:id="rId6"/>
          </p:cNvPr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921094" y="4476329"/>
            <a:ext cx="1111733" cy="55586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30" descr="poll-type-id">
            <a:hlinkClick r:id="rId8"/>
          </p:cNvPr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33520" y="1307027"/>
            <a:ext cx="1778772" cy="17787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Security in Cloud Operating Systems</a:t>
            </a:r>
            <a:endParaRPr/>
          </a:p>
        </p:txBody>
      </p:sp>
      <p:sp>
        <p:nvSpPr>
          <p:cNvPr id="235" name="Google Shape;235;p31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Data Encryption (at rest and in transit).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Identity &amp; Access Management (IAM).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Firewall &amp; Network Security Groups.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Monitoring &amp; Intrusion Detection.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Compliance with standards (GDPR, HIPAA, SOC).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2"/>
          <p:cNvSpPr/>
          <p:nvPr/>
        </p:nvSpPr>
        <p:spPr>
          <a:xfrm rot="5400000">
            <a:off x="7365228" y="0"/>
            <a:ext cx="1778700" cy="1778700"/>
          </a:xfrm>
          <a:prstGeom prst="diagStripe">
            <a:avLst>
              <a:gd name="adj" fmla="val 50000"/>
            </a:avLst>
          </a:prstGeom>
          <a:solidFill>
            <a:srgbClr val="EDFAF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41" name="Google Shape;241;p32"/>
          <p:cNvSpPr txBox="1"/>
          <p:nvPr/>
        </p:nvSpPr>
        <p:spPr>
          <a:xfrm rot="2700000">
            <a:off x="7215273" y="386217"/>
            <a:ext cx="2501461" cy="583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>
                <a:solidFill>
                  <a:srgbClr val="198038"/>
                </a:solidFill>
                <a:latin typeface="Inter"/>
                <a:ea typeface="Inter"/>
                <a:cs typeface="Inter"/>
                <a:sym typeface="Inter"/>
              </a:rPr>
              <a:t>Do not edit</a:t>
            </a:r>
            <a:endParaRPr sz="1200" b="1">
              <a:solidFill>
                <a:srgbClr val="198038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u="sng">
                <a:solidFill>
                  <a:srgbClr val="198038"/>
                </a:solidFill>
                <a:latin typeface="Inter"/>
                <a:ea typeface="Inter"/>
                <a:cs typeface="Inter"/>
                <a:sym typeface="Inter"/>
                <a:hlinkClick r:id="rId3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How to change the design</a:t>
            </a:r>
            <a:endParaRPr sz="1200">
              <a:solidFill>
                <a:srgbClr val="19803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2" name="Google Shape;242;p32" descr="title-id"/>
          <p:cNvSpPr txBox="1"/>
          <p:nvPr/>
        </p:nvSpPr>
        <p:spPr>
          <a:xfrm>
            <a:off x="2334638" y="1320628"/>
            <a:ext cx="6364800" cy="175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b="1">
                <a:solidFill>
                  <a:srgbClr val="5B5B5B"/>
                </a:solidFill>
                <a:latin typeface="Inter"/>
                <a:ea typeface="Inter"/>
                <a:cs typeface="Inter"/>
                <a:sym typeface="Inter"/>
              </a:rPr>
              <a:t>What is a critical security feature in Cloud OS?</a:t>
            </a:r>
            <a:endParaRPr sz="3600" b="1">
              <a:solidFill>
                <a:srgbClr val="5B5B5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3" name="Google Shape;243;p32"/>
          <p:cNvSpPr/>
          <p:nvPr/>
        </p:nvSpPr>
        <p:spPr>
          <a:xfrm>
            <a:off x="0" y="4365024"/>
            <a:ext cx="9144000" cy="778500"/>
          </a:xfrm>
          <a:prstGeom prst="rect">
            <a:avLst/>
          </a:prstGeom>
          <a:solidFill>
            <a:srgbClr val="1980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44" name="Google Shape;244;p32"/>
          <p:cNvSpPr txBox="1"/>
          <p:nvPr/>
        </p:nvSpPr>
        <p:spPr>
          <a:xfrm>
            <a:off x="555866" y="4365024"/>
            <a:ext cx="6948300" cy="77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Presenting with animations, GIFs or speaker notes? Enable our </a:t>
            </a:r>
            <a:r>
              <a:rPr lang="en-GB" sz="1200" u="sng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  <a:hlinkClick r:id="rId4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Chrome extension</a:t>
            </a:r>
            <a:endParaRPr sz="12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245" name="Google Shape;245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22347" y="4643089"/>
            <a:ext cx="222347" cy="222347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32" descr="logo-id">
            <a:hlinkClick r:id="rId6"/>
          </p:cNvPr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921094" y="4476329"/>
            <a:ext cx="1111733" cy="55586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p32" descr="poll-type-id">
            <a:hlinkClick r:id="rId8"/>
          </p:cNvPr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33520" y="1307027"/>
            <a:ext cx="1778772" cy="17787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3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Future Trends in Cloud Operating Systems</a:t>
            </a:r>
            <a:endParaRPr/>
          </a:p>
        </p:txBody>
      </p:sp>
      <p:sp>
        <p:nvSpPr>
          <p:cNvPr id="253" name="Google Shape;253;p33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AI-driven management (predictive scaling and self-healing).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Serverless integration (managing functions instead of VMs).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Hybrid cloud support (seamless on-prem and cloud operations).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Increased security automation.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More compliance-ready templates.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34"/>
          <p:cNvSpPr/>
          <p:nvPr/>
        </p:nvSpPr>
        <p:spPr>
          <a:xfrm rot="5400000">
            <a:off x="7365228" y="0"/>
            <a:ext cx="1778700" cy="1778700"/>
          </a:xfrm>
          <a:prstGeom prst="diagStripe">
            <a:avLst>
              <a:gd name="adj" fmla="val 50000"/>
            </a:avLst>
          </a:prstGeom>
          <a:solidFill>
            <a:srgbClr val="EDFAF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59" name="Google Shape;259;p34"/>
          <p:cNvSpPr txBox="1"/>
          <p:nvPr/>
        </p:nvSpPr>
        <p:spPr>
          <a:xfrm rot="2700000">
            <a:off x="7215273" y="386217"/>
            <a:ext cx="2501461" cy="583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>
                <a:solidFill>
                  <a:srgbClr val="198038"/>
                </a:solidFill>
                <a:latin typeface="Inter"/>
                <a:ea typeface="Inter"/>
                <a:cs typeface="Inter"/>
                <a:sym typeface="Inter"/>
              </a:rPr>
              <a:t>Do not edit</a:t>
            </a:r>
            <a:endParaRPr sz="1200" b="1">
              <a:solidFill>
                <a:srgbClr val="198038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u="sng">
                <a:solidFill>
                  <a:srgbClr val="198038"/>
                </a:solidFill>
                <a:latin typeface="Inter"/>
                <a:ea typeface="Inter"/>
                <a:cs typeface="Inter"/>
                <a:sym typeface="Inter"/>
                <a:hlinkClick r:id="rId3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How to change the design</a:t>
            </a:r>
            <a:endParaRPr sz="1200">
              <a:solidFill>
                <a:srgbClr val="19803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60" name="Google Shape;260;p34" descr="title-id"/>
          <p:cNvSpPr txBox="1"/>
          <p:nvPr/>
        </p:nvSpPr>
        <p:spPr>
          <a:xfrm>
            <a:off x="2334638" y="1320628"/>
            <a:ext cx="6364800" cy="175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b="1">
                <a:solidFill>
                  <a:srgbClr val="5B5B5B"/>
                </a:solidFill>
                <a:latin typeface="Inter"/>
                <a:ea typeface="Inter"/>
                <a:cs typeface="Inter"/>
                <a:sym typeface="Inter"/>
              </a:rPr>
              <a:t>Which future trend will improve Cloud OS automation?</a:t>
            </a:r>
            <a:endParaRPr sz="3600" b="1">
              <a:solidFill>
                <a:srgbClr val="5B5B5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61" name="Google Shape;261;p34"/>
          <p:cNvSpPr/>
          <p:nvPr/>
        </p:nvSpPr>
        <p:spPr>
          <a:xfrm>
            <a:off x="0" y="4365024"/>
            <a:ext cx="9144000" cy="778500"/>
          </a:xfrm>
          <a:prstGeom prst="rect">
            <a:avLst/>
          </a:prstGeom>
          <a:solidFill>
            <a:srgbClr val="1980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62" name="Google Shape;262;p34"/>
          <p:cNvSpPr txBox="1"/>
          <p:nvPr/>
        </p:nvSpPr>
        <p:spPr>
          <a:xfrm>
            <a:off x="555866" y="4365024"/>
            <a:ext cx="6948300" cy="77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Presenting with animations, GIFs or speaker notes? Enable our </a:t>
            </a:r>
            <a:r>
              <a:rPr lang="en-GB" sz="1200" u="sng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  <a:hlinkClick r:id="rId4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Chrome extension</a:t>
            </a:r>
            <a:endParaRPr sz="12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263" name="Google Shape;263;p3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22347" y="4643089"/>
            <a:ext cx="222347" cy="222347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34" descr="logo-id">
            <a:hlinkClick r:id="rId6"/>
          </p:cNvPr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921094" y="4476329"/>
            <a:ext cx="1111733" cy="555866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p34" descr="poll-type-id">
            <a:hlinkClick r:id="rId8"/>
          </p:cNvPr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33520" y="1307027"/>
            <a:ext cx="1778772" cy="17787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What is Compliance in Cloud OS?</a:t>
            </a:r>
            <a:endParaRPr/>
          </a:p>
        </p:txBody>
      </p:sp>
      <p:sp>
        <p:nvSpPr>
          <p:cNvPr id="271" name="Google Shape;271;p35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Compliance refers to adhering to</a:t>
            </a:r>
            <a:r>
              <a:rPr lang="en-GB" i="1"/>
              <a:t> </a:t>
            </a:r>
            <a:r>
              <a:rPr lang="en-GB" b="1" i="1"/>
              <a:t>laws, regulations, and standards</a:t>
            </a:r>
            <a:r>
              <a:rPr lang="en-GB" b="1"/>
              <a:t> to protect data, privacy, and system integrity</a:t>
            </a:r>
            <a:r>
              <a:rPr lang="en-GB"/>
              <a:t> in cloud environments.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Cloud Operating Systems (Cloud OS) must provide features and configurations to help organizations meet these requirements.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36"/>
          <p:cNvSpPr txBox="1">
            <a:spLocks noGrp="1"/>
          </p:cNvSpPr>
          <p:nvPr>
            <p:ph type="title"/>
          </p:nvPr>
        </p:nvSpPr>
        <p:spPr>
          <a:xfrm>
            <a:off x="229250" y="657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Key Standards Explained</a:t>
            </a:r>
            <a:endParaRPr/>
          </a:p>
        </p:txBody>
      </p:sp>
      <p:sp>
        <p:nvSpPr>
          <p:cNvPr id="277" name="Google Shape;277;p36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278" name="Google Shape;278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8950" y="773125"/>
            <a:ext cx="8921375" cy="4106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37"/>
          <p:cNvSpPr/>
          <p:nvPr/>
        </p:nvSpPr>
        <p:spPr>
          <a:xfrm rot="5400000">
            <a:off x="7365228" y="0"/>
            <a:ext cx="1778700" cy="1778700"/>
          </a:xfrm>
          <a:prstGeom prst="diagStripe">
            <a:avLst>
              <a:gd name="adj" fmla="val 50000"/>
            </a:avLst>
          </a:prstGeom>
          <a:solidFill>
            <a:srgbClr val="EDFAF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84" name="Google Shape;284;p37"/>
          <p:cNvSpPr txBox="1"/>
          <p:nvPr/>
        </p:nvSpPr>
        <p:spPr>
          <a:xfrm rot="2700000">
            <a:off x="7215273" y="386217"/>
            <a:ext cx="2501461" cy="583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>
                <a:solidFill>
                  <a:srgbClr val="198038"/>
                </a:solidFill>
                <a:latin typeface="Inter"/>
                <a:ea typeface="Inter"/>
                <a:cs typeface="Inter"/>
                <a:sym typeface="Inter"/>
              </a:rPr>
              <a:t>Do not edit</a:t>
            </a:r>
            <a:endParaRPr sz="1200" b="1">
              <a:solidFill>
                <a:srgbClr val="198038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u="sng">
                <a:solidFill>
                  <a:srgbClr val="198038"/>
                </a:solidFill>
                <a:latin typeface="Inter"/>
                <a:ea typeface="Inter"/>
                <a:cs typeface="Inter"/>
                <a:sym typeface="Inter"/>
                <a:hlinkClick r:id="rId3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How to change the design</a:t>
            </a:r>
            <a:endParaRPr sz="1200">
              <a:solidFill>
                <a:srgbClr val="19803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5" name="Google Shape;285;p37" descr="title-id"/>
          <p:cNvSpPr txBox="1"/>
          <p:nvPr/>
        </p:nvSpPr>
        <p:spPr>
          <a:xfrm>
            <a:off x="2334638" y="1320628"/>
            <a:ext cx="6364800" cy="175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 b="1">
                <a:solidFill>
                  <a:srgbClr val="5B5B5B"/>
                </a:solidFill>
                <a:latin typeface="Inter"/>
                <a:ea typeface="Inter"/>
                <a:cs typeface="Inter"/>
                <a:sym typeface="Inter"/>
              </a:rPr>
              <a:t>Which of the following standards focuses specifically on protecting healthcare data?</a:t>
            </a:r>
            <a:endParaRPr sz="3000" b="1">
              <a:solidFill>
                <a:srgbClr val="5B5B5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6" name="Google Shape;286;p37"/>
          <p:cNvSpPr/>
          <p:nvPr/>
        </p:nvSpPr>
        <p:spPr>
          <a:xfrm>
            <a:off x="0" y="4365024"/>
            <a:ext cx="9144000" cy="778500"/>
          </a:xfrm>
          <a:prstGeom prst="rect">
            <a:avLst/>
          </a:prstGeom>
          <a:solidFill>
            <a:srgbClr val="1980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87" name="Google Shape;287;p37"/>
          <p:cNvSpPr txBox="1"/>
          <p:nvPr/>
        </p:nvSpPr>
        <p:spPr>
          <a:xfrm>
            <a:off x="555866" y="4365024"/>
            <a:ext cx="6948300" cy="77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Presenting with animations, GIFs or speaker notes? Enable our </a:t>
            </a:r>
            <a:r>
              <a:rPr lang="en-GB" sz="1200" u="sng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  <a:hlinkClick r:id="rId4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Chrome extension</a:t>
            </a:r>
            <a:endParaRPr sz="12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288" name="Google Shape;288;p3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22347" y="4643089"/>
            <a:ext cx="222347" cy="222347"/>
          </a:xfrm>
          <a:prstGeom prst="rect">
            <a:avLst/>
          </a:prstGeom>
          <a:noFill/>
          <a:ln>
            <a:noFill/>
          </a:ln>
        </p:spPr>
      </p:pic>
      <p:pic>
        <p:nvPicPr>
          <p:cNvPr id="289" name="Google Shape;289;p37" descr="logo-id">
            <a:hlinkClick r:id="rId6"/>
          </p:cNvPr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921094" y="4476329"/>
            <a:ext cx="1111733" cy="555866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37" descr="poll-type-id">
            <a:hlinkClick r:id="rId8"/>
          </p:cNvPr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33520" y="1307027"/>
            <a:ext cx="1778772" cy="17787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0AB426-5B7C-607E-D413-5D2C9495CC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9211" y="1481328"/>
            <a:ext cx="3183323" cy="1967843"/>
          </a:xfrm>
        </p:spPr>
        <p:txBody>
          <a:bodyPr/>
          <a:lstStyle/>
          <a:p>
            <a:r>
              <a:rPr lang="en-US" dirty="0"/>
              <a:t>THANK YOU</a:t>
            </a:r>
            <a:br>
              <a:rPr lang="en-US" dirty="0"/>
            </a:b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8F65BD1-32AA-3181-1C5C-53DBDE46CBB2}"/>
              </a:ext>
            </a:extLst>
          </p:cNvPr>
          <p:cNvSpPr/>
          <p:nvPr/>
        </p:nvSpPr>
        <p:spPr>
          <a:xfrm>
            <a:off x="336177" y="2823883"/>
            <a:ext cx="4141694" cy="1062317"/>
          </a:xfrm>
          <a:prstGeom prst="rect">
            <a:avLst/>
          </a:prstGeom>
          <a:solidFill>
            <a:srgbClr val="FDFAF6"/>
          </a:solidFill>
          <a:ln>
            <a:solidFill>
              <a:srgbClr val="FDFAF6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100" dirty="0" err="1">
                <a:solidFill>
                  <a:schemeClr val="accent6">
                    <a:lumMod val="50000"/>
                  </a:schemeClr>
                </a:solidFill>
              </a:rPr>
              <a:t>Amel</a:t>
            </a:r>
            <a:r>
              <a:rPr lang="en-IN" sz="2100" dirty="0">
                <a:solidFill>
                  <a:schemeClr val="accent6">
                    <a:lumMod val="50000"/>
                  </a:schemeClr>
                </a:solidFill>
              </a:rPr>
              <a:t> Online &amp; Irene </a:t>
            </a:r>
            <a:r>
              <a:rPr lang="en-IN" sz="2100" dirty="0" err="1">
                <a:solidFill>
                  <a:schemeClr val="accent6">
                    <a:lumMod val="50000"/>
                  </a:schemeClr>
                </a:solidFill>
              </a:rPr>
              <a:t>magdalena</a:t>
            </a:r>
            <a:endParaRPr lang="en-IN" sz="21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881EA26-4B72-7D8B-E260-D37DFC59B38C}"/>
              </a:ext>
            </a:extLst>
          </p:cNvPr>
          <p:cNvSpPr/>
          <p:nvPr/>
        </p:nvSpPr>
        <p:spPr>
          <a:xfrm>
            <a:off x="7631206" y="1"/>
            <a:ext cx="1512794" cy="141194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50" dirty="0" err="1" smtClean="0">
                <a:solidFill>
                  <a:schemeClr val="bg1"/>
                </a:solidFill>
              </a:rPr>
              <a:t>Amel</a:t>
            </a:r>
            <a:r>
              <a:rPr lang="en-US" sz="1050" dirty="0" smtClean="0">
                <a:solidFill>
                  <a:schemeClr val="bg1"/>
                </a:solidFill>
              </a:rPr>
              <a:t> </a:t>
            </a:r>
            <a:r>
              <a:rPr lang="en-US" sz="1050" dirty="0" err="1" smtClean="0">
                <a:solidFill>
                  <a:schemeClr val="bg1"/>
                </a:solidFill>
              </a:rPr>
              <a:t>charoline</a:t>
            </a:r>
            <a:endParaRPr lang="en-US" sz="1050" dirty="0"/>
          </a:p>
        </p:txBody>
      </p:sp>
      <p:sp>
        <p:nvSpPr>
          <p:cNvPr id="5" name="Rectangle 4"/>
          <p:cNvSpPr/>
          <p:nvPr/>
        </p:nvSpPr>
        <p:spPr>
          <a:xfrm>
            <a:off x="6931268" y="4287340"/>
            <a:ext cx="2063814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600" dirty="0"/>
              <a:t>https://www.youtube.com/@AmelOline/videos</a:t>
            </a:r>
          </a:p>
        </p:txBody>
      </p:sp>
      <p:sp>
        <p:nvSpPr>
          <p:cNvPr id="6" name="Rectangle 5"/>
          <p:cNvSpPr/>
          <p:nvPr/>
        </p:nvSpPr>
        <p:spPr>
          <a:xfrm>
            <a:off x="7585564" y="4188538"/>
            <a:ext cx="1394132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600" dirty="0"/>
              <a:t>https://github.com/siagianp</a:t>
            </a:r>
          </a:p>
        </p:txBody>
      </p:sp>
      <p:sp>
        <p:nvSpPr>
          <p:cNvPr id="8" name="Rectangle 7"/>
          <p:cNvSpPr/>
          <p:nvPr/>
        </p:nvSpPr>
        <p:spPr>
          <a:xfrm>
            <a:off x="6788313" y="4400890"/>
            <a:ext cx="2207657" cy="1846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sz="600" dirty="0"/>
              <a:t>https://github.com/amelcharolinesgn2/Cloud-Infrastructures</a:t>
            </a:r>
          </a:p>
        </p:txBody>
      </p:sp>
      <p:sp>
        <p:nvSpPr>
          <p:cNvPr id="9" name="Rectangle 8"/>
          <p:cNvSpPr/>
          <p:nvPr/>
        </p:nvSpPr>
        <p:spPr>
          <a:xfrm>
            <a:off x="6363518" y="4502428"/>
            <a:ext cx="2632452" cy="1846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sz="600" dirty="0"/>
              <a:t>https://github.com/amelcharolinesgn2/ClouD-Infrastructure-SISKA-2025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31268" y="4583219"/>
            <a:ext cx="2063814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600" dirty="0"/>
              <a:t>https://</a:t>
            </a:r>
            <a:r>
              <a:rPr lang="en-US" sz="600" dirty="0"/>
              <a:t>github.com/amelcharolinesgn2/CCNA1</a:t>
            </a:r>
            <a:endParaRPr lang="en-US" sz="600" dirty="0"/>
          </a:p>
        </p:txBody>
      </p:sp>
      <p:sp>
        <p:nvSpPr>
          <p:cNvPr id="11" name="Rectangle 10"/>
          <p:cNvSpPr/>
          <p:nvPr/>
        </p:nvSpPr>
        <p:spPr>
          <a:xfrm>
            <a:off x="6931268" y="4681038"/>
            <a:ext cx="2063814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600" dirty="0"/>
              <a:t>https://</a:t>
            </a:r>
            <a:r>
              <a:rPr lang="en-US" sz="600" dirty="0"/>
              <a:t>github.com/amelcharolinesgn2/CCNA2</a:t>
            </a:r>
            <a:endParaRPr lang="en-US" sz="600" dirty="0"/>
          </a:p>
        </p:txBody>
      </p:sp>
      <p:sp>
        <p:nvSpPr>
          <p:cNvPr id="12" name="Rectangle 11"/>
          <p:cNvSpPr/>
          <p:nvPr/>
        </p:nvSpPr>
        <p:spPr>
          <a:xfrm>
            <a:off x="6931268" y="4754935"/>
            <a:ext cx="2063814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600" dirty="0">
                <a:hlinkClick r:id="rId2"/>
              </a:rPr>
              <a:t>https://</a:t>
            </a:r>
            <a:r>
              <a:rPr lang="en-US" sz="600" dirty="0">
                <a:hlinkClick r:id="rId2"/>
              </a:rPr>
              <a:t>github.com/amelcharolinesgn2/AWS</a:t>
            </a:r>
            <a:r>
              <a:rPr lang="en-US" sz="600" dirty="0"/>
              <a:t> Certificate</a:t>
            </a:r>
            <a:endParaRPr lang="en-US" sz="600" dirty="0"/>
          </a:p>
        </p:txBody>
      </p:sp>
    </p:spTree>
    <p:extLst>
      <p:ext uri="{BB962C8B-B14F-4D97-AF65-F5344CB8AC3E}">
        <p14:creationId xmlns:p14="http://schemas.microsoft.com/office/powerpoint/2010/main" val="11266941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ropic">
  <a:themeElements>
    <a:clrScheme name="Tropic">
      <a:dk1>
        <a:srgbClr val="A1E8D9"/>
      </a:dk1>
      <a:lt1>
        <a:srgbClr val="FFFFFF"/>
      </a:lt1>
      <a:dk2>
        <a:srgbClr val="695D46"/>
      </a:dk2>
      <a:lt2>
        <a:srgbClr val="B3A77D"/>
      </a:lt2>
      <a:accent1>
        <a:srgbClr val="EF6C00"/>
      </a:accent1>
      <a:accent2>
        <a:srgbClr val="CE93D8"/>
      </a:accent2>
      <a:accent3>
        <a:srgbClr val="4DB6AC"/>
      </a:accent3>
      <a:accent4>
        <a:srgbClr val="FF9800"/>
      </a:accent4>
      <a:accent5>
        <a:srgbClr val="009668"/>
      </a:accent5>
      <a:accent6>
        <a:srgbClr val="EEFF41"/>
      </a:accent6>
      <a:hlink>
        <a:srgbClr val="009668"/>
      </a:hlink>
      <a:folHlink>
        <a:srgbClr val="00966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1081</Words>
  <Application>Microsoft Office PowerPoint</Application>
  <PresentationFormat>On-screen Show (16:9)</PresentationFormat>
  <Paragraphs>148</Paragraphs>
  <Slides>27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3" baseType="lpstr">
      <vt:lpstr>Open Sans</vt:lpstr>
      <vt:lpstr>맑은 고딕</vt:lpstr>
      <vt:lpstr>PT Sans Narrow</vt:lpstr>
      <vt:lpstr>Inter</vt:lpstr>
      <vt:lpstr>Arial</vt:lpstr>
      <vt:lpstr>Tropic</vt:lpstr>
      <vt:lpstr>PowerPoint Presentation</vt:lpstr>
      <vt:lpstr>PowerPoint Presentation</vt:lpstr>
      <vt:lpstr>PowerPoint Presentation</vt:lpstr>
      <vt:lpstr>PowerPoint Presentation</vt:lpstr>
      <vt:lpstr>Cloud Operating Systems and Servers</vt:lpstr>
      <vt:lpstr>Introduction to Cloud Operating Systems</vt:lpstr>
      <vt:lpstr>PowerPoint Presentation</vt:lpstr>
      <vt:lpstr>Role of Cloud Operating System</vt:lpstr>
      <vt:lpstr>PowerPoint Presentation</vt:lpstr>
      <vt:lpstr>Types of Cloud Operating Systems</vt:lpstr>
      <vt:lpstr>PowerPoint Presentation</vt:lpstr>
      <vt:lpstr>Cloud Servers - Introduction</vt:lpstr>
      <vt:lpstr>PowerPoint Presentation</vt:lpstr>
      <vt:lpstr>Types of Cloud Servers</vt:lpstr>
      <vt:lpstr>PowerPoint Presentation</vt:lpstr>
      <vt:lpstr>Key Features of Cloud Operating System</vt:lpstr>
      <vt:lpstr>PowerPoint Presentation</vt:lpstr>
      <vt:lpstr>Cloud Operating System vs Traditional Operating System</vt:lpstr>
      <vt:lpstr>PowerPoint Presentation</vt:lpstr>
      <vt:lpstr>Security in Cloud Operating Systems</vt:lpstr>
      <vt:lpstr>PowerPoint Presentation</vt:lpstr>
      <vt:lpstr>Future Trends in Cloud Operating Systems</vt:lpstr>
      <vt:lpstr>PowerPoint Presentation</vt:lpstr>
      <vt:lpstr>What is Compliance in Cloud OS?</vt:lpstr>
      <vt:lpstr>Key Standards Explained</vt:lpstr>
      <vt:lpstr>PowerPoint Presentation</vt:lpstr>
      <vt:lpstr>THANK YOU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PDS</cp:lastModifiedBy>
  <cp:revision>2</cp:revision>
  <dcterms:modified xsi:type="dcterms:W3CDTF">2026-10-05T01:36:18Z</dcterms:modified>
</cp:coreProperties>
</file>