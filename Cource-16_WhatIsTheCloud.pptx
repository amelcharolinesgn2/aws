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5" r:id="rId58"/>
    <p:sldId id="316" r:id="rId59"/>
    <p:sldId id="317" r:id="rId60"/>
    <p:sldId id="318" r:id="rId6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ctr" defTabSz="914400" rtl="0" fontAlgn="auto" latinLnBrk="0" hangingPunct="0">
      <a:lnSpc>
        <a:spcPct val="100000"/>
      </a:lnSpc>
      <a:spcBef>
        <a:spcPts val="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7"/>
    <p:restoredTop sz="94679"/>
  </p:normalViewPr>
  <p:slideViewPr>
    <p:cSldViewPr snapToGrid="0" snapToObjects="1">
      <p:cViewPr varScale="1">
        <p:scale>
          <a:sx n="109" d="100"/>
          <a:sy n="109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9" name="Shape 1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 0"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2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>
            <a:spLocks noGrp="1"/>
          </p:cNvSpPr>
          <p:nvPr>
            <p:ph type="title"/>
          </p:nvPr>
        </p:nvSpPr>
        <p:spPr>
          <a:xfrm>
            <a:off x="1572685" y="1990725"/>
            <a:ext cx="10390717" cy="990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18216" y="3944937"/>
            <a:ext cx="8534401" cy="175260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</a:lvl1pPr>
            <a:lvl2pPr algn="ctr">
              <a:buFontTx/>
            </a:lvl2pPr>
            <a:lvl3pPr algn="ctr">
              <a:buFontTx/>
            </a:lvl3pPr>
            <a:lvl4pPr algn="ctr">
              <a:buFontTx/>
            </a:lvl4pPr>
            <a:lvl5pPr algn="ctr"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2" name="Rectangle 11"/>
          <p:cNvSpPr/>
          <p:nvPr/>
        </p:nvSpPr>
        <p:spPr>
          <a:xfrm>
            <a:off x="268816" y="3011489"/>
            <a:ext cx="11590869" cy="55562"/>
          </a:xfrm>
          <a:prstGeom prst="rect">
            <a:avLst/>
          </a:prstGeom>
          <a:gradFill>
            <a:gsLst>
              <a:gs pos="0">
                <a:srgbClr val="E7E6E6"/>
              </a:gs>
              <a:gs pos="100000">
                <a:srgbClr val="FFFFFF"/>
              </a:gs>
            </a:gsLst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spcBef>
                <a:spcPts val="200"/>
              </a:spcBef>
              <a:defRPr sz="1200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1pPr>
      <a:lvl2pPr marL="0" marR="0" indent="4572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2pPr>
      <a:lvl3pPr marL="0" marR="0" indent="9144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3pPr>
      <a:lvl4pPr marL="0" marR="0" indent="13716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4pPr>
      <a:lvl5pPr marL="0" marR="0" indent="18288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5pPr>
      <a:lvl6pPr marL="0" marR="0" indent="22860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6pPr>
      <a:lvl7pPr marL="0" marR="0" indent="27432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7pPr>
      <a:lvl8pPr marL="0" marR="0" indent="32004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8pPr>
      <a:lvl9pPr marL="0" marR="0" indent="3657600" algn="r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motherboard.vice.com/read/bitcoin-could-consume-as-much-electricity-as-denmark-by-2020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gi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5.png"/><Relationship Id="rId7" Type="http://schemas.openxmlformats.org/officeDocument/2006/relationships/image" Target="../media/image56.g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gif"/><Relationship Id="rId3" Type="http://schemas.openxmlformats.org/officeDocument/2006/relationships/image" Target="../media/image38.png"/><Relationship Id="rId7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9.png"/><Relationship Id="rId4" Type="http://schemas.openxmlformats.org/officeDocument/2006/relationships/image" Target="../media/image45.png"/><Relationship Id="rId9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e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8.png"/><Relationship Id="rId7" Type="http://schemas.openxmlformats.org/officeDocument/2006/relationships/image" Target="../media/image47.png"/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7.png"/><Relationship Id="rId4" Type="http://schemas.openxmlformats.org/officeDocument/2006/relationships/image" Target="../media/image38.png"/><Relationship Id="rId9" Type="http://schemas.openxmlformats.org/officeDocument/2006/relationships/image" Target="../media/image56.gi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8.png"/><Relationship Id="rId7" Type="http://schemas.openxmlformats.org/officeDocument/2006/relationships/image" Target="../media/image4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7.png"/><Relationship Id="rId4" Type="http://schemas.openxmlformats.org/officeDocument/2006/relationships/image" Target="../media/image38.png"/><Relationship Id="rId9" Type="http://schemas.openxmlformats.org/officeDocument/2006/relationships/image" Target="../media/image56.gi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gif"/><Relationship Id="rId3" Type="http://schemas.openxmlformats.org/officeDocument/2006/relationships/image" Target="../media/image38.png"/><Relationship Id="rId7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62.png"/><Relationship Id="rId4" Type="http://schemas.openxmlformats.org/officeDocument/2006/relationships/image" Target="../media/image45.png"/><Relationship Id="rId9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intersecting circlesGroup 9"/>
          <p:cNvGrpSpPr/>
          <p:nvPr/>
        </p:nvGrpSpPr>
        <p:grpSpPr>
          <a:xfrm>
            <a:off x="1155480" y="498347"/>
            <a:ext cx="9902665" cy="5861305"/>
            <a:chOff x="0" y="0"/>
            <a:chExt cx="9902663" cy="5861304"/>
          </a:xfrm>
        </p:grpSpPr>
        <p:sp>
          <p:nvSpPr>
            <p:cNvPr id="137" name="Oval 5"/>
            <p:cNvSpPr/>
            <p:nvPr/>
          </p:nvSpPr>
          <p:spPr>
            <a:xfrm>
              <a:off x="-1" y="-1"/>
              <a:ext cx="5861305" cy="5861305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38" name="Oval 11"/>
            <p:cNvSpPr/>
            <p:nvPr/>
          </p:nvSpPr>
          <p:spPr>
            <a:xfrm>
              <a:off x="4041358" y="-1"/>
              <a:ext cx="5861306" cy="5861305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39" name="Oval 5"/>
            <p:cNvSpPr/>
            <p:nvPr/>
          </p:nvSpPr>
          <p:spPr>
            <a:xfrm>
              <a:off x="2009866" y="-1"/>
              <a:ext cx="5861305" cy="586130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141" name="ribbonRectangle 14"/>
          <p:cNvSpPr/>
          <p:nvPr/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142" name="Title 1"/>
          <p:cNvSpPr txBox="1">
            <a:spLocks noGrp="1"/>
          </p:cNvSpPr>
          <p:nvPr>
            <p:ph type="title"/>
          </p:nvPr>
        </p:nvSpPr>
        <p:spPr>
          <a:xfrm>
            <a:off x="1524000" y="2776538"/>
            <a:ext cx="9144000" cy="1381189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44546A"/>
                </a:solidFill>
              </a:defRPr>
            </a:lvl1pPr>
          </a:lstStyle>
          <a:p>
            <a:r>
              <a:t>What is Cloud Computing?</a:t>
            </a:r>
          </a:p>
        </p:txBody>
      </p:sp>
      <p:sp>
        <p:nvSpPr>
          <p:cNvPr id="143" name="Subtitle 2"/>
          <p:cNvSpPr txBox="1">
            <a:spLocks noGrp="1"/>
          </p:cNvSpPr>
          <p:nvPr>
            <p:ph type="body" sz="quarter" idx="1"/>
          </p:nvPr>
        </p:nvSpPr>
        <p:spPr>
          <a:xfrm>
            <a:off x="1524000" y="4495800"/>
            <a:ext cx="9144000" cy="7620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@</a:t>
            </a:r>
            <a:r>
              <a:rPr lang="en-US" dirty="0" err="1"/>
              <a:t>Amel</a:t>
            </a:r>
            <a:r>
              <a:rPr lang="en-US" dirty="0"/>
              <a:t> </a:t>
            </a:r>
            <a:r>
              <a:rPr lang="en-US" dirty="0" err="1"/>
              <a:t>Charoline</a:t>
            </a:r>
            <a:endParaRPr lang="en-US" dirty="0"/>
          </a:p>
        </p:txBody>
      </p:sp>
      <p:sp>
        <p:nvSpPr>
          <p:cNvPr id="144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t>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 to Cloud Computing: Agenda</a:t>
            </a:r>
            <a:endParaRPr dirty="0"/>
          </a:p>
        </p:txBody>
      </p:sp>
      <p:sp>
        <p:nvSpPr>
          <p:cNvPr id="14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658938"/>
            <a:ext cx="9534525" cy="4532313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>
                <a:solidFill>
                  <a:srgbClr val="FF9900"/>
                </a:solidFill>
              </a:defRPr>
            </a:pPr>
            <a:r>
              <a:rPr dirty="0">
                <a:solidFill>
                  <a:srgbClr val="FFC000"/>
                </a:solidFill>
              </a:rPr>
              <a:t>Computing at scale</a:t>
            </a:r>
          </a:p>
          <a:p>
            <a:pPr marL="678941" lvl="1" indent="-226313" defTabSz="905255">
              <a:spcBef>
                <a:spcPts val="400"/>
              </a:spcBef>
              <a:defRPr sz="2376">
                <a:solidFill>
                  <a:srgbClr val="FF9900"/>
                </a:solidFill>
              </a:defRPr>
            </a:pPr>
            <a:r>
              <a:rPr dirty="0">
                <a:solidFill>
                  <a:srgbClr val="FFC000"/>
                </a:solidFill>
              </a:rPr>
              <a:t>The need for scalability; scale of current services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Scaling up: From PCs to data centers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Problems with 'classical' scaling techniques </a:t>
            </a:r>
            <a:br>
              <a:rPr dirty="0"/>
            </a:br>
            <a:endParaRPr dirty="0"/>
          </a:p>
          <a:p>
            <a:pPr marL="226313" indent="-226313" defTabSz="905255">
              <a:spcBef>
                <a:spcPts val="900"/>
              </a:spcBef>
              <a:defRPr sz="2772"/>
            </a:pPr>
            <a:r>
              <a:rPr dirty="0"/>
              <a:t>Utility computing and cloud computing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What are utility computing and cloud computing?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What kinds of clouds exist today?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What kinds of applications run on the cloud?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Virtualization: How clouds work 'under the hood'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Some cloud computing challenges</a:t>
            </a:r>
          </a:p>
        </p:txBody>
      </p:sp>
      <p:sp>
        <p:nvSpPr>
          <p:cNvPr id="14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How many users and objects?</a:t>
            </a:r>
          </a:p>
        </p:txBody>
      </p:sp>
      <p:sp>
        <p:nvSpPr>
          <p:cNvPr id="15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dirty="0"/>
              <a:t>Flickr has 10 billion photos</a:t>
            </a:r>
          </a:p>
          <a:p>
            <a:r>
              <a:rPr dirty="0"/>
              <a:t>Facebook has 1.4 billion daily active users</a:t>
            </a:r>
          </a:p>
          <a:p>
            <a:r>
              <a:rPr dirty="0"/>
              <a:t>Google is serving 3.5 billion queries/day on over 130 trillion pages</a:t>
            </a:r>
          </a:p>
          <a:p>
            <a:r>
              <a:rPr dirty="0"/>
              <a:t>5 billion videos/day watched on YouTube</a:t>
            </a:r>
          </a:p>
        </p:txBody>
      </p:sp>
      <p:sp>
        <p:nvSpPr>
          <p:cNvPr id="15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1" build="p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494316" cy="1325563"/>
          </a:xfrm>
          <a:prstGeom prst="rect">
            <a:avLst/>
          </a:prstGeom>
        </p:spPr>
        <p:txBody>
          <a:bodyPr/>
          <a:lstStyle/>
          <a:p>
            <a:r>
              <a:t>How much data?</a:t>
            </a:r>
          </a:p>
        </p:txBody>
      </p:sp>
      <p:sp>
        <p:nvSpPr>
          <p:cNvPr id="15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85180" y="1759974"/>
            <a:ext cx="9454767" cy="480219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rPr dirty="0"/>
              <a:t>Modern applications use massive data: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Rendering 'Avatar' movie required &gt;1 petabyte of storage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eBay has &gt;6.5 petabytes of user data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CERN's LHC will produce about 15 petabytes of data per year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In 2008, Google processed 20 petabytes per day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German Climate computing center dimensioned for 60 petabytes of climate data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Google now designing for 1 exabyte of storage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NSA Utah Data Center is said to have 5 zettabyte </a:t>
            </a:r>
          </a:p>
          <a:p>
            <a:pPr>
              <a:lnSpc>
                <a:spcPct val="81000"/>
              </a:lnSpc>
            </a:pPr>
            <a:r>
              <a:rPr dirty="0"/>
              <a:t>How much is a zettabyte?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1,000,000,000,000,000,000,000 bytes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A stack of 1TB hard disks that is 25,400 km high</a:t>
            </a:r>
          </a:p>
        </p:txBody>
      </p:sp>
      <p:sp>
        <p:nvSpPr>
          <p:cNvPr id="15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15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52073" y="5379849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37798" y="5008374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42548" y="4627374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47298" y="4227324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90173" y="3893949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99673" y="3484374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75463" y="3122423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61573" y="2741423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04448" y="2398523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37773" y="1969898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33023" y="1607949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icture 16" descr="Picture 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28248" y="1284099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94923" y="950724"/>
            <a:ext cx="806553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18723" y="569723"/>
            <a:ext cx="806553" cy="66675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 22"/>
          <p:cNvGrpSpPr/>
          <p:nvPr/>
        </p:nvGrpSpPr>
        <p:grpSpPr>
          <a:xfrm>
            <a:off x="11561203" y="497909"/>
            <a:ext cx="307341" cy="5495926"/>
            <a:chOff x="0" y="0"/>
            <a:chExt cx="307340" cy="5495925"/>
          </a:xfrm>
        </p:grpSpPr>
        <p:sp>
          <p:nvSpPr>
            <p:cNvPr id="171" name="Straight Arrow Connector 20"/>
            <p:cNvSpPr/>
            <p:nvPr/>
          </p:nvSpPr>
          <p:spPr>
            <a:xfrm flipV="1">
              <a:off x="31712" y="0"/>
              <a:ext cx="1589" cy="5495926"/>
            </a:xfrm>
            <a:prstGeom prst="line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2" name="TextBox 21"/>
            <p:cNvSpPr txBox="1"/>
            <p:nvPr/>
          </p:nvSpPr>
          <p:spPr>
            <a:xfrm rot="5400000">
              <a:off x="-314685" y="2493515"/>
              <a:ext cx="93671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spcBef>
                  <a:spcPts val="300"/>
                </a:spcBef>
                <a:defRPr sz="1400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25,400 km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3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"/>
                            </p:stCondLst>
                            <p:childTnLst>
                              <p:par>
                                <p:cTn id="38" presetID="1" presetClass="entr" presetSubtype="0" fill="hold" grpId="4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1" presetClass="entr" presetSubtype="0" fill="hold" grpId="5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"/>
                            </p:stCondLst>
                            <p:childTnLst>
                              <p:par>
                                <p:cTn id="44" presetID="1" presetClass="entr" presetSubtype="0" fill="hold" grpId="6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1" presetClass="entr" presetSubtype="0" fill="hold" grpId="7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" presetClass="entr" presetSubtype="0" fill="hold" grpId="8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00"/>
                            </p:stCondLst>
                            <p:childTnLst>
                              <p:par>
                                <p:cTn id="53" presetID="1" presetClass="entr" presetSubtype="0" fill="hold" grpId="9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100"/>
                            </p:stCondLst>
                            <p:childTnLst>
                              <p:par>
                                <p:cTn id="56" presetID="1" presetClass="entr" presetSubtype="0" fill="hold" grpId="1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400"/>
                            </p:stCondLst>
                            <p:childTnLst>
                              <p:par>
                                <p:cTn id="59" presetID="1" presetClass="entr" presetSubtype="0" fill="hold" grpId="11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700"/>
                            </p:stCondLst>
                            <p:childTnLst>
                              <p:par>
                                <p:cTn id="62" presetID="1" presetClass="entr" presetSubtype="0" fill="hold" grpId="12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" presetClass="entr" presetSubtype="0" fill="hold" grpId="13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300"/>
                            </p:stCondLst>
                            <p:childTnLst>
                              <p:par>
                                <p:cTn id="68" presetID="1" presetClass="entr" presetSubtype="0" fill="hold" grpId="14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600"/>
                            </p:stCondLst>
                            <p:childTnLst>
                              <p:par>
                                <p:cTn id="71" presetID="1" presetClass="entr" presetSubtype="0" fill="hold" grpId="15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900"/>
                            </p:stCondLst>
                            <p:childTnLst>
                              <p:par>
                                <p:cTn id="74" presetID="22" presetClass="entr" presetSubtype="1" fill="hold" grpId="16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1" build="p" animBg="1" advAuto="0"/>
      <p:bldP spid="157" grpId="2" animBg="1" advAuto="0"/>
      <p:bldP spid="158" grpId="3" animBg="1" advAuto="0"/>
      <p:bldP spid="159" grpId="4" animBg="1" advAuto="0"/>
      <p:bldP spid="160" grpId="5" animBg="1" advAuto="0"/>
      <p:bldP spid="161" grpId="6" animBg="1" advAuto="0"/>
      <p:bldP spid="162" grpId="7" animBg="1" advAuto="0"/>
      <p:bldP spid="163" grpId="8" animBg="1" advAuto="0"/>
      <p:bldP spid="164" grpId="9" animBg="1" advAuto="0"/>
      <p:bldP spid="165" grpId="10" animBg="1" advAuto="0"/>
      <p:bldP spid="166" grpId="11" animBg="1" advAuto="0"/>
      <p:bldP spid="167" grpId="12" animBg="1" advAuto="0"/>
      <p:bldP spid="168" grpId="13" animBg="1" advAuto="0"/>
      <p:bldP spid="169" grpId="14" animBg="1" advAuto="0"/>
      <p:bldP spid="170" grpId="15" animBg="1" advAuto="0"/>
      <p:bldP spid="173" grpId="16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How much computation?</a:t>
            </a:r>
          </a:p>
        </p:txBody>
      </p:sp>
      <p:sp>
        <p:nvSpPr>
          <p:cNvPr id="17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04031" y="1533525"/>
            <a:ext cx="9459170" cy="473392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rPr dirty="0"/>
              <a:t>No single computer can process that much data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Need many computers!</a:t>
            </a:r>
          </a:p>
          <a:p>
            <a:pPr>
              <a:lnSpc>
                <a:spcPct val="81000"/>
              </a:lnSpc>
            </a:pPr>
            <a:r>
              <a:rPr dirty="0"/>
              <a:t>How many computers do</a:t>
            </a:r>
            <a:r>
              <a:rPr lang="en-US" dirty="0"/>
              <a:t> </a:t>
            </a:r>
            <a:r>
              <a:rPr dirty="0"/>
              <a:t>modern services need?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Facebook is thought to have more than 60,000 servers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1&amp;1 Internet has over 70,000 servers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Akamai has 95,000 servers in 71 countries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Intel has ~100,000 servers in 97 data centers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Microsoft reportedly had at least 200,000 servers in 2008 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Google is thought to have more than 1 million servers, is planning for 10 million</a:t>
            </a:r>
          </a:p>
        </p:txBody>
      </p:sp>
      <p:sp>
        <p:nvSpPr>
          <p:cNvPr id="17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78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96107" y="418307"/>
            <a:ext cx="2905126" cy="18914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1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Why should I care?</a:t>
            </a:r>
          </a:p>
        </p:txBody>
      </p:sp>
      <p:sp>
        <p:nvSpPr>
          <p:cNvPr id="18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19658" y="1428751"/>
            <a:ext cx="10443816" cy="513397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200"/>
            </a:pPr>
            <a:r>
              <a:rPr dirty="0"/>
              <a:t>Suppose you want to build the next Google</a:t>
            </a:r>
            <a:endParaRPr sz="2500" dirty="0"/>
          </a:p>
          <a:p>
            <a:pPr>
              <a:lnSpc>
                <a:spcPct val="81000"/>
              </a:lnSpc>
              <a:defRPr sz="2200"/>
            </a:pPr>
            <a:r>
              <a:rPr dirty="0"/>
              <a:t>How do you...</a:t>
            </a:r>
            <a:endParaRPr sz="2500" dirty="0"/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... download and store billions of web pages and images?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... quickly find the pages that contain a given set of terms?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... find the pages that are most relevant to a given search?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... answer 1.2 billion queries of this type </a:t>
            </a:r>
            <a:r>
              <a:rPr u="sng" dirty="0"/>
              <a:t>every day</a:t>
            </a:r>
            <a:r>
              <a:rPr dirty="0"/>
              <a:t>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1600"/>
            </a:pPr>
            <a:endParaRPr dirty="0"/>
          </a:p>
          <a:p>
            <a:pPr>
              <a:lnSpc>
                <a:spcPct val="81000"/>
              </a:lnSpc>
              <a:defRPr sz="2200"/>
            </a:pPr>
            <a:r>
              <a:rPr dirty="0"/>
              <a:t>Suppose you want to build the next Facebook</a:t>
            </a:r>
            <a:endParaRPr sz="2500" dirty="0"/>
          </a:p>
          <a:p>
            <a:pPr>
              <a:lnSpc>
                <a:spcPct val="81000"/>
              </a:lnSpc>
              <a:defRPr sz="2200"/>
            </a:pPr>
            <a:r>
              <a:rPr dirty="0"/>
              <a:t>How do you...</a:t>
            </a:r>
            <a:endParaRPr sz="2500" dirty="0"/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... store the profiles of over 500 million users?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... avoid losing any of them?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... find out which users might want to be friends?</a:t>
            </a:r>
          </a:p>
          <a:p>
            <a:pPr marL="457200" lvl="1" indent="0">
              <a:lnSpc>
                <a:spcPct val="81000"/>
              </a:lnSpc>
              <a:spcBef>
                <a:spcPts val="500"/>
              </a:spcBef>
              <a:buNone/>
              <a:defRPr sz="2200"/>
            </a:pPr>
            <a:endParaRPr dirty="0"/>
          </a:p>
        </p:txBody>
      </p:sp>
      <p:sp>
        <p:nvSpPr>
          <p:cNvPr id="18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 to Cloud Computing: Agenda</a:t>
            </a:r>
            <a:endParaRPr dirty="0"/>
          </a:p>
        </p:txBody>
      </p:sp>
      <p:sp>
        <p:nvSpPr>
          <p:cNvPr id="18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90339" y="1658938"/>
            <a:ext cx="9482386" cy="4532313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t>Computing at scale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The need for scalability; scale of current services</a:t>
            </a:r>
          </a:p>
          <a:p>
            <a:pPr marL="678941" lvl="1" indent="-226313" defTabSz="905255">
              <a:spcBef>
                <a:spcPts val="400"/>
              </a:spcBef>
              <a:defRPr sz="2376">
                <a:solidFill>
                  <a:srgbClr val="FF9900"/>
                </a:solidFill>
              </a:defRPr>
            </a:pPr>
            <a:r>
              <a:t>Scaling up: From PCs to data centers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Problems with 'classical' scaling techniques </a:t>
            </a:r>
            <a:br/>
            <a:endParaRPr/>
          </a:p>
          <a:p>
            <a:pPr marL="226313" indent="-226313" defTabSz="905255">
              <a:spcBef>
                <a:spcPts val="900"/>
              </a:spcBef>
              <a:defRPr sz="2772"/>
            </a:pPr>
            <a:r>
              <a:t>Utility computing and cloud computing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are utility computing and cloud computing?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clouds exist today?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applications run on the cloud?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Virtualization: How clouds work 'under the hood'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Some cloud computing challenges</a:t>
            </a:r>
          </a:p>
        </p:txBody>
      </p:sp>
      <p:sp>
        <p:nvSpPr>
          <p:cNvPr id="18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Scaling up</a:t>
            </a:r>
          </a:p>
        </p:txBody>
      </p:sp>
      <p:sp>
        <p:nvSpPr>
          <p:cNvPr id="18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475160" y="4219576"/>
            <a:ext cx="7811840" cy="1800226"/>
          </a:xfrm>
          <a:prstGeom prst="rect">
            <a:avLst/>
          </a:prstGeom>
        </p:spPr>
        <p:txBody>
          <a:bodyPr/>
          <a:lstStyle/>
          <a:p>
            <a:pPr marL="219455" indent="-219455" defTabSz="877823">
              <a:lnSpc>
                <a:spcPct val="81000"/>
              </a:lnSpc>
              <a:spcBef>
                <a:spcPts val="900"/>
              </a:spcBef>
              <a:defRPr sz="2400"/>
            </a:pPr>
            <a:r>
              <a:t>What if one computer is not enough?</a:t>
            </a:r>
          </a:p>
          <a:p>
            <a:pPr marL="658368" lvl="1" indent="-219455" defTabSz="877823">
              <a:lnSpc>
                <a:spcPct val="81000"/>
              </a:lnSpc>
              <a:spcBef>
                <a:spcPts val="400"/>
              </a:spcBef>
              <a:defRPr sz="2112"/>
            </a:pPr>
            <a:r>
              <a:t>Buy a bigger (server-class) computer</a:t>
            </a:r>
            <a:br/>
            <a:endParaRPr/>
          </a:p>
          <a:p>
            <a:pPr marL="219455" indent="-219455" defTabSz="877823">
              <a:lnSpc>
                <a:spcPct val="81000"/>
              </a:lnSpc>
              <a:spcBef>
                <a:spcPts val="900"/>
              </a:spcBef>
              <a:defRPr sz="2400"/>
            </a:pPr>
            <a:r>
              <a:t>What if the biggest computer is not enough?</a:t>
            </a:r>
          </a:p>
          <a:p>
            <a:pPr marL="658368" lvl="1" indent="-219455" defTabSz="877823">
              <a:lnSpc>
                <a:spcPct val="81000"/>
              </a:lnSpc>
              <a:spcBef>
                <a:spcPts val="400"/>
              </a:spcBef>
              <a:defRPr sz="2112"/>
            </a:pPr>
            <a:r>
              <a:t>Buy many computers</a:t>
            </a:r>
          </a:p>
        </p:txBody>
      </p:sp>
      <p:sp>
        <p:nvSpPr>
          <p:cNvPr id="19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166465" y="6404292"/>
            <a:ext cx="18733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9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7600" y="2399982"/>
            <a:ext cx="853495" cy="1009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>
            <a:off x="5350588" y="2084358"/>
            <a:ext cx="1250238" cy="13681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7210055" y="598629"/>
            <a:ext cx="2029195" cy="282283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12"/>
          <p:cNvSpPr txBox="1"/>
          <p:nvPr/>
        </p:nvSpPr>
        <p:spPr>
          <a:xfrm>
            <a:off x="3609974" y="3543301"/>
            <a:ext cx="8858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PC</a:t>
            </a:r>
          </a:p>
        </p:txBody>
      </p:sp>
      <p:sp>
        <p:nvSpPr>
          <p:cNvPr id="195" name="TextBox 13"/>
          <p:cNvSpPr txBox="1"/>
          <p:nvPr/>
        </p:nvSpPr>
        <p:spPr>
          <a:xfrm>
            <a:off x="5391151" y="3524251"/>
            <a:ext cx="113347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Server</a:t>
            </a:r>
          </a:p>
        </p:txBody>
      </p:sp>
      <p:sp>
        <p:nvSpPr>
          <p:cNvPr id="196" name="TextBox 14"/>
          <p:cNvSpPr txBox="1"/>
          <p:nvPr/>
        </p:nvSpPr>
        <p:spPr>
          <a:xfrm>
            <a:off x="7734300" y="3533776"/>
            <a:ext cx="101917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Cluster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1" build="p" bldLvl="5" animBg="1" advAuto="0"/>
      <p:bldP spid="192" grpId="2" animBg="1" advAuto="0"/>
      <p:bldP spid="193" grpId="5" animBg="1" advAuto="0"/>
      <p:bldP spid="195" grpId="3" animBg="1" advAuto="0"/>
      <p:bldP spid="196" grpId="4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Clusters</a:t>
            </a:r>
          </a:p>
        </p:txBody>
      </p:sp>
      <p:sp>
        <p:nvSpPr>
          <p:cNvPr id="19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886326"/>
            <a:ext cx="7772400" cy="1609725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Characteristics of a cluster: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Many similar machines, close interconnection (same room?)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Often special, standardized hardware (racks, blades)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Usually owned and used by a single organization</a:t>
            </a:r>
          </a:p>
        </p:txBody>
      </p:sp>
      <p:sp>
        <p:nvSpPr>
          <p:cNvPr id="20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20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19081" y="1536425"/>
            <a:ext cx="2341036" cy="325664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91251" y="2890464"/>
            <a:ext cx="2033588" cy="829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23025" y="1533525"/>
            <a:ext cx="1549400" cy="1162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54" descr="Picture 5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96050" y="3946388"/>
            <a:ext cx="1509713" cy="778012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Straight Arrow Connector 56"/>
          <p:cNvSpPr/>
          <p:nvPr/>
        </p:nvSpPr>
        <p:spPr>
          <a:xfrm flipH="1" flipV="1">
            <a:off x="4105276" y="1981199"/>
            <a:ext cx="2317750" cy="133352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Straight Arrow Connector 58"/>
          <p:cNvSpPr/>
          <p:nvPr/>
        </p:nvSpPr>
        <p:spPr>
          <a:xfrm flipH="1" flipV="1">
            <a:off x="4124326" y="2362199"/>
            <a:ext cx="2060578" cy="933451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Straight Arrow Connector 60"/>
          <p:cNvSpPr/>
          <p:nvPr/>
        </p:nvSpPr>
        <p:spPr>
          <a:xfrm flipH="1">
            <a:off x="4133849" y="3304988"/>
            <a:ext cx="2057401" cy="476438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Straight Arrow Connector 63"/>
          <p:cNvSpPr/>
          <p:nvPr/>
        </p:nvSpPr>
        <p:spPr>
          <a:xfrm flipH="1">
            <a:off x="4114799" y="3304988"/>
            <a:ext cx="2076452" cy="47812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" name="Straight Arrow Connector 65"/>
          <p:cNvSpPr/>
          <p:nvPr/>
        </p:nvSpPr>
        <p:spPr>
          <a:xfrm flipH="1" flipV="1">
            <a:off x="4124326" y="3047999"/>
            <a:ext cx="2066926" cy="256989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Straight Arrow Connector 68"/>
          <p:cNvSpPr/>
          <p:nvPr/>
        </p:nvSpPr>
        <p:spPr>
          <a:xfrm flipH="1" flipV="1">
            <a:off x="4114799" y="2714626"/>
            <a:ext cx="2076451" cy="590364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TextBox 76"/>
          <p:cNvSpPr txBox="1"/>
          <p:nvPr/>
        </p:nvSpPr>
        <p:spPr>
          <a:xfrm>
            <a:off x="8483176" y="3009900"/>
            <a:ext cx="183025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Many </a:t>
            </a:r>
            <a:r>
              <a:rPr>
                <a:solidFill>
                  <a:srgbClr val="FF9900"/>
                </a:solidFill>
              </a:rPr>
              <a:t>nodes/blades</a:t>
            </a:r>
            <a:br>
              <a:rPr>
                <a:solidFill>
                  <a:srgbClr val="FF9900"/>
                </a:solidFill>
              </a:rPr>
            </a:br>
            <a:r>
              <a:t>(often identical)</a:t>
            </a:r>
          </a:p>
        </p:txBody>
      </p:sp>
      <p:sp>
        <p:nvSpPr>
          <p:cNvPr id="212" name="TextBox 77"/>
          <p:cNvSpPr txBox="1"/>
          <p:nvPr/>
        </p:nvSpPr>
        <p:spPr>
          <a:xfrm>
            <a:off x="8392542" y="1571625"/>
            <a:ext cx="2011522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Network </a:t>
            </a:r>
            <a:r>
              <a:rPr>
                <a:solidFill>
                  <a:srgbClr val="FF9900"/>
                </a:solidFill>
              </a:rPr>
              <a:t>switch</a:t>
            </a:r>
            <a:br>
              <a:rPr>
                <a:solidFill>
                  <a:srgbClr val="FF9900"/>
                </a:solidFill>
              </a:rPr>
            </a:br>
            <a:r>
              <a:t>(connects nodes with</a:t>
            </a:r>
            <a:br/>
            <a:r>
              <a:t>each other and </a:t>
            </a:r>
            <a:br/>
            <a:r>
              <a:t>with other racks)</a:t>
            </a:r>
          </a:p>
        </p:txBody>
      </p:sp>
      <p:sp>
        <p:nvSpPr>
          <p:cNvPr id="213" name="TextBox 78"/>
          <p:cNvSpPr txBox="1"/>
          <p:nvPr/>
        </p:nvSpPr>
        <p:spPr>
          <a:xfrm>
            <a:off x="8630613" y="4171950"/>
            <a:ext cx="166872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Storage device(s)</a:t>
            </a:r>
          </a:p>
        </p:txBody>
      </p:sp>
      <p:sp>
        <p:nvSpPr>
          <p:cNvPr id="214" name="Straight Arrow Connector 79"/>
          <p:cNvSpPr/>
          <p:nvPr/>
        </p:nvSpPr>
        <p:spPr>
          <a:xfrm flipH="1" flipV="1">
            <a:off x="4162426" y="4257673"/>
            <a:ext cx="2333626" cy="77721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TextBox 81"/>
          <p:cNvSpPr txBox="1"/>
          <p:nvPr/>
        </p:nvSpPr>
        <p:spPr>
          <a:xfrm>
            <a:off x="2246682" y="2962275"/>
            <a:ext cx="53008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Rack</a:t>
            </a:r>
          </a:p>
        </p:txBody>
      </p:sp>
      <p:sp>
        <p:nvSpPr>
          <p:cNvPr id="216" name="Straight Arrow Connector 82"/>
          <p:cNvSpPr/>
          <p:nvPr/>
        </p:nvSpPr>
        <p:spPr>
          <a:xfrm flipV="1">
            <a:off x="2818763" y="3124200"/>
            <a:ext cx="648337" cy="7353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Power and cooling</a:t>
            </a:r>
          </a:p>
        </p:txBody>
      </p:sp>
      <p:sp>
        <p:nvSpPr>
          <p:cNvPr id="21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dirty="0"/>
              <a:t>Clusters need lots of power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Example: 140 Watts per server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Rack with 32 servers: 4.5kW (needs special power supply!)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Most of this power is converted into heat</a:t>
            </a:r>
          </a:p>
          <a:p>
            <a:r>
              <a:rPr dirty="0"/>
              <a:t>Large clusters need massive cooling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4.5kW is about 3 space heaters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And that's just one rack!</a:t>
            </a:r>
          </a:p>
        </p:txBody>
      </p:sp>
      <p:sp>
        <p:nvSpPr>
          <p:cNvPr id="22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grpSp>
        <p:nvGrpSpPr>
          <p:cNvPr id="223" name="Group 7"/>
          <p:cNvGrpSpPr/>
          <p:nvPr/>
        </p:nvGrpSpPr>
        <p:grpSpPr>
          <a:xfrm>
            <a:off x="7068165" y="3759612"/>
            <a:ext cx="2007631" cy="981076"/>
            <a:chOff x="0" y="0"/>
            <a:chExt cx="2007630" cy="981075"/>
          </a:xfrm>
        </p:grpSpPr>
        <p:pic>
          <p:nvPicPr>
            <p:cNvPr id="221" name="Picture 5" descr="Picture 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-1"/>
              <a:ext cx="974579" cy="974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2" name="Picture 6" descr="Picture 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033052" y="6497"/>
              <a:ext cx="974579" cy="974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2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58493" y="3775632"/>
            <a:ext cx="974579" cy="9745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1" build="p" animBg="1" advAuto="0"/>
      <p:bldP spid="223" grpId="2" animBg="1" advAuto="0"/>
      <p:bldP spid="224" grpId="3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Scaling up</a:t>
            </a:r>
          </a:p>
        </p:txBody>
      </p:sp>
      <p:sp>
        <p:nvSpPr>
          <p:cNvPr id="227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276726"/>
            <a:ext cx="7772400" cy="1743076"/>
          </a:xfrm>
          <a:prstGeom prst="rect">
            <a:avLst/>
          </a:prstGeom>
        </p:spPr>
        <p:txBody>
          <a:bodyPr/>
          <a:lstStyle/>
          <a:p>
            <a:pPr marL="219455" indent="-219455" defTabSz="877823">
              <a:lnSpc>
                <a:spcPct val="81000"/>
              </a:lnSpc>
              <a:spcBef>
                <a:spcPts val="900"/>
              </a:spcBef>
              <a:defRPr sz="2400"/>
            </a:pPr>
            <a:r>
              <a:t>What if your cluster is too big (hot, power hungry) to fit into your office building?</a:t>
            </a:r>
          </a:p>
          <a:p>
            <a:pPr marL="658368" lvl="1" indent="-219455" defTabSz="877823">
              <a:lnSpc>
                <a:spcPct val="81000"/>
              </a:lnSpc>
              <a:spcBef>
                <a:spcPts val="400"/>
              </a:spcBef>
              <a:defRPr sz="2112"/>
            </a:pPr>
            <a:r>
              <a:t>Build a separate building for the cluster</a:t>
            </a:r>
          </a:p>
          <a:p>
            <a:pPr marL="658368" lvl="1" indent="-219455" defTabSz="877823">
              <a:lnSpc>
                <a:spcPct val="81000"/>
              </a:lnSpc>
              <a:spcBef>
                <a:spcPts val="400"/>
              </a:spcBef>
              <a:defRPr sz="2112"/>
            </a:pPr>
            <a:r>
              <a:t>Building can have lots of cooling and power</a:t>
            </a:r>
          </a:p>
          <a:p>
            <a:pPr marL="658368" lvl="1" indent="-219455" defTabSz="877823">
              <a:lnSpc>
                <a:spcPct val="81000"/>
              </a:lnSpc>
              <a:spcBef>
                <a:spcPts val="400"/>
              </a:spcBef>
              <a:defRPr sz="2112"/>
            </a:pPr>
            <a:r>
              <a:t>Result: Data center</a:t>
            </a:r>
          </a:p>
        </p:txBody>
      </p:sp>
      <p:sp>
        <p:nvSpPr>
          <p:cNvPr id="22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22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19425" y="2549218"/>
            <a:ext cx="723054" cy="855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>
            <a:off x="4085690" y="2169523"/>
            <a:ext cx="1146303" cy="1254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5632570" y="1714410"/>
            <a:ext cx="1226459" cy="170614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TextBox 12"/>
          <p:cNvSpPr txBox="1"/>
          <p:nvPr/>
        </p:nvSpPr>
        <p:spPr>
          <a:xfrm>
            <a:off x="2933699" y="3543301"/>
            <a:ext cx="8858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PC</a:t>
            </a:r>
          </a:p>
        </p:txBody>
      </p:sp>
      <p:sp>
        <p:nvSpPr>
          <p:cNvPr id="233" name="TextBox 13"/>
          <p:cNvSpPr txBox="1"/>
          <p:nvPr/>
        </p:nvSpPr>
        <p:spPr>
          <a:xfrm>
            <a:off x="4086226" y="3524251"/>
            <a:ext cx="113347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Server</a:t>
            </a:r>
          </a:p>
        </p:txBody>
      </p:sp>
      <p:sp>
        <p:nvSpPr>
          <p:cNvPr id="234" name="TextBox 14"/>
          <p:cNvSpPr txBox="1"/>
          <p:nvPr/>
        </p:nvSpPr>
        <p:spPr>
          <a:xfrm>
            <a:off x="5753100" y="3533776"/>
            <a:ext cx="101917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Cluster</a:t>
            </a:r>
          </a:p>
        </p:txBody>
      </p:sp>
      <p:sp>
        <p:nvSpPr>
          <p:cNvPr id="235" name="TextBox 15"/>
          <p:cNvSpPr txBox="1"/>
          <p:nvPr/>
        </p:nvSpPr>
        <p:spPr>
          <a:xfrm>
            <a:off x="7991474" y="3533776"/>
            <a:ext cx="119062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Data center</a:t>
            </a:r>
          </a:p>
        </p:txBody>
      </p:sp>
      <p:pic>
        <p:nvPicPr>
          <p:cNvPr id="236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396163" y="1285875"/>
            <a:ext cx="2276476" cy="22288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1" build="p" bldLvl="5" animBg="1" advAuto="0"/>
      <p:bldP spid="235" grpId="2" animBg="1" advAuto="0"/>
      <p:bldP spid="236" grpId="3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 does a data center look like?</a:t>
            </a:r>
          </a:p>
        </p:txBody>
      </p:sp>
      <p:sp>
        <p:nvSpPr>
          <p:cNvPr id="23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355725" y="4953000"/>
            <a:ext cx="10105133" cy="1238250"/>
          </a:xfrm>
          <a:prstGeom prst="rect">
            <a:avLst/>
          </a:prstGeom>
        </p:spPr>
        <p:txBody>
          <a:bodyPr/>
          <a:lstStyle>
            <a:lvl1pPr marL="226313" indent="-226313" defTabSz="905255">
              <a:spcBef>
                <a:spcPts val="900"/>
              </a:spcBef>
              <a:defRPr sz="2772"/>
            </a:lvl1pPr>
            <a:lvl2pPr marL="678941" indent="-226313" defTabSz="905255">
              <a:spcBef>
                <a:spcPts val="400"/>
              </a:spcBef>
              <a:defRPr sz="2376"/>
            </a:lvl2pPr>
          </a:lstStyle>
          <a:p>
            <a:r>
              <a:t>A warehouse-sized computer</a:t>
            </a:r>
          </a:p>
          <a:p>
            <a:pPr lvl="1"/>
            <a:r>
              <a:t>A single data center can easily contain 10,000 racks with 100 cores in each rack (1,000,000 cores total)</a:t>
            </a:r>
          </a:p>
        </p:txBody>
      </p:sp>
      <p:sp>
        <p:nvSpPr>
          <p:cNvPr id="24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241" name="TextBox 6"/>
          <p:cNvSpPr txBox="1"/>
          <p:nvPr/>
        </p:nvSpPr>
        <p:spPr>
          <a:xfrm>
            <a:off x="6239183" y="4238626"/>
            <a:ext cx="288923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Google data center in The Dalles, Oregon</a:t>
            </a:r>
          </a:p>
        </p:txBody>
      </p:sp>
      <p:pic>
        <p:nvPicPr>
          <p:cNvPr id="24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67100" y="2019300"/>
            <a:ext cx="5715000" cy="2247900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Box 8"/>
          <p:cNvSpPr txBox="1"/>
          <p:nvPr/>
        </p:nvSpPr>
        <p:spPr>
          <a:xfrm>
            <a:off x="2002051" y="2162175"/>
            <a:ext cx="1286034" cy="81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Data centers</a:t>
            </a:r>
            <a:br/>
            <a:r>
              <a:t>(size of a </a:t>
            </a:r>
            <a:br/>
            <a:r>
              <a:t>football field)</a:t>
            </a:r>
          </a:p>
        </p:txBody>
      </p:sp>
      <p:sp>
        <p:nvSpPr>
          <p:cNvPr id="244" name="TextBox 9"/>
          <p:cNvSpPr txBox="1"/>
          <p:nvPr/>
        </p:nvSpPr>
        <p:spPr>
          <a:xfrm>
            <a:off x="6729527" y="1343025"/>
            <a:ext cx="76553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Cooling</a:t>
            </a:r>
            <a:br/>
            <a:r>
              <a:t>plant</a:t>
            </a:r>
          </a:p>
        </p:txBody>
      </p:sp>
      <p:sp>
        <p:nvSpPr>
          <p:cNvPr id="245" name="Straight Arrow Connector 11"/>
          <p:cNvSpPr/>
          <p:nvPr/>
        </p:nvSpPr>
        <p:spPr>
          <a:xfrm>
            <a:off x="3334615" y="2577674"/>
            <a:ext cx="2418485" cy="413177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6" name="Straight Arrow Connector 13"/>
          <p:cNvSpPr/>
          <p:nvPr/>
        </p:nvSpPr>
        <p:spPr>
          <a:xfrm>
            <a:off x="3305174" y="2724150"/>
            <a:ext cx="1123952" cy="838201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7" name="Straight Arrow Connector 15"/>
          <p:cNvSpPr/>
          <p:nvPr/>
        </p:nvSpPr>
        <p:spPr>
          <a:xfrm flipH="1">
            <a:off x="6772276" y="1924049"/>
            <a:ext cx="171451" cy="904876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48" name="Picture 12" descr="Picture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61115" y="389826"/>
            <a:ext cx="2630769" cy="19772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1" animBg="1" advAuto="0"/>
      <p:bldP spid="243" grpId="2" animBg="1" advAuto="0"/>
      <p:bldP spid="244" grpId="5" animBg="1" advAuto="0"/>
      <p:bldP spid="245" grpId="4" animBg="1" advAuto="0"/>
      <p:bldP spid="246" grpId="3" animBg="1" advAuto="0"/>
      <p:bldP spid="247" grpId="6" animBg="1" advAuto="0"/>
      <p:bldP spid="248" grpId="7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51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2514600" y="5353050"/>
            <a:ext cx="7772400" cy="838200"/>
          </a:xfrm>
          <a:prstGeom prst="rect">
            <a:avLst/>
          </a:prstGeom>
        </p:spPr>
        <p:txBody>
          <a:bodyPr/>
          <a:lstStyle/>
          <a:p>
            <a:r>
              <a:t>Hundreds or thousands of racks</a:t>
            </a:r>
          </a:p>
        </p:txBody>
      </p:sp>
      <p:sp>
        <p:nvSpPr>
          <p:cNvPr id="25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253" name="Picture 27" descr="Picture 2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47950" y="1557480"/>
            <a:ext cx="4848225" cy="32240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68477" y="1543050"/>
            <a:ext cx="2070654" cy="3238501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Box 32"/>
          <p:cNvSpPr txBox="1"/>
          <p:nvPr/>
        </p:nvSpPr>
        <p:spPr>
          <a:xfrm>
            <a:off x="9008307" y="4762501"/>
            <a:ext cx="93236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Source: 1&amp;1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58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2514600" y="5257800"/>
            <a:ext cx="7772400" cy="933450"/>
          </a:xfrm>
          <a:prstGeom prst="rect">
            <a:avLst/>
          </a:prstGeom>
        </p:spPr>
        <p:txBody>
          <a:bodyPr/>
          <a:lstStyle/>
          <a:p>
            <a:r>
              <a:t>Massive networking</a:t>
            </a:r>
          </a:p>
        </p:txBody>
      </p:sp>
      <p:sp>
        <p:nvSpPr>
          <p:cNvPr id="25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260" name="TextBox 32"/>
          <p:cNvSpPr txBox="1"/>
          <p:nvPr/>
        </p:nvSpPr>
        <p:spPr>
          <a:xfrm>
            <a:off x="8465382" y="4400551"/>
            <a:ext cx="93236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Source: 1&amp;1</a:t>
            </a:r>
          </a:p>
        </p:txBody>
      </p:sp>
      <p:pic>
        <p:nvPicPr>
          <p:cNvPr id="26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05226" y="1800224"/>
            <a:ext cx="3438524" cy="25788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72156" y="1781175"/>
            <a:ext cx="1967120" cy="26241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65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2514600" y="5257800"/>
            <a:ext cx="7772400" cy="933450"/>
          </a:xfrm>
          <a:prstGeom prst="rect">
            <a:avLst/>
          </a:prstGeom>
        </p:spPr>
        <p:txBody>
          <a:bodyPr/>
          <a:lstStyle/>
          <a:p>
            <a:r>
              <a:t>Emergency power supplies</a:t>
            </a:r>
          </a:p>
        </p:txBody>
      </p:sp>
      <p:sp>
        <p:nvSpPr>
          <p:cNvPr id="26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267" name="TextBox 32"/>
          <p:cNvSpPr txBox="1"/>
          <p:nvPr/>
        </p:nvSpPr>
        <p:spPr>
          <a:xfrm>
            <a:off x="9475032" y="4505326"/>
            <a:ext cx="93236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Source: 1&amp;1</a:t>
            </a:r>
          </a:p>
        </p:txBody>
      </p:sp>
      <p:pic>
        <p:nvPicPr>
          <p:cNvPr id="26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33650" y="1821657"/>
            <a:ext cx="3609975" cy="2707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Picture 12" descr="Picture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26907" y="1819275"/>
            <a:ext cx="2042093" cy="2724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409205" y="1828800"/>
            <a:ext cx="2020672" cy="26955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What's in a data center?</a:t>
            </a:r>
          </a:p>
        </p:txBody>
      </p:sp>
      <p:sp>
        <p:nvSpPr>
          <p:cNvPr id="273" name="Content Placeholder 24"/>
          <p:cNvSpPr txBox="1">
            <a:spLocks noGrp="1"/>
          </p:cNvSpPr>
          <p:nvPr>
            <p:ph type="body" sz="quarter" idx="1"/>
          </p:nvPr>
        </p:nvSpPr>
        <p:spPr>
          <a:xfrm>
            <a:off x="2514600" y="5257800"/>
            <a:ext cx="7772400" cy="933450"/>
          </a:xfrm>
          <a:prstGeom prst="rect">
            <a:avLst/>
          </a:prstGeom>
        </p:spPr>
        <p:txBody>
          <a:bodyPr/>
          <a:lstStyle/>
          <a:p>
            <a:r>
              <a:t>Massive cooling</a:t>
            </a:r>
          </a:p>
        </p:txBody>
      </p:sp>
      <p:sp>
        <p:nvSpPr>
          <p:cNvPr id="27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275" name="TextBox 32"/>
          <p:cNvSpPr txBox="1"/>
          <p:nvPr/>
        </p:nvSpPr>
        <p:spPr>
          <a:xfrm>
            <a:off x="9008307" y="4324351"/>
            <a:ext cx="932369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Source: 1&amp;1</a:t>
            </a:r>
          </a:p>
        </p:txBody>
      </p:sp>
      <p:grpSp>
        <p:nvGrpSpPr>
          <p:cNvPr id="278" name="Group 10"/>
          <p:cNvGrpSpPr/>
          <p:nvPr/>
        </p:nvGrpSpPr>
        <p:grpSpPr>
          <a:xfrm>
            <a:off x="3019426" y="1743076"/>
            <a:ext cx="7010618" cy="2543175"/>
            <a:chOff x="0" y="0"/>
            <a:chExt cx="7010617" cy="2543174"/>
          </a:xfrm>
        </p:grpSpPr>
        <p:pic>
          <p:nvPicPr>
            <p:cNvPr id="276" name="Picture 8" descr="Picture 8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6202"/>
              <a:ext cx="3382631" cy="25369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7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636258" y="0"/>
              <a:ext cx="3374360" cy="25307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Energy matters!</a:t>
            </a:r>
          </a:p>
        </p:txBody>
      </p:sp>
      <p:sp>
        <p:nvSpPr>
          <p:cNvPr id="281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200" y="4325049"/>
            <a:ext cx="9987115" cy="1821432"/>
          </a:xfrm>
          <a:prstGeom prst="rect">
            <a:avLst/>
          </a:prstGeom>
        </p:spPr>
        <p:txBody>
          <a:bodyPr/>
          <a:lstStyle/>
          <a:p>
            <a:pPr marL="214884" indent="-214884" defTabSz="859536">
              <a:lnSpc>
                <a:spcPct val="72000"/>
              </a:lnSpc>
              <a:spcBef>
                <a:spcPts val="900"/>
              </a:spcBef>
              <a:defRPr sz="2350"/>
            </a:pPr>
            <a:r>
              <a:rPr dirty="0"/>
              <a:t>Data centers consume a lot of energy</a:t>
            </a:r>
          </a:p>
          <a:p>
            <a:pPr marL="644651" lvl="1" indent="-214884" defTabSz="859536">
              <a:lnSpc>
                <a:spcPct val="72000"/>
              </a:lnSpc>
              <a:spcBef>
                <a:spcPts val="400"/>
              </a:spcBef>
              <a:defRPr sz="2068"/>
            </a:pPr>
            <a:r>
              <a:rPr dirty="0"/>
              <a:t>Makes sense to build them near sources of cheap electricity</a:t>
            </a:r>
          </a:p>
          <a:p>
            <a:pPr marL="644651" lvl="1" indent="-214884" defTabSz="859536">
              <a:lnSpc>
                <a:spcPct val="72000"/>
              </a:lnSpc>
              <a:spcBef>
                <a:spcPts val="400"/>
              </a:spcBef>
              <a:defRPr sz="2068"/>
            </a:pPr>
            <a:r>
              <a:rPr dirty="0"/>
              <a:t>Example: Price per </a:t>
            </a:r>
            <a:r>
              <a:rPr dirty="0" err="1"/>
              <a:t>KWh</a:t>
            </a:r>
            <a:r>
              <a:rPr dirty="0"/>
              <a:t> is 3.6ct in Idaho (near hydroelectric power), 10ct in California (long distance transmission), 18ct in Hawaii (must ship fuel)</a:t>
            </a:r>
          </a:p>
          <a:p>
            <a:pPr marL="644651" lvl="1" indent="-214884" defTabSz="859536">
              <a:lnSpc>
                <a:spcPct val="72000"/>
              </a:lnSpc>
              <a:spcBef>
                <a:spcPts val="400"/>
              </a:spcBef>
              <a:defRPr sz="2068"/>
            </a:pPr>
            <a:r>
              <a:rPr dirty="0"/>
              <a:t>Most of this is converted into heat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 dirty="0"/>
              <a:t>Cooling is a big issue!</a:t>
            </a:r>
          </a:p>
        </p:txBody>
      </p:sp>
      <p:sp>
        <p:nvSpPr>
          <p:cNvPr id="28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graphicFrame>
        <p:nvGraphicFramePr>
          <p:cNvPr id="283" name="Table 6"/>
          <p:cNvGraphicFramePr/>
          <p:nvPr/>
        </p:nvGraphicFramePr>
        <p:xfrm>
          <a:off x="3762375" y="1606550"/>
          <a:ext cx="5038724" cy="234696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324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8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sym typeface="Calibri"/>
                        </a:rPr>
                        <a:t>Company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sym typeface="Calibri"/>
                        </a:rPr>
                        <a:t>Servers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sym typeface="Calibri"/>
                        </a:rPr>
                        <a:t>Electricity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sym typeface="Calibri"/>
                        </a:rPr>
                        <a:t>Cost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8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eBay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16K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t>~0.6*10</a:t>
                      </a:r>
                      <a:r>
                        <a:rPr baseline="30000"/>
                        <a:t>5</a:t>
                      </a:r>
                      <a:r>
                        <a:t> MWh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~$3.7M/yr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Akamai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40K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t>~1.7*10</a:t>
                      </a:r>
                      <a:r>
                        <a:rPr baseline="30000"/>
                        <a:t>5</a:t>
                      </a:r>
                      <a:r>
                        <a:t> MWh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~$10M/yr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8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Rackspace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50K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t>~2*10</a:t>
                      </a:r>
                      <a:r>
                        <a:rPr baseline="30000"/>
                        <a:t>5</a:t>
                      </a:r>
                      <a:r>
                        <a:t> MWh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~$12M/yr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8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Microsoft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&gt;200K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t>&gt;6*10</a:t>
                      </a:r>
                      <a:r>
                        <a:rPr baseline="30000"/>
                        <a:t>5</a:t>
                      </a:r>
                      <a:r>
                        <a:t> MWh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&gt;$36M/yr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Google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&gt;500K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r>
                        <a:t>&gt;6.3*10</a:t>
                      </a:r>
                      <a:r>
                        <a:rPr baseline="30000"/>
                        <a:t>5</a:t>
                      </a:r>
                      <a:r>
                        <a:t> MWh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&gt;$38M/yr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2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600">
                          <a:sym typeface="Calibri"/>
                        </a:rPr>
                        <a:t>USA (2006)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 sz="1600"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4" name="TextBox 7"/>
          <p:cNvSpPr txBox="1"/>
          <p:nvPr/>
        </p:nvSpPr>
        <p:spPr>
          <a:xfrm>
            <a:off x="6459127" y="3988018"/>
            <a:ext cx="2273745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Source: Qureshi et al., SIGCOMM 2009</a:t>
            </a:r>
          </a:p>
        </p:txBody>
      </p:sp>
      <p:sp>
        <p:nvSpPr>
          <p:cNvPr id="285" name="TextBox 9"/>
          <p:cNvSpPr txBox="1"/>
          <p:nvPr/>
        </p:nvSpPr>
        <p:spPr>
          <a:xfrm>
            <a:off x="5245117" y="3626108"/>
            <a:ext cx="65500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10.9M</a:t>
            </a:r>
          </a:p>
        </p:txBody>
      </p:sp>
      <p:sp>
        <p:nvSpPr>
          <p:cNvPr id="286" name="TextBox 10"/>
          <p:cNvSpPr txBox="1"/>
          <p:nvPr/>
        </p:nvSpPr>
        <p:spPr>
          <a:xfrm>
            <a:off x="6148609" y="3599388"/>
            <a:ext cx="1360283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610*10</a:t>
            </a:r>
            <a:r>
              <a:rPr baseline="30000"/>
              <a:t>5</a:t>
            </a:r>
            <a:r>
              <a:t> MWh</a:t>
            </a:r>
          </a:p>
        </p:txBody>
      </p:sp>
      <p:sp>
        <p:nvSpPr>
          <p:cNvPr id="287" name="TextBox 11"/>
          <p:cNvSpPr txBox="1"/>
          <p:nvPr/>
        </p:nvSpPr>
        <p:spPr>
          <a:xfrm>
            <a:off x="7846289" y="3646068"/>
            <a:ext cx="86832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$4.5B/yr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8" presetID="1" presetClass="entr" presetSubtype="0" fill="hold" grpId="5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6" build="p" bldLvl="5" animBg="1" advAuto="0"/>
      <p:bldP spid="283" grpId="1" animBg="1" advAuto="0"/>
      <p:bldP spid="284" grpId="2" animBg="1" advAuto="0"/>
      <p:bldP spid="285" grpId="3" animBg="1" advAuto="0"/>
      <p:bldP spid="286" grpId="4" animBg="1" advAuto="0"/>
      <p:bldP spid="287" grpId="5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dirty="0"/>
              <a:t>Energy matters!</a:t>
            </a:r>
          </a:p>
        </p:txBody>
      </p:sp>
      <p:sp>
        <p:nvSpPr>
          <p:cNvPr id="29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05470" y="1690687"/>
            <a:ext cx="10381060" cy="4776789"/>
          </a:xfrm>
          <a:prstGeom prst="rect">
            <a:avLst/>
          </a:prstGeom>
        </p:spPr>
        <p:txBody>
          <a:bodyPr/>
          <a:lstStyle/>
          <a:p>
            <a:r>
              <a:rPr dirty="0"/>
              <a:t>There are even bigger energy consumers: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/>
              </a:rPr>
              <a:t>http://motherboard.vice.com/read/bitcoin-could-consume-as-much-electricity-as-denmark-by-2020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2020 14 Gigawatts (Total power generation capacity of Denmark)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1 Bitcoin in 2020 would consume half the annual household usage emitting 4,000 kg of CO</a:t>
            </a:r>
            <a:r>
              <a:rPr baseline="-25000" dirty="0"/>
              <a:t>2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rPr dirty="0"/>
              <a:t>This is a big issue because of the enthusiasm for the Blockchain driving new functionality</a:t>
            </a:r>
          </a:p>
        </p:txBody>
      </p:sp>
      <p:sp>
        <p:nvSpPr>
          <p:cNvPr id="29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Scaling up</a:t>
            </a:r>
          </a:p>
        </p:txBody>
      </p:sp>
      <p:sp>
        <p:nvSpPr>
          <p:cNvPr id="294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410076"/>
            <a:ext cx="7772400" cy="1609726"/>
          </a:xfrm>
          <a:prstGeom prst="rect">
            <a:avLst/>
          </a:prstGeom>
        </p:spPr>
        <p:txBody>
          <a:bodyPr/>
          <a:lstStyle/>
          <a:p>
            <a:r>
              <a:t>What if even a data center is not big enough?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Build additional data centers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Where? How many?</a:t>
            </a:r>
          </a:p>
        </p:txBody>
      </p:sp>
      <p:sp>
        <p:nvSpPr>
          <p:cNvPr id="29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pic>
        <p:nvPicPr>
          <p:cNvPr id="29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05025" y="2783204"/>
            <a:ext cx="529644" cy="6267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>
            <a:off x="2886075" y="2505075"/>
            <a:ext cx="839679" cy="9188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4019182" y="2171700"/>
            <a:ext cx="898394" cy="1249765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Box 12"/>
          <p:cNvSpPr txBox="1"/>
          <p:nvPr/>
        </p:nvSpPr>
        <p:spPr>
          <a:xfrm>
            <a:off x="1895474" y="3543301"/>
            <a:ext cx="88582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PC</a:t>
            </a:r>
          </a:p>
        </p:txBody>
      </p:sp>
      <p:sp>
        <p:nvSpPr>
          <p:cNvPr id="300" name="TextBox 13"/>
          <p:cNvSpPr txBox="1"/>
          <p:nvPr/>
        </p:nvSpPr>
        <p:spPr>
          <a:xfrm>
            <a:off x="2714625" y="3524251"/>
            <a:ext cx="113347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Server</a:t>
            </a:r>
          </a:p>
        </p:txBody>
      </p:sp>
      <p:sp>
        <p:nvSpPr>
          <p:cNvPr id="301" name="TextBox 14"/>
          <p:cNvSpPr txBox="1"/>
          <p:nvPr/>
        </p:nvSpPr>
        <p:spPr>
          <a:xfrm>
            <a:off x="3933825" y="3533776"/>
            <a:ext cx="101917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Cluster</a:t>
            </a:r>
          </a:p>
        </p:txBody>
      </p:sp>
      <p:sp>
        <p:nvSpPr>
          <p:cNvPr id="302" name="TextBox 15"/>
          <p:cNvSpPr txBox="1"/>
          <p:nvPr/>
        </p:nvSpPr>
        <p:spPr>
          <a:xfrm>
            <a:off x="5562598" y="3533776"/>
            <a:ext cx="119062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Data center</a:t>
            </a:r>
          </a:p>
        </p:txBody>
      </p:sp>
      <p:sp>
        <p:nvSpPr>
          <p:cNvPr id="303" name="TextBox 16"/>
          <p:cNvSpPr txBox="1"/>
          <p:nvPr/>
        </p:nvSpPr>
        <p:spPr>
          <a:xfrm>
            <a:off x="7734299" y="3524251"/>
            <a:ext cx="238125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Network of data centers</a:t>
            </a:r>
          </a:p>
        </p:txBody>
      </p:sp>
      <p:pic>
        <p:nvPicPr>
          <p:cNvPr id="304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53050" y="1746104"/>
            <a:ext cx="1738312" cy="17019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800975" y="1203178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6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72500" y="1203178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" name="Picture 20" descr="Picture 2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44025" y="1203178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8" name="Picture 21" descr="Picture 2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91450" y="1974704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Picture 22" descr="Picture 2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62975" y="1974704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0" name="Picture 23" descr="Picture 2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34500" y="1974704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Picture 24" descr="Picture 2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91450" y="2746229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25" descr="Picture 2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62975" y="2746229"/>
            <a:ext cx="704850" cy="690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26" descr="Picture 2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34500" y="2746229"/>
            <a:ext cx="704850" cy="6901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11" build="p" bldLvl="5" animBg="1" advAuto="0"/>
      <p:bldP spid="303" grpId="10" animBg="1" advAuto="0"/>
      <p:bldP spid="305" grpId="1" animBg="1" advAuto="0"/>
      <p:bldP spid="306" grpId="2" animBg="1" advAuto="0"/>
      <p:bldP spid="307" grpId="3" animBg="1" advAuto="0"/>
      <p:bldP spid="308" grpId="4" animBg="1" advAuto="0"/>
      <p:bldP spid="309" grpId="5" animBg="1" advAuto="0"/>
      <p:bldP spid="310" grpId="6" animBg="1" advAuto="0"/>
      <p:bldP spid="311" grpId="7" animBg="1" advAuto="0"/>
      <p:bldP spid="312" grpId="8" animBg="1" advAuto="0"/>
      <p:bldP spid="313" grpId="9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Global distribution</a:t>
            </a:r>
          </a:p>
        </p:txBody>
      </p:sp>
      <p:sp>
        <p:nvSpPr>
          <p:cNvPr id="316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2514600" y="3867151"/>
            <a:ext cx="7772400" cy="246697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t>Data centers are often globally distributed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Example above: Google data center locations (inferred)</a:t>
            </a:r>
          </a:p>
          <a:p>
            <a:pPr>
              <a:lnSpc>
                <a:spcPct val="81000"/>
              </a:lnSpc>
            </a:pPr>
            <a:r>
              <a:t>Why?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Need to be close to users (physics!)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Cheaper resources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Protection against failures</a:t>
            </a:r>
          </a:p>
        </p:txBody>
      </p:sp>
      <p:sp>
        <p:nvSpPr>
          <p:cNvPr id="31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318" name="Content Placeholder 5" descr="Content Placeholder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81520" y="1657350"/>
            <a:ext cx="3937822" cy="182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47975" y="1657350"/>
            <a:ext cx="3421628" cy="1828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1" build="p" bldLvl="5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Trend: Modular data center</a:t>
            </a:r>
          </a:p>
        </p:txBody>
      </p:sp>
      <p:sp>
        <p:nvSpPr>
          <p:cNvPr id="322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787846" y="4029074"/>
            <a:ext cx="9499154" cy="2162176"/>
          </a:xfrm>
          <a:prstGeom prst="rect">
            <a:avLst/>
          </a:prstGeom>
        </p:spPr>
        <p:txBody>
          <a:bodyPr/>
          <a:lstStyle/>
          <a:p>
            <a:r>
              <a:t>Need more capacity? Just deploy another container!</a:t>
            </a:r>
          </a:p>
        </p:txBody>
      </p:sp>
      <p:sp>
        <p:nvSpPr>
          <p:cNvPr id="32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32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90850" y="1587500"/>
            <a:ext cx="2962275" cy="1974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72261" y="1590675"/>
            <a:ext cx="2986090" cy="1990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81233" y="4106613"/>
            <a:ext cx="2036018" cy="20070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Plan for today</a:t>
            </a:r>
          </a:p>
        </p:txBody>
      </p:sp>
      <p:sp>
        <p:nvSpPr>
          <p:cNvPr id="32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57349" y="1658938"/>
            <a:ext cx="9515376" cy="4532313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t>Computing at scale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The need for scalability; scale of current services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Scaling up: From PCs to data centers</a:t>
            </a:r>
          </a:p>
          <a:p>
            <a:pPr marL="678941" lvl="1" indent="-226313" defTabSz="905255">
              <a:spcBef>
                <a:spcPts val="400"/>
              </a:spcBef>
              <a:defRPr sz="2376">
                <a:solidFill>
                  <a:srgbClr val="FF9900"/>
                </a:solidFill>
              </a:defRPr>
            </a:pPr>
            <a:r>
              <a:t>Problems with 'classical' scaling techniques </a:t>
            </a:r>
            <a:br/>
            <a:endParaRPr/>
          </a:p>
          <a:p>
            <a:pPr marL="226313" indent="-226313" defTabSz="905255">
              <a:spcBef>
                <a:spcPts val="900"/>
              </a:spcBef>
              <a:defRPr sz="2772"/>
            </a:pPr>
            <a:r>
              <a:t>Utility computing and cloud computing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are utility computing and cloud computing?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clouds exist today?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applications run on the cloud?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Virtualization: How clouds work 'under the hood'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Some cloud computing challenges</a:t>
            </a:r>
          </a:p>
        </p:txBody>
      </p:sp>
      <p:sp>
        <p:nvSpPr>
          <p:cNvPr id="33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Problem #1: Difficult to dimension</a:t>
            </a:r>
          </a:p>
        </p:txBody>
      </p:sp>
      <p:sp>
        <p:nvSpPr>
          <p:cNvPr id="333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987722" y="4286249"/>
            <a:ext cx="9299278" cy="19050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Problem: Load can vary considerably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Peak load can exceed average load by factor 2x-10x [Why?]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But: Few users deliberately provision for less than the peak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Result: Server utilization in existing data centers ~5%-20%!!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Dilemma: Waste resources or lose customers!</a:t>
            </a:r>
          </a:p>
        </p:txBody>
      </p:sp>
      <p:sp>
        <p:nvSpPr>
          <p:cNvPr id="33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33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30160" y="1889125"/>
            <a:ext cx="3636342" cy="1831443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78261" y="1898650"/>
            <a:ext cx="3683579" cy="1819275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Straight Arrow Connector 8"/>
          <p:cNvSpPr/>
          <p:nvPr/>
        </p:nvSpPr>
        <p:spPr>
          <a:xfrm flipV="1">
            <a:off x="3529518" y="2242344"/>
            <a:ext cx="1589" cy="828676"/>
          </a:xfrm>
          <a:prstGeom prst="line">
            <a:avLst/>
          </a:prstGeom>
          <a:ln w="19050">
            <a:solidFill>
              <a:srgbClr val="33CC33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8" name="TextBox 9"/>
          <p:cNvSpPr txBox="1"/>
          <p:nvPr/>
        </p:nvSpPr>
        <p:spPr>
          <a:xfrm>
            <a:off x="3107915" y="1841499"/>
            <a:ext cx="85808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33CC33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2x-10x</a:t>
            </a:r>
          </a:p>
        </p:txBody>
      </p:sp>
      <p:sp>
        <p:nvSpPr>
          <p:cNvPr id="339" name="TextBox 11"/>
          <p:cNvSpPr txBox="1"/>
          <p:nvPr/>
        </p:nvSpPr>
        <p:spPr>
          <a:xfrm>
            <a:off x="6556300" y="1403350"/>
            <a:ext cx="131461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Jobs cannot </a:t>
            </a:r>
            <a:br/>
            <a:r>
              <a:t>be completed</a:t>
            </a:r>
          </a:p>
        </p:txBody>
      </p:sp>
      <p:sp>
        <p:nvSpPr>
          <p:cNvPr id="340" name="TextBox 12"/>
          <p:cNvSpPr txBox="1"/>
          <p:nvPr/>
        </p:nvSpPr>
        <p:spPr>
          <a:xfrm>
            <a:off x="7934004" y="1403350"/>
            <a:ext cx="1111905" cy="81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Dissatisfied</a:t>
            </a:r>
            <a:br/>
            <a:r>
              <a:t>customers</a:t>
            </a:r>
            <a:br/>
            <a:r>
              <a:t>leave</a:t>
            </a:r>
          </a:p>
        </p:txBody>
      </p:sp>
      <p:sp>
        <p:nvSpPr>
          <p:cNvPr id="341" name="Straight Arrow Connector 14"/>
          <p:cNvSpPr/>
          <p:nvPr/>
        </p:nvSpPr>
        <p:spPr>
          <a:xfrm flipH="1">
            <a:off x="6911685" y="1988125"/>
            <a:ext cx="301921" cy="482025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2" name="Straight Arrow Connector 16"/>
          <p:cNvSpPr/>
          <p:nvPr/>
        </p:nvSpPr>
        <p:spPr>
          <a:xfrm>
            <a:off x="8654760" y="2232023"/>
            <a:ext cx="171451" cy="333377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3" name="Straight Arrow Connector 18"/>
          <p:cNvSpPr/>
          <p:nvPr/>
        </p:nvSpPr>
        <p:spPr>
          <a:xfrm flipH="1">
            <a:off x="7873710" y="2222499"/>
            <a:ext cx="381001" cy="295277"/>
          </a:xfrm>
          <a:prstGeom prst="line">
            <a:avLst/>
          </a:prstGeom>
          <a:ln w="19050">
            <a:solidFill>
              <a:srgbClr val="FF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4" name="TextBox 24"/>
          <p:cNvSpPr txBox="1"/>
          <p:nvPr/>
        </p:nvSpPr>
        <p:spPr>
          <a:xfrm>
            <a:off x="2647579" y="3727450"/>
            <a:ext cx="2769355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Provisioning for the peak load</a:t>
            </a:r>
          </a:p>
        </p:txBody>
      </p:sp>
      <p:sp>
        <p:nvSpPr>
          <p:cNvPr id="345" name="TextBox 25"/>
          <p:cNvSpPr txBox="1"/>
          <p:nvPr/>
        </p:nvSpPr>
        <p:spPr>
          <a:xfrm>
            <a:off x="6555956" y="3727450"/>
            <a:ext cx="2610705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Provisioning below the peak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" grpId="1" build="p" animBg="1" advAuto="0"/>
      <p:bldP spid="335" grpId="2" animBg="1" advAuto="0"/>
      <p:bldP spid="336" grpId="5" animBg="1" advAuto="0"/>
      <p:bldP spid="337" grpId="4" animBg="1" advAuto="0"/>
      <p:bldP spid="338" grpId="3" animBg="1" advAuto="0"/>
      <p:bldP spid="339" grpId="8" animBg="1" advAuto="0"/>
      <p:bldP spid="340" grpId="10" animBg="1" advAuto="0"/>
      <p:bldP spid="341" grpId="9" animBg="1" advAuto="0"/>
      <p:bldP spid="342" grpId="12" animBg="1" advAuto="0"/>
      <p:bldP spid="343" grpId="11" animBg="1" advAuto="0"/>
      <p:bldP spid="344" grpId="7" animBg="1" advAuto="0"/>
      <p:bldP spid="345" grpId="6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Problem #2: Expensive</a:t>
            </a:r>
          </a:p>
        </p:txBody>
      </p:sp>
      <p:sp>
        <p:nvSpPr>
          <p:cNvPr id="34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Need to invest many $$$ in hardware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Even a small cluster can easily cost $100,000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Microsoft recently invested $499 million in a single </a:t>
            </a:r>
            <a:br/>
            <a:r>
              <a:t>data center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endParaRPr/>
          </a:p>
          <a:p>
            <a:pPr>
              <a:lnSpc>
                <a:spcPct val="81000"/>
              </a:lnSpc>
              <a:defRPr sz="2500"/>
            </a:pPr>
            <a:r>
              <a:t>Need expertise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Planning and setting up a large cluster is highly nontrivial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Cluster may require special software, etc.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endParaRPr/>
          </a:p>
          <a:p>
            <a:pPr>
              <a:lnSpc>
                <a:spcPct val="81000"/>
              </a:lnSpc>
              <a:defRPr sz="2500"/>
            </a:pPr>
            <a:r>
              <a:t>Need maintenance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Someone needs to replace faulty hardware, install software upgrades, maintain user accounts, ...</a:t>
            </a:r>
          </a:p>
        </p:txBody>
      </p:sp>
      <p:sp>
        <p:nvSpPr>
          <p:cNvPr id="34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" grpId="1" build="p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Problem #3: Difficult to scale </a:t>
            </a:r>
          </a:p>
        </p:txBody>
      </p:sp>
      <p:sp>
        <p:nvSpPr>
          <p:cNvPr id="35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658938"/>
            <a:ext cx="7772400" cy="4465639"/>
          </a:xfrm>
          <a:prstGeom prst="rect">
            <a:avLst/>
          </a:prstGeom>
        </p:spPr>
        <p:txBody>
          <a:bodyPr/>
          <a:lstStyle/>
          <a:p>
            <a:r>
              <a:t>Scaling up is difficult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Need to order new machines, install them, integrate with existing cluster - can take weeks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Large scaling factors may require major redesign, e.g., new storage system, new interconnect, new building (!)</a:t>
            </a:r>
          </a:p>
          <a:p>
            <a:pPr marL="685800" lvl="1" indent="-228600">
              <a:spcBef>
                <a:spcPts val="500"/>
              </a:spcBef>
              <a:defRPr sz="2400"/>
            </a:pPr>
            <a:endParaRPr/>
          </a:p>
          <a:p>
            <a:r>
              <a:t>Scaling down is difficult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What to do with superfluous hardware?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Server idle power is about 60% of peak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t>Energy is consumed even when no work is being done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Many fixed costs, such as construction</a:t>
            </a:r>
          </a:p>
        </p:txBody>
      </p:sp>
      <p:sp>
        <p:nvSpPr>
          <p:cNvPr id="35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" grpId="1" build="p" bldLvl="5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Recap: Computing at scale</a:t>
            </a:r>
          </a:p>
        </p:txBody>
      </p:sp>
      <p:sp>
        <p:nvSpPr>
          <p:cNvPr id="35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533525"/>
            <a:ext cx="7877175" cy="4657726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Modern applications require huge amounts of processing and data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Measured in petabytes, millions of users, billions of objects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Need special hardware, algorithms, tools to work at this scale</a:t>
            </a:r>
            <a:br/>
            <a:endParaRPr/>
          </a:p>
          <a:p>
            <a:pPr>
              <a:defRPr sz="2500"/>
            </a:pPr>
            <a:r>
              <a:t>Clusters and data centers can provide the resources we need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Main difference: Scale (room-sized vs. building-sized)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Special hardware; power and cooling are big concerns</a:t>
            </a:r>
            <a:br/>
            <a:endParaRPr/>
          </a:p>
          <a:p>
            <a:pPr>
              <a:defRPr sz="2500"/>
            </a:pPr>
            <a:r>
              <a:t>Clusters and data centers are not perfect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Difficult to dimension; expensive; difficult to scale</a:t>
            </a:r>
          </a:p>
        </p:txBody>
      </p:sp>
      <p:sp>
        <p:nvSpPr>
          <p:cNvPr id="35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Plan for today</a:t>
            </a:r>
          </a:p>
        </p:txBody>
      </p:sp>
      <p:sp>
        <p:nvSpPr>
          <p:cNvPr id="36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658938"/>
            <a:ext cx="7858125" cy="4532313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t>Computing at scale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The need for scalability; scale of current services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Scaling up: From PCs to data centers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Problems with 'classical' scaling techniques </a:t>
            </a:r>
            <a:br/>
            <a:endParaRPr/>
          </a:p>
          <a:p>
            <a:pPr marL="226313" indent="-226313" defTabSz="905255">
              <a:spcBef>
                <a:spcPts val="900"/>
              </a:spcBef>
              <a:defRPr sz="2772">
                <a:solidFill>
                  <a:srgbClr val="FF9900"/>
                </a:solidFill>
              </a:defRPr>
            </a:pPr>
            <a:r>
              <a:t>Utility computing and cloud computing</a:t>
            </a:r>
          </a:p>
          <a:p>
            <a:pPr marL="678941" lvl="1" indent="-226313" defTabSz="905255">
              <a:spcBef>
                <a:spcPts val="400"/>
              </a:spcBef>
              <a:defRPr sz="2376">
                <a:solidFill>
                  <a:srgbClr val="FF9900"/>
                </a:solidFill>
              </a:defRPr>
            </a:pPr>
            <a:r>
              <a:t>What are utility computing and cloud computing?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clouds exist today?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applications run on the cloud?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Virtualization: How clouds work 'under the hood'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Some cloud computing challenges</a:t>
            </a:r>
          </a:p>
        </p:txBody>
      </p:sp>
      <p:sp>
        <p:nvSpPr>
          <p:cNvPr id="36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The power plant analogy</a:t>
            </a:r>
          </a:p>
        </p:txBody>
      </p:sp>
      <p:sp>
        <p:nvSpPr>
          <p:cNvPr id="364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791075"/>
            <a:ext cx="7848600" cy="1733550"/>
          </a:xfrm>
          <a:prstGeom prst="rect">
            <a:avLst/>
          </a:prstGeom>
        </p:spPr>
        <p:txBody>
          <a:bodyPr/>
          <a:lstStyle>
            <a:lvl1pPr marL="214884" indent="-214884" defTabSz="859536">
              <a:lnSpc>
                <a:spcPct val="81000"/>
              </a:lnSpc>
              <a:spcBef>
                <a:spcPts val="900"/>
              </a:spcBef>
              <a:defRPr sz="2632"/>
            </a:lvl1pPr>
            <a:lvl2pPr marL="644651" indent="-214884" defTabSz="859536">
              <a:lnSpc>
                <a:spcPct val="81000"/>
              </a:lnSpc>
              <a:spcBef>
                <a:spcPts val="400"/>
              </a:spcBef>
              <a:defRPr sz="2256"/>
            </a:lvl2pPr>
          </a:lstStyle>
          <a:p>
            <a:r>
              <a:t>It used to be that everyone had their own power source</a:t>
            </a:r>
          </a:p>
          <a:p>
            <a:pPr lvl="1"/>
            <a:r>
              <a:t>Challenges are similar to the cluster: Needs large up-front investment, expertise to operate, difficult to scale up/down...</a:t>
            </a:r>
          </a:p>
        </p:txBody>
      </p:sp>
      <p:sp>
        <p:nvSpPr>
          <p:cNvPr id="36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pic>
        <p:nvPicPr>
          <p:cNvPr id="36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3375" y="1504950"/>
            <a:ext cx="3975100" cy="2981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6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21270" y="2036443"/>
            <a:ext cx="3187134" cy="2116457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TextBox 8"/>
          <p:cNvSpPr txBox="1"/>
          <p:nvPr/>
        </p:nvSpPr>
        <p:spPr>
          <a:xfrm>
            <a:off x="8436915" y="4124325"/>
            <a:ext cx="1827521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"/>
              </a:spcBef>
              <a:defRPr sz="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Steam engine at Stott Park Bobbin Mill</a:t>
            </a:r>
          </a:p>
        </p:txBody>
      </p:sp>
      <p:sp>
        <p:nvSpPr>
          <p:cNvPr id="369" name="TextBox 9"/>
          <p:cNvSpPr txBox="1"/>
          <p:nvPr/>
        </p:nvSpPr>
        <p:spPr>
          <a:xfrm>
            <a:off x="4182845" y="4448175"/>
            <a:ext cx="2620428" cy="218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"/>
              </a:spcBef>
              <a:defRPr sz="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Waterwheel at the Neuhausen ob Eck Open-Air Museum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Scaling the power plant</a:t>
            </a:r>
          </a:p>
        </p:txBody>
      </p:sp>
      <p:sp>
        <p:nvSpPr>
          <p:cNvPr id="372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5133975"/>
            <a:ext cx="7772400" cy="1123950"/>
          </a:xfrm>
          <a:prstGeom prst="rect">
            <a:avLst/>
          </a:prstGeom>
        </p:spPr>
        <p:txBody>
          <a:bodyPr/>
          <a:lstStyle/>
          <a:p>
            <a:r>
              <a:t>Then people started to build large, centralized power plants with very large capacity...</a:t>
            </a:r>
          </a:p>
        </p:txBody>
      </p:sp>
      <p:sp>
        <p:nvSpPr>
          <p:cNvPr id="37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  <p:pic>
        <p:nvPicPr>
          <p:cNvPr id="37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05250" y="1533525"/>
            <a:ext cx="2438400" cy="16287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48426" y="1529620"/>
            <a:ext cx="2479146" cy="165173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14775" y="3312533"/>
            <a:ext cx="2447925" cy="1633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7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77608" y="3314700"/>
            <a:ext cx="2456843" cy="1608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Metered usage model</a:t>
            </a:r>
          </a:p>
        </p:txBody>
      </p:sp>
      <p:sp>
        <p:nvSpPr>
          <p:cNvPr id="38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343400"/>
            <a:ext cx="7772400" cy="1847850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t>Power plants are connected to customers by a network</a:t>
            </a:r>
          </a:p>
          <a:p>
            <a:pPr marL="226313" indent="-226313" defTabSz="905255">
              <a:spcBef>
                <a:spcPts val="900"/>
              </a:spcBef>
              <a:defRPr sz="2772"/>
            </a:pPr>
            <a:r>
              <a:t>Usage is metered, and everyone (basically) pays only for what they actually use</a:t>
            </a:r>
          </a:p>
        </p:txBody>
      </p:sp>
      <p:sp>
        <p:nvSpPr>
          <p:cNvPr id="38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pic>
        <p:nvPicPr>
          <p:cNvPr id="38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71775" y="1857375"/>
            <a:ext cx="2438400" cy="16287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>
            <a:off x="9679777" y="2324100"/>
            <a:ext cx="432346" cy="730225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Straight Connector 12"/>
          <p:cNvSpPr/>
          <p:nvPr/>
        </p:nvSpPr>
        <p:spPr>
          <a:xfrm>
            <a:off x="5210175" y="2675366"/>
            <a:ext cx="4469603" cy="132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solidFill>
            <a:schemeClr val="accent1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85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60205" y="2190750"/>
            <a:ext cx="778670" cy="1038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74605" y="2200275"/>
            <a:ext cx="778670" cy="1038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79481" y="2200275"/>
            <a:ext cx="778670" cy="1038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334375" y="1914525"/>
            <a:ext cx="1047750" cy="1571625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TextBox 14"/>
          <p:cNvSpPr txBox="1"/>
          <p:nvPr/>
        </p:nvSpPr>
        <p:spPr>
          <a:xfrm>
            <a:off x="3326770" y="3619500"/>
            <a:ext cx="130359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Power source</a:t>
            </a:r>
          </a:p>
        </p:txBody>
      </p:sp>
      <p:sp>
        <p:nvSpPr>
          <p:cNvPr id="390" name="TextBox 15"/>
          <p:cNvSpPr txBox="1"/>
          <p:nvPr/>
        </p:nvSpPr>
        <p:spPr>
          <a:xfrm>
            <a:off x="6334735" y="3619500"/>
            <a:ext cx="850266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Network</a:t>
            </a:r>
          </a:p>
        </p:txBody>
      </p:sp>
      <p:sp>
        <p:nvSpPr>
          <p:cNvPr id="391" name="TextBox 16"/>
          <p:cNvSpPr txBox="1"/>
          <p:nvPr/>
        </p:nvSpPr>
        <p:spPr>
          <a:xfrm>
            <a:off x="8401911" y="3571876"/>
            <a:ext cx="88787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Metering</a:t>
            </a:r>
            <a:br/>
            <a:r>
              <a:t>device</a:t>
            </a:r>
          </a:p>
        </p:txBody>
      </p:sp>
      <p:sp>
        <p:nvSpPr>
          <p:cNvPr id="392" name="TextBox 17"/>
          <p:cNvSpPr txBox="1"/>
          <p:nvPr/>
        </p:nvSpPr>
        <p:spPr>
          <a:xfrm>
            <a:off x="9471094" y="3619500"/>
            <a:ext cx="95930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Customer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Why is this a good thing?</a:t>
            </a:r>
          </a:p>
        </p:txBody>
      </p:sp>
      <p:sp>
        <p:nvSpPr>
          <p:cNvPr id="39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666875"/>
            <a:ext cx="7877175" cy="4810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t>Economies of scale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Cheaper to run one big power </a:t>
            </a:r>
            <a:br/>
            <a:r>
              <a:t>plant than many small ones</a:t>
            </a:r>
          </a:p>
          <a:p>
            <a:pPr>
              <a:lnSpc>
                <a:spcPct val="81000"/>
              </a:lnSpc>
            </a:pPr>
            <a:r>
              <a:t>Statistical multiplexing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High utilization!</a:t>
            </a:r>
          </a:p>
          <a:p>
            <a:pPr>
              <a:lnSpc>
                <a:spcPct val="81000"/>
              </a:lnSpc>
            </a:pPr>
            <a:r>
              <a:t>No up-front commitment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No investment in generator;</a:t>
            </a:r>
            <a:br/>
            <a:r>
              <a:t>pay-as-you-go model</a:t>
            </a:r>
          </a:p>
          <a:p>
            <a:pPr>
              <a:lnSpc>
                <a:spcPct val="81000"/>
              </a:lnSpc>
            </a:pPr>
            <a:r>
              <a:t>Scalability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t>Thousands of kilowatts</a:t>
            </a:r>
            <a:br/>
            <a:r>
              <a:t>available on demand; add</a:t>
            </a:r>
            <a:br/>
            <a:r>
              <a:t>more within seconds</a:t>
            </a:r>
          </a:p>
        </p:txBody>
      </p:sp>
      <p:sp>
        <p:nvSpPr>
          <p:cNvPr id="39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sp>
        <p:nvSpPr>
          <p:cNvPr id="398" name="Content Placeholder 2"/>
          <p:cNvSpPr txBox="1"/>
          <p:nvPr/>
        </p:nvSpPr>
        <p:spPr>
          <a:xfrm>
            <a:off x="6362701" y="1676400"/>
            <a:ext cx="4400551" cy="3218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algn="l">
              <a:buClr>
                <a:srgbClr val="954F72"/>
              </a:buClr>
              <a:buSzPct val="60000"/>
              <a:buChar char="■"/>
              <a:defRPr sz="2800"/>
            </a:pPr>
            <a:endParaRPr/>
          </a:p>
          <a:p>
            <a:pPr marL="742950" lvl="1" indent="-285750" algn="l">
              <a:buClr>
                <a:srgbClr val="FFFFFF"/>
              </a:buClr>
              <a:buSzPct val="55000"/>
              <a:buChar char="■"/>
              <a:defRPr>
                <a:solidFill>
                  <a:srgbClr val="33CC33"/>
                </a:solidFill>
              </a:defRPr>
            </a:pPr>
            <a:r>
              <a:t>Cheaper to run one big data </a:t>
            </a:r>
            <a:br/>
            <a:r>
              <a:t>center than many small ones</a:t>
            </a:r>
            <a:endParaRPr sz="2800"/>
          </a:p>
          <a:p>
            <a:pPr marL="742950" lvl="1" indent="-285750" algn="l">
              <a:buClr>
                <a:srgbClr val="FFFFFF"/>
              </a:buClr>
              <a:buSzPct val="55000"/>
              <a:buChar char="■"/>
              <a:defRPr>
                <a:solidFill>
                  <a:srgbClr val="33CC33"/>
                </a:solidFill>
              </a:defRPr>
            </a:pPr>
            <a:r>
              <a:t>High utilization!</a:t>
            </a:r>
            <a:endParaRPr sz="2800"/>
          </a:p>
          <a:p>
            <a:pPr marL="742950" lvl="1" indent="-285750" algn="l">
              <a:buClr>
                <a:srgbClr val="FFFFFF"/>
              </a:buClr>
              <a:buSzPct val="55000"/>
              <a:buChar char="■"/>
              <a:defRPr>
                <a:solidFill>
                  <a:srgbClr val="33CC33"/>
                </a:solidFill>
              </a:defRPr>
            </a:pPr>
            <a:r>
              <a:t>No investment in data center;</a:t>
            </a:r>
            <a:br/>
            <a:r>
              <a:t>pay-as-you-go model</a:t>
            </a:r>
            <a:endParaRPr sz="2800"/>
          </a:p>
          <a:p>
            <a:pPr marL="742950" lvl="1" indent="-285750" algn="l">
              <a:buClr>
                <a:srgbClr val="FFFFFF"/>
              </a:buClr>
              <a:buSzPct val="55000"/>
              <a:buChar char="■"/>
              <a:defRPr>
                <a:solidFill>
                  <a:srgbClr val="33CC33"/>
                </a:solidFill>
              </a:defRPr>
            </a:pPr>
            <a:r>
              <a:t>Thousands of computers available on demand; add</a:t>
            </a:r>
            <a:br/>
            <a:r>
              <a:t>more within seconds</a:t>
            </a:r>
          </a:p>
        </p:txBody>
      </p:sp>
      <p:sp>
        <p:nvSpPr>
          <p:cNvPr id="399" name="Content Placeholder 2"/>
          <p:cNvSpPr txBox="1"/>
          <p:nvPr/>
        </p:nvSpPr>
        <p:spPr>
          <a:xfrm>
            <a:off x="1523999" y="1310629"/>
            <a:ext cx="317182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defRPr>
                <a:solidFill>
                  <a:srgbClr val="00CC00"/>
                </a:solidFill>
              </a:defRPr>
            </a:lvl1pPr>
          </a:lstStyle>
          <a:p>
            <a:r>
              <a:t>Electricity</a:t>
            </a:r>
          </a:p>
        </p:txBody>
      </p:sp>
      <p:sp>
        <p:nvSpPr>
          <p:cNvPr id="400" name="Content Placeholder 2"/>
          <p:cNvSpPr txBox="1"/>
          <p:nvPr/>
        </p:nvSpPr>
        <p:spPr>
          <a:xfrm>
            <a:off x="6145088" y="1319213"/>
            <a:ext cx="3171825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defRPr>
                <a:solidFill>
                  <a:srgbClr val="00CC00"/>
                </a:solidFill>
              </a:defRPr>
            </a:lvl1pPr>
          </a:lstStyle>
          <a:p>
            <a:r>
              <a:t>Computing</a:t>
            </a:r>
          </a:p>
        </p:txBody>
      </p:sp>
      <p:grpSp>
        <p:nvGrpSpPr>
          <p:cNvPr id="405" name="Group 39"/>
          <p:cNvGrpSpPr/>
          <p:nvPr/>
        </p:nvGrpSpPr>
        <p:grpSpPr>
          <a:xfrm>
            <a:off x="8850421" y="1156823"/>
            <a:ext cx="946759" cy="673305"/>
            <a:chOff x="0" y="0"/>
            <a:chExt cx="946758" cy="673304"/>
          </a:xfrm>
        </p:grpSpPr>
        <p:sp>
          <p:nvSpPr>
            <p:cNvPr id="401" name="Cloud"/>
            <p:cNvSpPr/>
            <p:nvPr/>
          </p:nvSpPr>
          <p:spPr>
            <a:xfrm rot="268469">
              <a:off x="22214" y="34276"/>
              <a:ext cx="902330" cy="6047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949" y="7181"/>
                  </a:moveTo>
                  <a:cubicBezTo>
                    <a:pt x="841" y="7337"/>
                    <a:pt x="0" y="8614"/>
                    <a:pt x="0" y="10138"/>
                  </a:cubicBezTo>
                  <a:cubicBezTo>
                    <a:pt x="-1" y="11193"/>
                    <a:pt x="409" y="12170"/>
                    <a:pt x="1074" y="12703"/>
                  </a:cubicBezTo>
                  <a:lnTo>
                    <a:pt x="1063" y="12669"/>
                  </a:lnTo>
                  <a:cubicBezTo>
                    <a:pt x="685" y="13218"/>
                    <a:pt x="475" y="13941"/>
                    <a:pt x="475" y="14691"/>
                  </a:cubicBezTo>
                  <a:cubicBezTo>
                    <a:pt x="475" y="16327"/>
                    <a:pt x="1451" y="17652"/>
                    <a:pt x="2655" y="17652"/>
                  </a:cubicBezTo>
                  <a:cubicBezTo>
                    <a:pt x="2739" y="17652"/>
                    <a:pt x="2824" y="17645"/>
                    <a:pt x="2909" y="17631"/>
                  </a:cubicBezTo>
                  <a:lnTo>
                    <a:pt x="2897" y="17651"/>
                  </a:lnTo>
                  <a:cubicBezTo>
                    <a:pt x="3585" y="19290"/>
                    <a:pt x="4863" y="20302"/>
                    <a:pt x="6248" y="20302"/>
                  </a:cubicBezTo>
                  <a:cubicBezTo>
                    <a:pt x="6948" y="20301"/>
                    <a:pt x="7636" y="20041"/>
                    <a:pt x="8236" y="19548"/>
                  </a:cubicBezTo>
                  <a:lnTo>
                    <a:pt x="8230" y="19552"/>
                  </a:lnTo>
                  <a:cubicBezTo>
                    <a:pt x="8856" y="20831"/>
                    <a:pt x="9909" y="21599"/>
                    <a:pt x="11037" y="21599"/>
                  </a:cubicBezTo>
                  <a:cubicBezTo>
                    <a:pt x="12524" y="21598"/>
                    <a:pt x="13837" y="20269"/>
                    <a:pt x="14268" y="18326"/>
                  </a:cubicBezTo>
                  <a:lnTo>
                    <a:pt x="14271" y="18352"/>
                  </a:lnTo>
                  <a:cubicBezTo>
                    <a:pt x="14731" y="18742"/>
                    <a:pt x="15261" y="18949"/>
                    <a:pt x="15803" y="18949"/>
                  </a:cubicBezTo>
                  <a:cubicBezTo>
                    <a:pt x="17392" y="18948"/>
                    <a:pt x="18684" y="17207"/>
                    <a:pt x="18696" y="15046"/>
                  </a:cubicBezTo>
                  <a:lnTo>
                    <a:pt x="18691" y="15036"/>
                  </a:lnTo>
                  <a:cubicBezTo>
                    <a:pt x="20359" y="14711"/>
                    <a:pt x="21599" y="12766"/>
                    <a:pt x="21599" y="10473"/>
                  </a:cubicBezTo>
                  <a:cubicBezTo>
                    <a:pt x="21599" y="9457"/>
                    <a:pt x="21352" y="8470"/>
                    <a:pt x="20898" y="7664"/>
                  </a:cubicBezTo>
                  <a:lnTo>
                    <a:pt x="20891" y="7662"/>
                  </a:lnTo>
                  <a:cubicBezTo>
                    <a:pt x="21033" y="7209"/>
                    <a:pt x="21107" y="6722"/>
                    <a:pt x="21107" y="6229"/>
                  </a:cubicBezTo>
                  <a:cubicBezTo>
                    <a:pt x="21107" y="4588"/>
                    <a:pt x="20301" y="3150"/>
                    <a:pt x="19141" y="2719"/>
                  </a:cubicBezTo>
                  <a:lnTo>
                    <a:pt x="19150" y="2712"/>
                  </a:lnTo>
                  <a:cubicBezTo>
                    <a:pt x="18942" y="1142"/>
                    <a:pt x="17935" y="0"/>
                    <a:pt x="16760" y="0"/>
                  </a:cubicBezTo>
                  <a:cubicBezTo>
                    <a:pt x="16045" y="-1"/>
                    <a:pt x="15368" y="426"/>
                    <a:pt x="14906" y="1165"/>
                  </a:cubicBezTo>
                  <a:lnTo>
                    <a:pt x="14910" y="1170"/>
                  </a:lnTo>
                  <a:cubicBezTo>
                    <a:pt x="14498" y="432"/>
                    <a:pt x="13856" y="0"/>
                    <a:pt x="13175" y="0"/>
                  </a:cubicBezTo>
                  <a:cubicBezTo>
                    <a:pt x="12348" y="-1"/>
                    <a:pt x="11591" y="637"/>
                    <a:pt x="11222" y="1645"/>
                  </a:cubicBezTo>
                  <a:lnTo>
                    <a:pt x="11230" y="1694"/>
                  </a:lnTo>
                  <a:cubicBezTo>
                    <a:pt x="10731" y="1024"/>
                    <a:pt x="10059" y="650"/>
                    <a:pt x="9359" y="650"/>
                  </a:cubicBezTo>
                  <a:cubicBezTo>
                    <a:pt x="8373" y="649"/>
                    <a:pt x="7467" y="1391"/>
                    <a:pt x="7004" y="2578"/>
                  </a:cubicBezTo>
                  <a:lnTo>
                    <a:pt x="6996" y="2602"/>
                  </a:lnTo>
                  <a:cubicBezTo>
                    <a:pt x="6478" y="2189"/>
                    <a:pt x="5889" y="1972"/>
                    <a:pt x="5288" y="1972"/>
                  </a:cubicBezTo>
                  <a:cubicBezTo>
                    <a:pt x="3423" y="1972"/>
                    <a:pt x="1912" y="4029"/>
                    <a:pt x="1912" y="6568"/>
                  </a:cubicBezTo>
                  <a:cubicBezTo>
                    <a:pt x="1911" y="6775"/>
                    <a:pt x="1922" y="6982"/>
                    <a:pt x="1942" y="7187"/>
                  </a:cubicBezTo>
                  <a:close/>
                </a:path>
              </a:pathLst>
            </a:custGeom>
            <a:solidFill>
              <a:srgbClr val="FFBE7D"/>
            </a:solidFill>
            <a:ln w="12700" cap="flat">
              <a:noFill/>
              <a:miter lim="400000"/>
            </a:ln>
            <a:effectLst>
              <a:outerShdw blurRad="50800" dist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pic>
          <p:nvPicPr>
            <p:cNvPr id="402" name="Picture 51" descr="Picture 5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91948" y="150225"/>
              <a:ext cx="342630" cy="3426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3" name="Picture 51" descr="Picture 5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10296" y="154656"/>
              <a:ext cx="342630" cy="3426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4" name="Picture 51" descr="Picture 5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8643" y="159087"/>
              <a:ext cx="342630" cy="3426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" grpId="1" build="p" animBg="1" advAuto="0"/>
      <p:bldP spid="398" grpId="3" animBg="1" advAuto="0"/>
      <p:bldP spid="399" grpId="2" animBg="1" advAuto="0"/>
      <p:bldP spid="400" grpId="4" animBg="1" advAuto="0"/>
      <p:bldP spid="405" grpId="5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 is cloud computing?</a:t>
            </a:r>
          </a:p>
        </p:txBody>
      </p:sp>
      <p:pic>
        <p:nvPicPr>
          <p:cNvPr id="408" name="Content Placeholder 5" descr="Content Placeholder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0767" y="2710937"/>
            <a:ext cx="6624372" cy="2058288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  <p:sp>
        <p:nvSpPr>
          <p:cNvPr id="410" name="TextBox 6"/>
          <p:cNvSpPr txBox="1"/>
          <p:nvPr/>
        </p:nvSpPr>
        <p:spPr>
          <a:xfrm rot="16200000">
            <a:off x="9586676" y="912908"/>
            <a:ext cx="195020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"/>
              </a:spcBef>
              <a:defRPr sz="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http://www.dilbert.com/fast/2013-06-29/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" grpId="1" animBg="1" advAuto="0"/>
      <p:bldP spid="410" grpId="2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 is cloud computing?</a:t>
            </a:r>
          </a:p>
        </p:txBody>
      </p:sp>
      <p:sp>
        <p:nvSpPr>
          <p:cNvPr id="41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  <p:sp>
        <p:nvSpPr>
          <p:cNvPr id="414" name="TextBox 7"/>
          <p:cNvSpPr txBox="1"/>
          <p:nvPr/>
        </p:nvSpPr>
        <p:spPr>
          <a:xfrm>
            <a:off x="2835069" y="1952625"/>
            <a:ext cx="7223333" cy="179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l">
              <a:defRPr>
                <a:latin typeface="Tahoma"/>
                <a:ea typeface="Tahoma"/>
                <a:cs typeface="Tahoma"/>
                <a:sym typeface="Tahoma"/>
              </a:defRPr>
            </a:pPr>
            <a:r>
              <a:t>The interesting thing about Cloud Computing is that we've </a:t>
            </a:r>
            <a:br/>
            <a:r>
              <a:t>redefined Cloud Computing to include everything that we </a:t>
            </a:r>
            <a:br/>
            <a:r>
              <a:t>already do.... I don't understand what we would do differently </a:t>
            </a:r>
            <a:br/>
            <a:r>
              <a:t>in the light of Cloud Computing other than change the </a:t>
            </a:r>
            <a:br/>
            <a:r>
              <a:t>wording of some of our ads.</a:t>
            </a:r>
            <a:br/>
            <a:r>
              <a:rPr sz="1200"/>
              <a:t>                                                   Larry Ellison, quoted in the Wall Street Journal, September 26, 2008</a:t>
            </a:r>
          </a:p>
        </p:txBody>
      </p:sp>
      <p:sp>
        <p:nvSpPr>
          <p:cNvPr id="415" name="TextBox 8"/>
          <p:cNvSpPr txBox="1"/>
          <p:nvPr/>
        </p:nvSpPr>
        <p:spPr>
          <a:xfrm>
            <a:off x="2882694" y="4305301"/>
            <a:ext cx="7223333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l">
              <a:defRPr>
                <a:latin typeface="Tahoma"/>
                <a:ea typeface="Tahoma"/>
                <a:cs typeface="Tahoma"/>
                <a:sym typeface="Tahoma"/>
              </a:defRPr>
            </a:pPr>
            <a:r>
              <a:t>A lot of people are jumping on the [cloud] bandwagon, but</a:t>
            </a:r>
            <a:br/>
            <a:r>
              <a:t>I have not heard two people say the same thing about it.</a:t>
            </a:r>
            <a:br/>
            <a:r>
              <a:t>There are multiple definitions out there of "the cloud".</a:t>
            </a:r>
            <a:br/>
            <a:r>
              <a:rPr sz="1200"/>
              <a:t>                                                            Andy Isherwood, quoted in ZDnet News, December 11, 2008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" grpId="1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So what is it, really?</a:t>
            </a:r>
          </a:p>
        </p:txBody>
      </p:sp>
      <p:sp>
        <p:nvSpPr>
          <p:cNvPr id="4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544637"/>
            <a:ext cx="7772400" cy="453231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According to NIST:</a:t>
            </a:r>
          </a:p>
          <a:p>
            <a:pPr>
              <a:lnSpc>
                <a:spcPct val="81000"/>
              </a:lnSpc>
              <a:defRPr sz="2500"/>
            </a:pPr>
            <a:endParaRPr/>
          </a:p>
          <a:p>
            <a:pPr>
              <a:lnSpc>
                <a:spcPct val="81000"/>
              </a:lnSpc>
              <a:defRPr sz="2500"/>
            </a:pPr>
            <a:endParaRPr/>
          </a:p>
          <a:p>
            <a:pPr>
              <a:lnSpc>
                <a:spcPct val="81000"/>
              </a:lnSpc>
              <a:defRPr sz="2500"/>
            </a:pPr>
            <a:endParaRPr/>
          </a:p>
          <a:p>
            <a:pPr>
              <a:lnSpc>
                <a:spcPct val="81000"/>
              </a:lnSpc>
              <a:defRPr sz="2500"/>
            </a:pPr>
            <a:endParaRPr/>
          </a:p>
          <a:p>
            <a:pPr>
              <a:lnSpc>
                <a:spcPct val="81000"/>
              </a:lnSpc>
              <a:defRPr sz="2500"/>
            </a:pPr>
            <a:r>
              <a:t>Essential characteristics: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On-demand self service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Broad network access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Resource pooling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Rapid elasticity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Measured service</a:t>
            </a:r>
          </a:p>
        </p:txBody>
      </p:sp>
      <p:sp>
        <p:nvSpPr>
          <p:cNvPr id="41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sp>
        <p:nvSpPr>
          <p:cNvPr id="420" name="TextBox 5"/>
          <p:cNvSpPr txBox="1"/>
          <p:nvPr/>
        </p:nvSpPr>
        <p:spPr>
          <a:xfrm>
            <a:off x="3295650" y="1871801"/>
            <a:ext cx="6991350" cy="176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l">
              <a:defRPr sz="1800">
                <a:latin typeface="Tahoma"/>
                <a:ea typeface="Tahoma"/>
                <a:cs typeface="Tahoma"/>
                <a:sym typeface="Tahoma"/>
              </a:defRPr>
            </a:pPr>
            <a:r>
              <a:t>Cloud computing is a model for enabling convenient, </a:t>
            </a:r>
            <a:br/>
            <a:r>
              <a:t>on-demand network access to a shared pool of configurable </a:t>
            </a:r>
            <a:br/>
            <a:r>
              <a:t>computing resources (e.g., networks, servers, storage, </a:t>
            </a:r>
            <a:br/>
            <a:r>
              <a:t>applications, and services) that can be rapidly provisioned </a:t>
            </a:r>
            <a:br/>
            <a:r>
              <a:t>and released with minimal management effort or </a:t>
            </a:r>
            <a:br/>
            <a:r>
              <a:t>service provider interaction.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4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" grpId="1" build="p" bldLvl="5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itle 1"/>
          <p:cNvSpPr txBox="1">
            <a:spLocks noGrp="1"/>
          </p:cNvSpPr>
          <p:nvPr>
            <p:ph type="title"/>
          </p:nvPr>
        </p:nvSpPr>
        <p:spPr>
          <a:xfrm>
            <a:off x="3016469" y="624110"/>
            <a:ext cx="7483366" cy="77376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Other terms you may have heard</a:t>
            </a:r>
          </a:p>
        </p:txBody>
      </p:sp>
      <p:sp>
        <p:nvSpPr>
          <p:cNvPr id="42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552575"/>
            <a:ext cx="7772400" cy="4781550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Utility computing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The service being sold by a cloud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Focuses on the business model (pay-as-you-go), similar to classical utility companies</a:t>
            </a:r>
          </a:p>
          <a:p>
            <a:pPr marL="685800" lvl="1" indent="-228600">
              <a:spcBef>
                <a:spcPts val="500"/>
              </a:spcBef>
              <a:defRPr sz="2200"/>
            </a:pPr>
            <a:endParaRPr/>
          </a:p>
          <a:p>
            <a:pPr>
              <a:defRPr sz="2500"/>
            </a:pPr>
            <a:r>
              <a:t>The Web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The Internet's information sharing model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Some web services run on clouds, but not all</a:t>
            </a:r>
          </a:p>
          <a:p>
            <a:pPr marL="685800" lvl="1" indent="-228600">
              <a:spcBef>
                <a:spcPts val="500"/>
              </a:spcBef>
              <a:defRPr sz="2200"/>
            </a:pPr>
            <a:endParaRPr/>
          </a:p>
          <a:p>
            <a:pPr>
              <a:defRPr sz="2500"/>
            </a:pPr>
            <a:r>
              <a:t>The Internet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A network of networks.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Used by the web; connects (most) clouds to their customers</a:t>
            </a:r>
          </a:p>
        </p:txBody>
      </p:sp>
      <p:sp>
        <p:nvSpPr>
          <p:cNvPr id="42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Plan for today</a:t>
            </a:r>
          </a:p>
        </p:txBody>
      </p:sp>
      <p:sp>
        <p:nvSpPr>
          <p:cNvPr id="42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658938"/>
            <a:ext cx="7858125" cy="4532313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t>Computing at scale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The need for scalability; scale of current services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Scaling up: From PCs to data centers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Problems with 'classical' scaling techniques </a:t>
            </a:r>
            <a:br/>
            <a:endParaRPr/>
          </a:p>
          <a:p>
            <a:pPr marL="226313" indent="-226313" defTabSz="905255">
              <a:spcBef>
                <a:spcPts val="900"/>
              </a:spcBef>
              <a:defRPr sz="2772"/>
            </a:pPr>
            <a:r>
              <a:t>Utility computing and cloud computing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are utility computing and cloud computing?</a:t>
            </a:r>
          </a:p>
          <a:p>
            <a:pPr marL="678941" lvl="1" indent="-226313" defTabSz="905255">
              <a:spcBef>
                <a:spcPts val="400"/>
              </a:spcBef>
              <a:defRPr sz="2376">
                <a:solidFill>
                  <a:srgbClr val="FF9900"/>
                </a:solidFill>
              </a:defRPr>
            </a:pPr>
            <a:r>
              <a:t>What kinds of clouds exist today?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applications run on the cloud?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Virtualization: How clouds work 'under the hood'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Some cloud computing challenges</a:t>
            </a:r>
          </a:p>
        </p:txBody>
      </p:sp>
      <p:sp>
        <p:nvSpPr>
          <p:cNvPr id="42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Everything as a Service</a:t>
            </a:r>
          </a:p>
        </p:txBody>
      </p:sp>
      <p:sp>
        <p:nvSpPr>
          <p:cNvPr id="43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658938"/>
            <a:ext cx="7772400" cy="485840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What kind of service does the cloud provide?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Does it offer an entire application, or just resources?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If resources, what kind / level of abstraction?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endParaRPr/>
          </a:p>
          <a:p>
            <a:pPr>
              <a:lnSpc>
                <a:spcPct val="81000"/>
              </a:lnSpc>
              <a:defRPr sz="2500"/>
            </a:pPr>
            <a:r>
              <a:t>Three types commonly distinguished: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Software as a service (SaaS)</a:t>
            </a:r>
          </a:p>
          <a:p>
            <a:pPr marL="1143000" lvl="2" indent="-228600">
              <a:lnSpc>
                <a:spcPct val="81000"/>
              </a:lnSpc>
              <a:spcBef>
                <a:spcPts val="500"/>
              </a:spcBef>
              <a:defRPr sz="1800"/>
            </a:pPr>
            <a:r>
              <a:t>Analogy: Restaurant. Prepares&amp;serves entire meal, does the dishes, ...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Platform as a service (PaaS)</a:t>
            </a:r>
          </a:p>
          <a:p>
            <a:pPr marL="1143000" lvl="2" indent="-228600">
              <a:lnSpc>
                <a:spcPct val="81000"/>
              </a:lnSpc>
              <a:spcBef>
                <a:spcPts val="500"/>
              </a:spcBef>
              <a:defRPr sz="1800"/>
            </a:pPr>
            <a:r>
              <a:t>Analogy: Take-out food. Prepares meal, but does not serve it. 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Infrastructure as a service (IaaS)</a:t>
            </a:r>
          </a:p>
          <a:p>
            <a:pPr marL="1143000" lvl="2" indent="-228600">
              <a:lnSpc>
                <a:spcPct val="81000"/>
              </a:lnSpc>
              <a:spcBef>
                <a:spcPts val="500"/>
              </a:spcBef>
              <a:defRPr sz="1800"/>
            </a:pPr>
            <a:r>
              <a:t>Analogy: Grocery store. Provides raw ingredients.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Other xaaS types have been defined, but are less common</a:t>
            </a:r>
          </a:p>
          <a:p>
            <a:pPr marL="1143000" lvl="2" indent="-228600">
              <a:lnSpc>
                <a:spcPct val="81000"/>
              </a:lnSpc>
              <a:spcBef>
                <a:spcPts val="500"/>
              </a:spcBef>
              <a:defRPr sz="1800"/>
            </a:pPr>
            <a:r>
              <a:t>Desktop, Backend, Communication, Network, Monitoring, ...</a:t>
            </a:r>
          </a:p>
        </p:txBody>
      </p:sp>
      <p:sp>
        <p:nvSpPr>
          <p:cNvPr id="43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" grpId="1" build="p" bldLvl="5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Software as a Service (SaaS)</a:t>
            </a:r>
          </a:p>
        </p:txBody>
      </p:sp>
      <p:sp>
        <p:nvSpPr>
          <p:cNvPr id="435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638674"/>
            <a:ext cx="7772400" cy="1704976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t>Cloud provides an entire application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Word processor, spreadsheet, CRM software, calendar...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Customer pays cloud provider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Example: Google Apps, Salesforce.com</a:t>
            </a:r>
          </a:p>
        </p:txBody>
      </p:sp>
      <p:sp>
        <p:nvSpPr>
          <p:cNvPr id="43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p:pic>
        <p:nvPicPr>
          <p:cNvPr id="4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33675" y="3358052"/>
            <a:ext cx="534988" cy="534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57664" y="1708150"/>
            <a:ext cx="541338" cy="5413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43" name="Group 39"/>
          <p:cNvGrpSpPr/>
          <p:nvPr/>
        </p:nvGrpSpPr>
        <p:grpSpPr>
          <a:xfrm>
            <a:off x="3479680" y="2617122"/>
            <a:ext cx="2035163" cy="1447343"/>
            <a:chOff x="0" y="0"/>
            <a:chExt cx="2035162" cy="1447341"/>
          </a:xfrm>
        </p:grpSpPr>
        <p:sp>
          <p:nvSpPr>
            <p:cNvPr id="439" name="Cloud"/>
            <p:cNvSpPr/>
            <p:nvPr/>
          </p:nvSpPr>
          <p:spPr>
            <a:xfrm rot="268469">
              <a:off x="47753" y="73680"/>
              <a:ext cx="1939656" cy="12999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949" y="7181"/>
                  </a:moveTo>
                  <a:cubicBezTo>
                    <a:pt x="841" y="7337"/>
                    <a:pt x="0" y="8614"/>
                    <a:pt x="0" y="10138"/>
                  </a:cubicBezTo>
                  <a:cubicBezTo>
                    <a:pt x="-1" y="11193"/>
                    <a:pt x="409" y="12170"/>
                    <a:pt x="1074" y="12703"/>
                  </a:cubicBezTo>
                  <a:lnTo>
                    <a:pt x="1063" y="12669"/>
                  </a:lnTo>
                  <a:cubicBezTo>
                    <a:pt x="685" y="13218"/>
                    <a:pt x="475" y="13941"/>
                    <a:pt x="475" y="14691"/>
                  </a:cubicBezTo>
                  <a:cubicBezTo>
                    <a:pt x="475" y="16327"/>
                    <a:pt x="1451" y="17652"/>
                    <a:pt x="2655" y="17652"/>
                  </a:cubicBezTo>
                  <a:cubicBezTo>
                    <a:pt x="2739" y="17652"/>
                    <a:pt x="2824" y="17645"/>
                    <a:pt x="2909" y="17631"/>
                  </a:cubicBezTo>
                  <a:lnTo>
                    <a:pt x="2897" y="17651"/>
                  </a:lnTo>
                  <a:cubicBezTo>
                    <a:pt x="3585" y="19290"/>
                    <a:pt x="4863" y="20302"/>
                    <a:pt x="6248" y="20302"/>
                  </a:cubicBezTo>
                  <a:cubicBezTo>
                    <a:pt x="6948" y="20301"/>
                    <a:pt x="7636" y="20041"/>
                    <a:pt x="8236" y="19548"/>
                  </a:cubicBezTo>
                  <a:lnTo>
                    <a:pt x="8230" y="19552"/>
                  </a:lnTo>
                  <a:cubicBezTo>
                    <a:pt x="8856" y="20831"/>
                    <a:pt x="9909" y="21599"/>
                    <a:pt x="11037" y="21599"/>
                  </a:cubicBezTo>
                  <a:cubicBezTo>
                    <a:pt x="12524" y="21598"/>
                    <a:pt x="13837" y="20269"/>
                    <a:pt x="14268" y="18326"/>
                  </a:cubicBezTo>
                  <a:lnTo>
                    <a:pt x="14271" y="18352"/>
                  </a:lnTo>
                  <a:cubicBezTo>
                    <a:pt x="14731" y="18742"/>
                    <a:pt x="15261" y="18949"/>
                    <a:pt x="15803" y="18949"/>
                  </a:cubicBezTo>
                  <a:cubicBezTo>
                    <a:pt x="17392" y="18948"/>
                    <a:pt x="18684" y="17207"/>
                    <a:pt x="18696" y="15046"/>
                  </a:cubicBezTo>
                  <a:lnTo>
                    <a:pt x="18691" y="15036"/>
                  </a:lnTo>
                  <a:cubicBezTo>
                    <a:pt x="20359" y="14711"/>
                    <a:pt x="21599" y="12766"/>
                    <a:pt x="21599" y="10473"/>
                  </a:cubicBezTo>
                  <a:cubicBezTo>
                    <a:pt x="21599" y="9457"/>
                    <a:pt x="21352" y="8470"/>
                    <a:pt x="20898" y="7664"/>
                  </a:cubicBezTo>
                  <a:lnTo>
                    <a:pt x="20891" y="7662"/>
                  </a:lnTo>
                  <a:cubicBezTo>
                    <a:pt x="21033" y="7209"/>
                    <a:pt x="21107" y="6722"/>
                    <a:pt x="21107" y="6229"/>
                  </a:cubicBezTo>
                  <a:cubicBezTo>
                    <a:pt x="21107" y="4588"/>
                    <a:pt x="20301" y="3150"/>
                    <a:pt x="19141" y="2719"/>
                  </a:cubicBezTo>
                  <a:lnTo>
                    <a:pt x="19150" y="2712"/>
                  </a:lnTo>
                  <a:cubicBezTo>
                    <a:pt x="18942" y="1142"/>
                    <a:pt x="17935" y="0"/>
                    <a:pt x="16760" y="0"/>
                  </a:cubicBezTo>
                  <a:cubicBezTo>
                    <a:pt x="16045" y="-1"/>
                    <a:pt x="15368" y="426"/>
                    <a:pt x="14906" y="1165"/>
                  </a:cubicBezTo>
                  <a:lnTo>
                    <a:pt x="14910" y="1170"/>
                  </a:lnTo>
                  <a:cubicBezTo>
                    <a:pt x="14498" y="432"/>
                    <a:pt x="13856" y="0"/>
                    <a:pt x="13175" y="0"/>
                  </a:cubicBezTo>
                  <a:cubicBezTo>
                    <a:pt x="12348" y="-1"/>
                    <a:pt x="11591" y="637"/>
                    <a:pt x="11222" y="1645"/>
                  </a:cubicBezTo>
                  <a:lnTo>
                    <a:pt x="11230" y="1694"/>
                  </a:lnTo>
                  <a:cubicBezTo>
                    <a:pt x="10731" y="1024"/>
                    <a:pt x="10059" y="650"/>
                    <a:pt x="9359" y="650"/>
                  </a:cubicBezTo>
                  <a:cubicBezTo>
                    <a:pt x="8373" y="649"/>
                    <a:pt x="7467" y="1391"/>
                    <a:pt x="7004" y="2578"/>
                  </a:cubicBezTo>
                  <a:lnTo>
                    <a:pt x="6996" y="2602"/>
                  </a:lnTo>
                  <a:cubicBezTo>
                    <a:pt x="6478" y="2189"/>
                    <a:pt x="5889" y="1972"/>
                    <a:pt x="5288" y="1972"/>
                  </a:cubicBezTo>
                  <a:cubicBezTo>
                    <a:pt x="3423" y="1972"/>
                    <a:pt x="1912" y="4029"/>
                    <a:pt x="1912" y="6568"/>
                  </a:cubicBezTo>
                  <a:cubicBezTo>
                    <a:pt x="1911" y="6775"/>
                    <a:pt x="1922" y="6982"/>
                    <a:pt x="1942" y="7187"/>
                  </a:cubicBezTo>
                  <a:close/>
                </a:path>
              </a:pathLst>
            </a:custGeom>
            <a:solidFill>
              <a:srgbClr val="FFBE7D"/>
            </a:solidFill>
            <a:ln w="12700" cap="flat">
              <a:noFill/>
              <a:miter lim="400000"/>
            </a:ln>
            <a:effectLst>
              <a:outerShdw blurRad="50800" dist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pic>
          <p:nvPicPr>
            <p:cNvPr id="440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057498" y="32292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1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667015" y="332451"/>
              <a:ext cx="736521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42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76533" y="34197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44" name="TextBox 13"/>
          <p:cNvSpPr txBox="1"/>
          <p:nvPr/>
        </p:nvSpPr>
        <p:spPr>
          <a:xfrm>
            <a:off x="2643427" y="3857624"/>
            <a:ext cx="746236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t>Cloud</a:t>
            </a:r>
            <a:br/>
            <a:r>
              <a:t>provider</a:t>
            </a:r>
          </a:p>
        </p:txBody>
      </p:sp>
      <p:sp>
        <p:nvSpPr>
          <p:cNvPr id="445" name="TextBox 14"/>
          <p:cNvSpPr txBox="1"/>
          <p:nvPr/>
        </p:nvSpPr>
        <p:spPr>
          <a:xfrm>
            <a:off x="4216421" y="1447800"/>
            <a:ext cx="45774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User</a:t>
            </a:r>
          </a:p>
        </p:txBody>
      </p:sp>
      <p:grpSp>
        <p:nvGrpSpPr>
          <p:cNvPr id="448" name="Rectangle 15"/>
          <p:cNvGrpSpPr/>
          <p:nvPr/>
        </p:nvGrpSpPr>
        <p:grpSpPr>
          <a:xfrm>
            <a:off x="7038975" y="3473768"/>
            <a:ext cx="2400301" cy="396241"/>
            <a:chOff x="0" y="0"/>
            <a:chExt cx="2400300" cy="396240"/>
          </a:xfrm>
        </p:grpSpPr>
        <p:sp>
          <p:nvSpPr>
            <p:cNvPr id="446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47" name="Hardware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Hardware</a:t>
              </a:r>
            </a:p>
          </p:txBody>
        </p:sp>
      </p:grpSp>
      <p:grpSp>
        <p:nvGrpSpPr>
          <p:cNvPr id="451" name="Rectangle 17"/>
          <p:cNvGrpSpPr/>
          <p:nvPr/>
        </p:nvGrpSpPr>
        <p:grpSpPr>
          <a:xfrm>
            <a:off x="7038975" y="2968943"/>
            <a:ext cx="2400301" cy="396241"/>
            <a:chOff x="0" y="0"/>
            <a:chExt cx="2400300" cy="396240"/>
          </a:xfrm>
        </p:grpSpPr>
        <p:sp>
          <p:nvSpPr>
            <p:cNvPr id="449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50" name="Middleware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Middleware</a:t>
              </a:r>
            </a:p>
          </p:txBody>
        </p:sp>
      </p:grpSp>
      <p:grpSp>
        <p:nvGrpSpPr>
          <p:cNvPr id="454" name="Rectangle 18"/>
          <p:cNvGrpSpPr/>
          <p:nvPr/>
        </p:nvGrpSpPr>
        <p:grpSpPr>
          <a:xfrm>
            <a:off x="7038975" y="2464118"/>
            <a:ext cx="2400301" cy="396241"/>
            <a:chOff x="0" y="0"/>
            <a:chExt cx="2400300" cy="396240"/>
          </a:xfrm>
        </p:grpSpPr>
        <p:sp>
          <p:nvSpPr>
            <p:cNvPr id="452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53" name="Application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Application</a:t>
              </a:r>
            </a:p>
          </p:txBody>
        </p:sp>
      </p:grpSp>
      <p:sp>
        <p:nvSpPr>
          <p:cNvPr id="455" name="Oval 19"/>
          <p:cNvSpPr/>
          <p:nvPr/>
        </p:nvSpPr>
        <p:spPr>
          <a:xfrm>
            <a:off x="6362701" y="2124075"/>
            <a:ext cx="3705227" cy="2085977"/>
          </a:xfrm>
          <a:prstGeom prst="ellipse">
            <a:avLst/>
          </a:prstGeom>
          <a:ln w="19050">
            <a:solidFill>
              <a:srgbClr val="000000"/>
            </a:solidFill>
            <a:prstDash val="dash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456" name="Straight Connector 21"/>
          <p:cNvSpPr/>
          <p:nvPr/>
        </p:nvSpPr>
        <p:spPr>
          <a:xfrm flipV="1">
            <a:off x="5162551" y="2305050"/>
            <a:ext cx="2009776" cy="733426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7" name="Straight Connector 22"/>
          <p:cNvSpPr/>
          <p:nvPr/>
        </p:nvSpPr>
        <p:spPr>
          <a:xfrm>
            <a:off x="5181600" y="3505201"/>
            <a:ext cx="2457451" cy="657226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8" name="Straight Arrow Connector 26"/>
          <p:cNvSpPr/>
          <p:nvPr/>
        </p:nvSpPr>
        <p:spPr>
          <a:xfrm flipH="1">
            <a:off x="8019255" y="1924843"/>
            <a:ext cx="1589" cy="53340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9" name="Straight Arrow Connector 27"/>
          <p:cNvSpPr/>
          <p:nvPr/>
        </p:nvSpPr>
        <p:spPr>
          <a:xfrm flipH="1">
            <a:off x="8390730" y="1934368"/>
            <a:ext cx="1589" cy="533402"/>
          </a:xfrm>
          <a:prstGeom prst="line">
            <a:avLst/>
          </a:prstGeom>
          <a:ln w="19050">
            <a:solidFill>
              <a:srgbClr val="000000"/>
            </a:solidFill>
            <a:head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0" name="Straight Arrow Connector 31"/>
          <p:cNvSpPr/>
          <p:nvPr/>
        </p:nvSpPr>
        <p:spPr>
          <a:xfrm>
            <a:off x="4391026" y="2305048"/>
            <a:ext cx="28577" cy="4095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1" name="Straight Arrow Connector 33"/>
          <p:cNvSpPr/>
          <p:nvPr/>
        </p:nvSpPr>
        <p:spPr>
          <a:xfrm flipV="1">
            <a:off x="4542306" y="2257428"/>
            <a:ext cx="1122" cy="509479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4" name="Straight Arrow Connector 39"/>
          <p:cNvSpPr/>
          <p:nvPr/>
        </p:nvSpPr>
        <p:spPr>
          <a:xfrm>
            <a:off x="3135953" y="2172030"/>
            <a:ext cx="1123156" cy="1294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463" name="Picture 35" descr="Picture 3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971800" y="1990725"/>
            <a:ext cx="685800" cy="685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itle 1"/>
          <p:cNvSpPr txBox="1">
            <a:spLocks noGrp="1"/>
          </p:cNvSpPr>
          <p:nvPr>
            <p:ph type="title"/>
          </p:nvPr>
        </p:nvSpPr>
        <p:spPr>
          <a:xfrm>
            <a:off x="2152650" y="365126"/>
            <a:ext cx="7886700" cy="825501"/>
          </a:xfrm>
          <a:prstGeom prst="rect">
            <a:avLst/>
          </a:prstGeom>
        </p:spPr>
        <p:txBody>
          <a:bodyPr/>
          <a:lstStyle/>
          <a:p>
            <a:r>
              <a:t>Platform as a Service (PaaS)</a:t>
            </a:r>
          </a:p>
        </p:txBody>
      </p:sp>
      <p:sp>
        <p:nvSpPr>
          <p:cNvPr id="467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476750"/>
            <a:ext cx="7772400" cy="1924050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Cloud provides middleware/infrastructure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For example, Microsoft Common Language Runtime (CLR)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Customer pays SaaS provider for the service; SaaS provider pays the cloud for the infrastructure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Example: Windows Azure, Google App Engine</a:t>
            </a:r>
          </a:p>
        </p:txBody>
      </p:sp>
      <p:sp>
        <p:nvSpPr>
          <p:cNvPr id="46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pic>
        <p:nvPicPr>
          <p:cNvPr id="46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33675" y="3348527"/>
            <a:ext cx="534988" cy="534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57664" y="1698625"/>
            <a:ext cx="541338" cy="5413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5" name="Group 39"/>
          <p:cNvGrpSpPr/>
          <p:nvPr/>
        </p:nvGrpSpPr>
        <p:grpSpPr>
          <a:xfrm>
            <a:off x="3479680" y="2607597"/>
            <a:ext cx="2035163" cy="1447343"/>
            <a:chOff x="0" y="0"/>
            <a:chExt cx="2035162" cy="1447341"/>
          </a:xfrm>
        </p:grpSpPr>
        <p:sp>
          <p:nvSpPr>
            <p:cNvPr id="471" name="Cloud"/>
            <p:cNvSpPr/>
            <p:nvPr/>
          </p:nvSpPr>
          <p:spPr>
            <a:xfrm rot="268469">
              <a:off x="47753" y="73680"/>
              <a:ext cx="1939656" cy="12999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949" y="7181"/>
                  </a:moveTo>
                  <a:cubicBezTo>
                    <a:pt x="841" y="7337"/>
                    <a:pt x="0" y="8614"/>
                    <a:pt x="0" y="10138"/>
                  </a:cubicBezTo>
                  <a:cubicBezTo>
                    <a:pt x="-1" y="11193"/>
                    <a:pt x="409" y="12170"/>
                    <a:pt x="1074" y="12703"/>
                  </a:cubicBezTo>
                  <a:lnTo>
                    <a:pt x="1063" y="12669"/>
                  </a:lnTo>
                  <a:cubicBezTo>
                    <a:pt x="685" y="13218"/>
                    <a:pt x="475" y="13941"/>
                    <a:pt x="475" y="14691"/>
                  </a:cubicBezTo>
                  <a:cubicBezTo>
                    <a:pt x="475" y="16327"/>
                    <a:pt x="1451" y="17652"/>
                    <a:pt x="2655" y="17652"/>
                  </a:cubicBezTo>
                  <a:cubicBezTo>
                    <a:pt x="2739" y="17652"/>
                    <a:pt x="2824" y="17645"/>
                    <a:pt x="2909" y="17631"/>
                  </a:cubicBezTo>
                  <a:lnTo>
                    <a:pt x="2897" y="17651"/>
                  </a:lnTo>
                  <a:cubicBezTo>
                    <a:pt x="3585" y="19290"/>
                    <a:pt x="4863" y="20302"/>
                    <a:pt x="6248" y="20302"/>
                  </a:cubicBezTo>
                  <a:cubicBezTo>
                    <a:pt x="6948" y="20301"/>
                    <a:pt x="7636" y="20041"/>
                    <a:pt x="8236" y="19548"/>
                  </a:cubicBezTo>
                  <a:lnTo>
                    <a:pt x="8230" y="19552"/>
                  </a:lnTo>
                  <a:cubicBezTo>
                    <a:pt x="8856" y="20831"/>
                    <a:pt x="9909" y="21599"/>
                    <a:pt x="11037" y="21599"/>
                  </a:cubicBezTo>
                  <a:cubicBezTo>
                    <a:pt x="12524" y="21598"/>
                    <a:pt x="13837" y="20269"/>
                    <a:pt x="14268" y="18326"/>
                  </a:cubicBezTo>
                  <a:lnTo>
                    <a:pt x="14271" y="18352"/>
                  </a:lnTo>
                  <a:cubicBezTo>
                    <a:pt x="14731" y="18742"/>
                    <a:pt x="15261" y="18949"/>
                    <a:pt x="15803" y="18949"/>
                  </a:cubicBezTo>
                  <a:cubicBezTo>
                    <a:pt x="17392" y="18948"/>
                    <a:pt x="18684" y="17207"/>
                    <a:pt x="18696" y="15046"/>
                  </a:cubicBezTo>
                  <a:lnTo>
                    <a:pt x="18691" y="15036"/>
                  </a:lnTo>
                  <a:cubicBezTo>
                    <a:pt x="20359" y="14711"/>
                    <a:pt x="21599" y="12766"/>
                    <a:pt x="21599" y="10473"/>
                  </a:cubicBezTo>
                  <a:cubicBezTo>
                    <a:pt x="21599" y="9457"/>
                    <a:pt x="21352" y="8470"/>
                    <a:pt x="20898" y="7664"/>
                  </a:cubicBezTo>
                  <a:lnTo>
                    <a:pt x="20891" y="7662"/>
                  </a:lnTo>
                  <a:cubicBezTo>
                    <a:pt x="21033" y="7209"/>
                    <a:pt x="21107" y="6722"/>
                    <a:pt x="21107" y="6229"/>
                  </a:cubicBezTo>
                  <a:cubicBezTo>
                    <a:pt x="21107" y="4588"/>
                    <a:pt x="20301" y="3150"/>
                    <a:pt x="19141" y="2719"/>
                  </a:cubicBezTo>
                  <a:lnTo>
                    <a:pt x="19150" y="2712"/>
                  </a:lnTo>
                  <a:cubicBezTo>
                    <a:pt x="18942" y="1142"/>
                    <a:pt x="17935" y="0"/>
                    <a:pt x="16760" y="0"/>
                  </a:cubicBezTo>
                  <a:cubicBezTo>
                    <a:pt x="16045" y="-1"/>
                    <a:pt x="15368" y="426"/>
                    <a:pt x="14906" y="1165"/>
                  </a:cubicBezTo>
                  <a:lnTo>
                    <a:pt x="14910" y="1170"/>
                  </a:lnTo>
                  <a:cubicBezTo>
                    <a:pt x="14498" y="432"/>
                    <a:pt x="13856" y="0"/>
                    <a:pt x="13175" y="0"/>
                  </a:cubicBezTo>
                  <a:cubicBezTo>
                    <a:pt x="12348" y="-1"/>
                    <a:pt x="11591" y="637"/>
                    <a:pt x="11222" y="1645"/>
                  </a:cubicBezTo>
                  <a:lnTo>
                    <a:pt x="11230" y="1694"/>
                  </a:lnTo>
                  <a:cubicBezTo>
                    <a:pt x="10731" y="1024"/>
                    <a:pt x="10059" y="650"/>
                    <a:pt x="9359" y="650"/>
                  </a:cubicBezTo>
                  <a:cubicBezTo>
                    <a:pt x="8373" y="649"/>
                    <a:pt x="7467" y="1391"/>
                    <a:pt x="7004" y="2578"/>
                  </a:cubicBezTo>
                  <a:lnTo>
                    <a:pt x="6996" y="2602"/>
                  </a:lnTo>
                  <a:cubicBezTo>
                    <a:pt x="6478" y="2189"/>
                    <a:pt x="5889" y="1972"/>
                    <a:pt x="5288" y="1972"/>
                  </a:cubicBezTo>
                  <a:cubicBezTo>
                    <a:pt x="3423" y="1972"/>
                    <a:pt x="1912" y="4029"/>
                    <a:pt x="1912" y="6568"/>
                  </a:cubicBezTo>
                  <a:cubicBezTo>
                    <a:pt x="1911" y="6775"/>
                    <a:pt x="1922" y="6982"/>
                    <a:pt x="1942" y="7187"/>
                  </a:cubicBezTo>
                  <a:close/>
                </a:path>
              </a:pathLst>
            </a:custGeom>
            <a:solidFill>
              <a:srgbClr val="FFBE7D"/>
            </a:solidFill>
            <a:ln w="12700" cap="flat">
              <a:noFill/>
              <a:miter lim="400000"/>
            </a:ln>
            <a:effectLst>
              <a:outerShdw blurRad="50800" dist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pic>
          <p:nvPicPr>
            <p:cNvPr id="472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057498" y="32292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3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667015" y="332451"/>
              <a:ext cx="736521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4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76533" y="34197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76" name="TextBox 13"/>
          <p:cNvSpPr txBox="1"/>
          <p:nvPr/>
        </p:nvSpPr>
        <p:spPr>
          <a:xfrm>
            <a:off x="2643427" y="3848099"/>
            <a:ext cx="746236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t>Cloud</a:t>
            </a:r>
            <a:br/>
            <a:r>
              <a:t>provider</a:t>
            </a:r>
          </a:p>
        </p:txBody>
      </p:sp>
      <p:sp>
        <p:nvSpPr>
          <p:cNvPr id="477" name="TextBox 14"/>
          <p:cNvSpPr txBox="1"/>
          <p:nvPr/>
        </p:nvSpPr>
        <p:spPr>
          <a:xfrm>
            <a:off x="4216421" y="1438275"/>
            <a:ext cx="45774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User</a:t>
            </a:r>
          </a:p>
        </p:txBody>
      </p:sp>
      <p:grpSp>
        <p:nvGrpSpPr>
          <p:cNvPr id="480" name="Rectangle 15"/>
          <p:cNvGrpSpPr/>
          <p:nvPr/>
        </p:nvGrpSpPr>
        <p:grpSpPr>
          <a:xfrm>
            <a:off x="7038975" y="3464243"/>
            <a:ext cx="2400301" cy="396241"/>
            <a:chOff x="0" y="0"/>
            <a:chExt cx="2400300" cy="396240"/>
          </a:xfrm>
        </p:grpSpPr>
        <p:sp>
          <p:nvSpPr>
            <p:cNvPr id="478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79" name="Hardware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Hardware</a:t>
              </a:r>
            </a:p>
          </p:txBody>
        </p:sp>
      </p:grpSp>
      <p:grpSp>
        <p:nvGrpSpPr>
          <p:cNvPr id="483" name="Rectangle 17"/>
          <p:cNvGrpSpPr/>
          <p:nvPr/>
        </p:nvGrpSpPr>
        <p:grpSpPr>
          <a:xfrm>
            <a:off x="7038975" y="2959418"/>
            <a:ext cx="2400301" cy="396241"/>
            <a:chOff x="0" y="0"/>
            <a:chExt cx="2400300" cy="396240"/>
          </a:xfrm>
        </p:grpSpPr>
        <p:sp>
          <p:nvSpPr>
            <p:cNvPr id="481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82" name="Middleware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Middleware</a:t>
              </a:r>
            </a:p>
          </p:txBody>
        </p:sp>
      </p:grpSp>
      <p:grpSp>
        <p:nvGrpSpPr>
          <p:cNvPr id="486" name="Rectangle 18"/>
          <p:cNvGrpSpPr/>
          <p:nvPr/>
        </p:nvGrpSpPr>
        <p:grpSpPr>
          <a:xfrm>
            <a:off x="7038975" y="2454593"/>
            <a:ext cx="2400301" cy="396241"/>
            <a:chOff x="0" y="0"/>
            <a:chExt cx="2400300" cy="396240"/>
          </a:xfrm>
        </p:grpSpPr>
        <p:sp>
          <p:nvSpPr>
            <p:cNvPr id="484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485" name="Application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Application</a:t>
              </a:r>
            </a:p>
          </p:txBody>
        </p:sp>
      </p:grpSp>
      <p:sp>
        <p:nvSpPr>
          <p:cNvPr id="487" name="Oval 19"/>
          <p:cNvSpPr/>
          <p:nvPr/>
        </p:nvSpPr>
        <p:spPr>
          <a:xfrm>
            <a:off x="6362701" y="2114550"/>
            <a:ext cx="3705227" cy="2085977"/>
          </a:xfrm>
          <a:prstGeom prst="ellipse">
            <a:avLst/>
          </a:prstGeom>
          <a:ln w="19050">
            <a:solidFill>
              <a:srgbClr val="000000"/>
            </a:solidFill>
            <a:prstDash val="dash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488" name="Straight Connector 21"/>
          <p:cNvSpPr/>
          <p:nvPr/>
        </p:nvSpPr>
        <p:spPr>
          <a:xfrm flipV="1">
            <a:off x="5162551" y="2295525"/>
            <a:ext cx="2009776" cy="733426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9" name="Straight Connector 22"/>
          <p:cNvSpPr/>
          <p:nvPr/>
        </p:nvSpPr>
        <p:spPr>
          <a:xfrm>
            <a:off x="5181600" y="3495676"/>
            <a:ext cx="2457451" cy="657226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0" name="Straight Arrow Connector 26"/>
          <p:cNvSpPr/>
          <p:nvPr/>
        </p:nvSpPr>
        <p:spPr>
          <a:xfrm flipH="1">
            <a:off x="8019255" y="1915318"/>
            <a:ext cx="1589" cy="53340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1" name="Straight Arrow Connector 27"/>
          <p:cNvSpPr/>
          <p:nvPr/>
        </p:nvSpPr>
        <p:spPr>
          <a:xfrm flipH="1">
            <a:off x="8390730" y="1924843"/>
            <a:ext cx="1589" cy="533402"/>
          </a:xfrm>
          <a:prstGeom prst="line">
            <a:avLst/>
          </a:prstGeom>
          <a:ln w="19050">
            <a:solidFill>
              <a:srgbClr val="000000"/>
            </a:solidFill>
            <a:head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2" name="Straight Arrow Connector 31"/>
          <p:cNvSpPr/>
          <p:nvPr/>
        </p:nvSpPr>
        <p:spPr>
          <a:xfrm>
            <a:off x="4391026" y="2295523"/>
            <a:ext cx="28577" cy="4095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Straight Arrow Connector 33"/>
          <p:cNvSpPr/>
          <p:nvPr/>
        </p:nvSpPr>
        <p:spPr>
          <a:xfrm flipV="1">
            <a:off x="4542306" y="2247903"/>
            <a:ext cx="1122" cy="509479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2" name="Straight Arrow Connector 39"/>
          <p:cNvSpPr/>
          <p:nvPr/>
        </p:nvSpPr>
        <p:spPr>
          <a:xfrm>
            <a:off x="3138180" y="1965401"/>
            <a:ext cx="1211355" cy="4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495" name="Picture 35" descr="Picture 3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90900" y="1228725"/>
            <a:ext cx="6858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" name="Picture 2" descr="Picture 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flipH="1">
            <a:off x="2735264" y="1703389"/>
            <a:ext cx="541338" cy="541338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Straight Arrow Connector 32"/>
          <p:cNvSpPr/>
          <p:nvPr/>
        </p:nvSpPr>
        <p:spPr>
          <a:xfrm>
            <a:off x="3002457" y="2213771"/>
            <a:ext cx="6314" cy="1161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498" name="Picture 35" descr="Picture 3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486025" y="2533650"/>
            <a:ext cx="476250" cy="476250"/>
          </a:xfrm>
          <a:prstGeom prst="rect">
            <a:avLst/>
          </a:prstGeom>
          <a:ln w="12700">
            <a:miter lim="400000"/>
          </a:ln>
        </p:spPr>
      </p:pic>
      <p:sp>
        <p:nvSpPr>
          <p:cNvPr id="499" name="Straight Arrow Connector 36"/>
          <p:cNvSpPr/>
          <p:nvPr/>
        </p:nvSpPr>
        <p:spPr>
          <a:xfrm>
            <a:off x="3248025" y="2219324"/>
            <a:ext cx="628651" cy="72390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0" name="Picture 2" descr="Picture 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520907" y="2152650"/>
            <a:ext cx="450899" cy="453904"/>
          </a:xfrm>
          <a:prstGeom prst="rect">
            <a:avLst/>
          </a:prstGeom>
          <a:ln w="12700">
            <a:miter lim="400000"/>
          </a:ln>
        </p:spPr>
      </p:pic>
      <p:sp>
        <p:nvSpPr>
          <p:cNvPr id="501" name="TextBox 38"/>
          <p:cNvSpPr txBox="1"/>
          <p:nvPr/>
        </p:nvSpPr>
        <p:spPr>
          <a:xfrm>
            <a:off x="2652952" y="1200149"/>
            <a:ext cx="74623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t>SaaS</a:t>
            </a:r>
            <a:br/>
            <a:r>
              <a:t>provider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itle 1"/>
          <p:cNvSpPr txBox="1">
            <a:spLocks noGrp="1"/>
          </p:cNvSpPr>
          <p:nvPr>
            <p:ph type="title"/>
          </p:nvPr>
        </p:nvSpPr>
        <p:spPr>
          <a:xfrm>
            <a:off x="2152650" y="365127"/>
            <a:ext cx="7886700" cy="881994"/>
          </a:xfrm>
          <a:prstGeom prst="rect">
            <a:avLst/>
          </a:prstGeom>
        </p:spPr>
        <p:txBody>
          <a:bodyPr/>
          <a:lstStyle/>
          <a:p>
            <a:r>
              <a:t>Infrastructure as a Service (IaaS)</a:t>
            </a:r>
          </a:p>
        </p:txBody>
      </p:sp>
      <p:sp>
        <p:nvSpPr>
          <p:cNvPr id="506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2514600" y="4476750"/>
            <a:ext cx="7772400" cy="1924050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Cloud provides raw computing resources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Virtual machine, blade server, hard disk, ...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Customer pays SaaS provider for the service; SaaS provider pays the cloud for the resources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Examples: Amazon Web Services, Rackspace Cloud, GoGrid</a:t>
            </a:r>
          </a:p>
        </p:txBody>
      </p:sp>
      <p:sp>
        <p:nvSpPr>
          <p:cNvPr id="50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  <p:pic>
        <p:nvPicPr>
          <p:cNvPr id="5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33675" y="3348527"/>
            <a:ext cx="534988" cy="534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09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57664" y="1698625"/>
            <a:ext cx="541338" cy="5413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4" name="Group 39"/>
          <p:cNvGrpSpPr/>
          <p:nvPr/>
        </p:nvGrpSpPr>
        <p:grpSpPr>
          <a:xfrm>
            <a:off x="3479680" y="2607597"/>
            <a:ext cx="2035163" cy="1447343"/>
            <a:chOff x="0" y="0"/>
            <a:chExt cx="2035162" cy="1447341"/>
          </a:xfrm>
        </p:grpSpPr>
        <p:sp>
          <p:nvSpPr>
            <p:cNvPr id="510" name="Cloud"/>
            <p:cNvSpPr/>
            <p:nvPr/>
          </p:nvSpPr>
          <p:spPr>
            <a:xfrm rot="268469">
              <a:off x="47753" y="73680"/>
              <a:ext cx="1939656" cy="12999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1949" y="7181"/>
                  </a:moveTo>
                  <a:cubicBezTo>
                    <a:pt x="841" y="7337"/>
                    <a:pt x="0" y="8614"/>
                    <a:pt x="0" y="10138"/>
                  </a:cubicBezTo>
                  <a:cubicBezTo>
                    <a:pt x="-1" y="11193"/>
                    <a:pt x="409" y="12170"/>
                    <a:pt x="1074" y="12703"/>
                  </a:cubicBezTo>
                  <a:lnTo>
                    <a:pt x="1063" y="12669"/>
                  </a:lnTo>
                  <a:cubicBezTo>
                    <a:pt x="685" y="13218"/>
                    <a:pt x="475" y="13941"/>
                    <a:pt x="475" y="14691"/>
                  </a:cubicBezTo>
                  <a:cubicBezTo>
                    <a:pt x="475" y="16327"/>
                    <a:pt x="1451" y="17652"/>
                    <a:pt x="2655" y="17652"/>
                  </a:cubicBezTo>
                  <a:cubicBezTo>
                    <a:pt x="2739" y="17652"/>
                    <a:pt x="2824" y="17645"/>
                    <a:pt x="2909" y="17631"/>
                  </a:cubicBezTo>
                  <a:lnTo>
                    <a:pt x="2897" y="17651"/>
                  </a:lnTo>
                  <a:cubicBezTo>
                    <a:pt x="3585" y="19290"/>
                    <a:pt x="4863" y="20302"/>
                    <a:pt x="6248" y="20302"/>
                  </a:cubicBezTo>
                  <a:cubicBezTo>
                    <a:pt x="6948" y="20301"/>
                    <a:pt x="7636" y="20041"/>
                    <a:pt x="8236" y="19548"/>
                  </a:cubicBezTo>
                  <a:lnTo>
                    <a:pt x="8230" y="19552"/>
                  </a:lnTo>
                  <a:cubicBezTo>
                    <a:pt x="8856" y="20831"/>
                    <a:pt x="9909" y="21599"/>
                    <a:pt x="11037" y="21599"/>
                  </a:cubicBezTo>
                  <a:cubicBezTo>
                    <a:pt x="12524" y="21598"/>
                    <a:pt x="13837" y="20269"/>
                    <a:pt x="14268" y="18326"/>
                  </a:cubicBezTo>
                  <a:lnTo>
                    <a:pt x="14271" y="18352"/>
                  </a:lnTo>
                  <a:cubicBezTo>
                    <a:pt x="14731" y="18742"/>
                    <a:pt x="15261" y="18949"/>
                    <a:pt x="15803" y="18949"/>
                  </a:cubicBezTo>
                  <a:cubicBezTo>
                    <a:pt x="17392" y="18948"/>
                    <a:pt x="18684" y="17207"/>
                    <a:pt x="18696" y="15046"/>
                  </a:cubicBezTo>
                  <a:lnTo>
                    <a:pt x="18691" y="15036"/>
                  </a:lnTo>
                  <a:cubicBezTo>
                    <a:pt x="20359" y="14711"/>
                    <a:pt x="21599" y="12766"/>
                    <a:pt x="21599" y="10473"/>
                  </a:cubicBezTo>
                  <a:cubicBezTo>
                    <a:pt x="21599" y="9457"/>
                    <a:pt x="21352" y="8470"/>
                    <a:pt x="20898" y="7664"/>
                  </a:cubicBezTo>
                  <a:lnTo>
                    <a:pt x="20891" y="7662"/>
                  </a:lnTo>
                  <a:cubicBezTo>
                    <a:pt x="21033" y="7209"/>
                    <a:pt x="21107" y="6722"/>
                    <a:pt x="21107" y="6229"/>
                  </a:cubicBezTo>
                  <a:cubicBezTo>
                    <a:pt x="21107" y="4588"/>
                    <a:pt x="20301" y="3150"/>
                    <a:pt x="19141" y="2719"/>
                  </a:cubicBezTo>
                  <a:lnTo>
                    <a:pt x="19150" y="2712"/>
                  </a:lnTo>
                  <a:cubicBezTo>
                    <a:pt x="18942" y="1142"/>
                    <a:pt x="17935" y="0"/>
                    <a:pt x="16760" y="0"/>
                  </a:cubicBezTo>
                  <a:cubicBezTo>
                    <a:pt x="16045" y="-1"/>
                    <a:pt x="15368" y="426"/>
                    <a:pt x="14906" y="1165"/>
                  </a:cubicBezTo>
                  <a:lnTo>
                    <a:pt x="14910" y="1170"/>
                  </a:lnTo>
                  <a:cubicBezTo>
                    <a:pt x="14498" y="432"/>
                    <a:pt x="13856" y="0"/>
                    <a:pt x="13175" y="0"/>
                  </a:cubicBezTo>
                  <a:cubicBezTo>
                    <a:pt x="12348" y="-1"/>
                    <a:pt x="11591" y="637"/>
                    <a:pt x="11222" y="1645"/>
                  </a:cubicBezTo>
                  <a:lnTo>
                    <a:pt x="11230" y="1694"/>
                  </a:lnTo>
                  <a:cubicBezTo>
                    <a:pt x="10731" y="1024"/>
                    <a:pt x="10059" y="650"/>
                    <a:pt x="9359" y="650"/>
                  </a:cubicBezTo>
                  <a:cubicBezTo>
                    <a:pt x="8373" y="649"/>
                    <a:pt x="7467" y="1391"/>
                    <a:pt x="7004" y="2578"/>
                  </a:cubicBezTo>
                  <a:lnTo>
                    <a:pt x="6996" y="2602"/>
                  </a:lnTo>
                  <a:cubicBezTo>
                    <a:pt x="6478" y="2189"/>
                    <a:pt x="5889" y="1972"/>
                    <a:pt x="5288" y="1972"/>
                  </a:cubicBezTo>
                  <a:cubicBezTo>
                    <a:pt x="3423" y="1972"/>
                    <a:pt x="1912" y="4029"/>
                    <a:pt x="1912" y="6568"/>
                  </a:cubicBezTo>
                  <a:cubicBezTo>
                    <a:pt x="1911" y="6775"/>
                    <a:pt x="1922" y="6982"/>
                    <a:pt x="1942" y="7187"/>
                  </a:cubicBezTo>
                  <a:close/>
                </a:path>
              </a:pathLst>
            </a:custGeom>
            <a:solidFill>
              <a:srgbClr val="FFBE7D"/>
            </a:solidFill>
            <a:ln w="12700" cap="flat">
              <a:noFill/>
              <a:miter lim="400000"/>
            </a:ln>
            <a:effectLst>
              <a:outerShdw blurRad="50800" dist="508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pic>
          <p:nvPicPr>
            <p:cNvPr id="511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057498" y="32292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2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667015" y="332451"/>
              <a:ext cx="736521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3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76533" y="341976"/>
              <a:ext cx="736520" cy="736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15" name="TextBox 13"/>
          <p:cNvSpPr txBox="1"/>
          <p:nvPr/>
        </p:nvSpPr>
        <p:spPr>
          <a:xfrm>
            <a:off x="2643427" y="3848099"/>
            <a:ext cx="746236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t>Cloud</a:t>
            </a:r>
            <a:br/>
            <a:r>
              <a:t>provider</a:t>
            </a:r>
          </a:p>
        </p:txBody>
      </p:sp>
      <p:sp>
        <p:nvSpPr>
          <p:cNvPr id="516" name="TextBox 14"/>
          <p:cNvSpPr txBox="1"/>
          <p:nvPr/>
        </p:nvSpPr>
        <p:spPr>
          <a:xfrm>
            <a:off x="4216421" y="1438275"/>
            <a:ext cx="45774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User</a:t>
            </a:r>
          </a:p>
        </p:txBody>
      </p:sp>
      <p:grpSp>
        <p:nvGrpSpPr>
          <p:cNvPr id="519" name="Rectangle 15"/>
          <p:cNvGrpSpPr/>
          <p:nvPr/>
        </p:nvGrpSpPr>
        <p:grpSpPr>
          <a:xfrm>
            <a:off x="7038975" y="3464243"/>
            <a:ext cx="2400301" cy="396241"/>
            <a:chOff x="0" y="0"/>
            <a:chExt cx="2400300" cy="396240"/>
          </a:xfrm>
        </p:grpSpPr>
        <p:sp>
          <p:nvSpPr>
            <p:cNvPr id="517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0070C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18" name="Hardware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Hardware</a:t>
              </a:r>
            </a:p>
          </p:txBody>
        </p:sp>
      </p:grpSp>
      <p:grpSp>
        <p:nvGrpSpPr>
          <p:cNvPr id="522" name="Rectangle 17"/>
          <p:cNvGrpSpPr/>
          <p:nvPr/>
        </p:nvGrpSpPr>
        <p:grpSpPr>
          <a:xfrm>
            <a:off x="7038975" y="2959418"/>
            <a:ext cx="2400301" cy="396241"/>
            <a:chOff x="0" y="0"/>
            <a:chExt cx="2400300" cy="396240"/>
          </a:xfrm>
        </p:grpSpPr>
        <p:sp>
          <p:nvSpPr>
            <p:cNvPr id="520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21" name="Middleware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Middleware</a:t>
              </a:r>
            </a:p>
          </p:txBody>
        </p:sp>
      </p:grpSp>
      <p:grpSp>
        <p:nvGrpSpPr>
          <p:cNvPr id="525" name="Rectangle 18"/>
          <p:cNvGrpSpPr/>
          <p:nvPr/>
        </p:nvGrpSpPr>
        <p:grpSpPr>
          <a:xfrm>
            <a:off x="7038975" y="2454593"/>
            <a:ext cx="2400301" cy="396241"/>
            <a:chOff x="0" y="0"/>
            <a:chExt cx="2400300" cy="396240"/>
          </a:xfrm>
        </p:grpSpPr>
        <p:sp>
          <p:nvSpPr>
            <p:cNvPr id="523" name="Rectangle"/>
            <p:cNvSpPr/>
            <p:nvPr/>
          </p:nvSpPr>
          <p:spPr>
            <a:xfrm>
              <a:off x="0" y="2857"/>
              <a:ext cx="2400300" cy="390526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524" name="Application"/>
            <p:cNvSpPr txBox="1"/>
            <p:nvPr/>
          </p:nvSpPr>
          <p:spPr>
            <a:xfrm>
              <a:off x="0" y="0"/>
              <a:ext cx="2400300" cy="396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Application</a:t>
              </a:r>
            </a:p>
          </p:txBody>
        </p:sp>
      </p:grpSp>
      <p:sp>
        <p:nvSpPr>
          <p:cNvPr id="526" name="Oval 19"/>
          <p:cNvSpPr/>
          <p:nvPr/>
        </p:nvSpPr>
        <p:spPr>
          <a:xfrm>
            <a:off x="6362701" y="2114550"/>
            <a:ext cx="3705227" cy="2085977"/>
          </a:xfrm>
          <a:prstGeom prst="ellipse">
            <a:avLst/>
          </a:prstGeom>
          <a:ln w="19050">
            <a:solidFill>
              <a:srgbClr val="000000"/>
            </a:solidFill>
            <a:prstDash val="dash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527" name="Straight Connector 21"/>
          <p:cNvSpPr/>
          <p:nvPr/>
        </p:nvSpPr>
        <p:spPr>
          <a:xfrm flipV="1">
            <a:off x="5162551" y="2295525"/>
            <a:ext cx="2009776" cy="733426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8" name="Straight Connector 22"/>
          <p:cNvSpPr/>
          <p:nvPr/>
        </p:nvSpPr>
        <p:spPr>
          <a:xfrm>
            <a:off x="5181600" y="3495676"/>
            <a:ext cx="2457451" cy="657226"/>
          </a:xfrm>
          <a:prstGeom prst="line">
            <a:avLst/>
          </a:prstGeom>
          <a:solidFill>
            <a:schemeClr val="accent1"/>
          </a:solidFill>
          <a:ln w="19050">
            <a:solidFill>
              <a:srgbClr val="000000"/>
            </a:solidFill>
            <a:prstDash val="sys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9" name="Straight Arrow Connector 26"/>
          <p:cNvSpPr/>
          <p:nvPr/>
        </p:nvSpPr>
        <p:spPr>
          <a:xfrm flipH="1">
            <a:off x="8019255" y="1915318"/>
            <a:ext cx="1589" cy="53340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0" name="Straight Arrow Connector 27"/>
          <p:cNvSpPr/>
          <p:nvPr/>
        </p:nvSpPr>
        <p:spPr>
          <a:xfrm flipH="1">
            <a:off x="8390730" y="1924843"/>
            <a:ext cx="1589" cy="533402"/>
          </a:xfrm>
          <a:prstGeom prst="line">
            <a:avLst/>
          </a:prstGeom>
          <a:ln w="19050">
            <a:solidFill>
              <a:srgbClr val="000000"/>
            </a:solidFill>
            <a:head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1" name="Straight Arrow Connector 31"/>
          <p:cNvSpPr/>
          <p:nvPr/>
        </p:nvSpPr>
        <p:spPr>
          <a:xfrm>
            <a:off x="4391026" y="2295523"/>
            <a:ext cx="28577" cy="40958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2" name="Straight Arrow Connector 33"/>
          <p:cNvSpPr/>
          <p:nvPr/>
        </p:nvSpPr>
        <p:spPr>
          <a:xfrm flipV="1">
            <a:off x="4542306" y="2247903"/>
            <a:ext cx="1122" cy="509479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1" name="Straight Arrow Connector 39"/>
          <p:cNvSpPr/>
          <p:nvPr/>
        </p:nvSpPr>
        <p:spPr>
          <a:xfrm>
            <a:off x="3138180" y="1965401"/>
            <a:ext cx="1211355" cy="4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534" name="Picture 35" descr="Picture 3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90900" y="1228725"/>
            <a:ext cx="6858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Picture 2" descr="Picture 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flipH="1">
            <a:off x="2735264" y="1703389"/>
            <a:ext cx="541338" cy="541338"/>
          </a:xfrm>
          <a:prstGeom prst="rect">
            <a:avLst/>
          </a:prstGeom>
          <a:ln w="12700">
            <a:miter lim="400000"/>
          </a:ln>
        </p:spPr>
      </p:pic>
      <p:sp>
        <p:nvSpPr>
          <p:cNvPr id="542" name="Straight Arrow Connector 32"/>
          <p:cNvSpPr/>
          <p:nvPr/>
        </p:nvSpPr>
        <p:spPr>
          <a:xfrm>
            <a:off x="3002457" y="2213771"/>
            <a:ext cx="6314" cy="1161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537" name="Picture 35" descr="Picture 3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524125" y="2609850"/>
            <a:ext cx="400050" cy="400050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Straight Arrow Connector 36"/>
          <p:cNvSpPr/>
          <p:nvPr/>
        </p:nvSpPr>
        <p:spPr>
          <a:xfrm>
            <a:off x="3248025" y="2219324"/>
            <a:ext cx="628651" cy="723902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39" name="Picture 2" descr="Picture 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520907" y="2152650"/>
            <a:ext cx="450899" cy="453904"/>
          </a:xfrm>
          <a:prstGeom prst="rect">
            <a:avLst/>
          </a:prstGeom>
          <a:ln w="12700">
            <a:miter lim="400000"/>
          </a:ln>
        </p:spPr>
      </p:pic>
      <p:sp>
        <p:nvSpPr>
          <p:cNvPr id="540" name="TextBox 38"/>
          <p:cNvSpPr txBox="1"/>
          <p:nvPr/>
        </p:nvSpPr>
        <p:spPr>
          <a:xfrm>
            <a:off x="2652952" y="1200149"/>
            <a:ext cx="74623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t>SaaS</a:t>
            </a:r>
            <a:br/>
            <a:r>
              <a:t>provider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Private/hybrid/community clouds</a:t>
            </a:r>
          </a:p>
        </p:txBody>
      </p:sp>
      <p:sp>
        <p:nvSpPr>
          <p:cNvPr id="54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2514600" y="3924300"/>
            <a:ext cx="7772400" cy="2638425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Who can become a customer of the cloud?</a:t>
            </a:r>
          </a:p>
          <a:p>
            <a:pPr marL="685800" lvl="1" indent="-228600">
              <a:spcBef>
                <a:spcPts val="500"/>
              </a:spcBef>
              <a:defRPr sz="2200">
                <a:solidFill>
                  <a:srgbClr val="FF9900"/>
                </a:solidFill>
              </a:defRPr>
            </a:pPr>
            <a:r>
              <a:t>Public cloud: </a:t>
            </a:r>
            <a:r>
              <a:rPr>
                <a:solidFill>
                  <a:srgbClr val="000000"/>
                </a:solidFill>
              </a:rPr>
              <a:t>Commercial service; open to (almost) anyone. Example: Amazon AWS, Microsoft Azure, Google App Engine</a:t>
            </a:r>
          </a:p>
          <a:p>
            <a:pPr marL="685800" lvl="1" indent="-228600">
              <a:spcBef>
                <a:spcPts val="500"/>
              </a:spcBef>
              <a:defRPr sz="2200">
                <a:solidFill>
                  <a:srgbClr val="FF9900"/>
                </a:solidFill>
              </a:defRPr>
            </a:pPr>
            <a:r>
              <a:t>Community cloud: </a:t>
            </a:r>
            <a:r>
              <a:rPr>
                <a:solidFill>
                  <a:srgbClr val="000000"/>
                </a:solidFill>
              </a:rPr>
              <a:t>Shared by several similar organizations.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Example: Google's "Gov Cloud"</a:t>
            </a:r>
          </a:p>
          <a:p>
            <a:pPr marL="685800" lvl="1" indent="-228600">
              <a:spcBef>
                <a:spcPts val="500"/>
              </a:spcBef>
              <a:defRPr sz="2200">
                <a:solidFill>
                  <a:srgbClr val="FF9900"/>
                </a:solidFill>
              </a:defRPr>
            </a:pPr>
            <a:r>
              <a:t>Private cloud: </a:t>
            </a:r>
            <a:r>
              <a:rPr>
                <a:solidFill>
                  <a:srgbClr val="000000"/>
                </a:solidFill>
              </a:rPr>
              <a:t>Shared within a single organization. </a:t>
            </a:r>
            <a:br>
              <a:rPr>
                <a:solidFill>
                  <a:srgbClr val="000000"/>
                </a:solidFill>
              </a:rPr>
            </a:br>
            <a:r>
              <a:rPr>
                <a:solidFill>
                  <a:srgbClr val="000000"/>
                </a:solidFill>
              </a:rPr>
              <a:t>Example: Internal datacenter of a large company.</a:t>
            </a:r>
          </a:p>
        </p:txBody>
      </p:sp>
      <p:sp>
        <p:nvSpPr>
          <p:cNvPr id="54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sp>
        <p:nvSpPr>
          <p:cNvPr id="547" name="TextBox 5"/>
          <p:cNvSpPr txBox="1"/>
          <p:nvPr/>
        </p:nvSpPr>
        <p:spPr>
          <a:xfrm>
            <a:off x="1633842" y="4247577"/>
            <a:ext cx="914263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solidFill>
                  <a:srgbClr val="33CC33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Focus of</a:t>
            </a:r>
            <a:br/>
            <a:r>
              <a:t>this class</a:t>
            </a:r>
          </a:p>
        </p:txBody>
      </p:sp>
      <p:sp>
        <p:nvSpPr>
          <p:cNvPr id="548" name="Straight Arrow Connector 7"/>
          <p:cNvSpPr/>
          <p:nvPr/>
        </p:nvSpPr>
        <p:spPr>
          <a:xfrm>
            <a:off x="2591269" y="4539965"/>
            <a:ext cx="456731" cy="2888"/>
          </a:xfrm>
          <a:prstGeom prst="line">
            <a:avLst/>
          </a:prstGeom>
          <a:ln w="19050">
            <a:solidFill>
              <a:srgbClr val="00CC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9" name="TextBox 8"/>
          <p:cNvSpPr txBox="1"/>
          <p:nvPr/>
        </p:nvSpPr>
        <p:spPr>
          <a:xfrm>
            <a:off x="1573629" y="5243512"/>
            <a:ext cx="115804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solidFill>
                  <a:srgbClr val="33CC33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Is this a</a:t>
            </a:r>
            <a:br/>
            <a:r>
              <a:t>'real' cloud?</a:t>
            </a:r>
          </a:p>
        </p:txBody>
      </p:sp>
      <p:sp>
        <p:nvSpPr>
          <p:cNvPr id="550" name="Straight Arrow Connector 9"/>
          <p:cNvSpPr/>
          <p:nvPr/>
        </p:nvSpPr>
        <p:spPr>
          <a:xfrm>
            <a:off x="2681758" y="5532075"/>
            <a:ext cx="275756" cy="1589"/>
          </a:xfrm>
          <a:prstGeom prst="line">
            <a:avLst/>
          </a:prstGeom>
          <a:ln w="19050">
            <a:solidFill>
              <a:srgbClr val="00CC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5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3430589" y="2122490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5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05150" y="1819276"/>
            <a:ext cx="276226" cy="276226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Cloud"/>
          <p:cNvSpPr/>
          <p:nvPr/>
        </p:nvSpPr>
        <p:spPr>
          <a:xfrm rot="268469">
            <a:off x="3259356" y="2602799"/>
            <a:ext cx="1371807" cy="9194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1949" y="7181"/>
                </a:moveTo>
                <a:cubicBezTo>
                  <a:pt x="841" y="7337"/>
                  <a:pt x="0" y="8614"/>
                  <a:pt x="0" y="10138"/>
                </a:cubicBezTo>
                <a:cubicBezTo>
                  <a:pt x="-1" y="11193"/>
                  <a:pt x="409" y="12170"/>
                  <a:pt x="1074" y="12703"/>
                </a:cubicBezTo>
                <a:lnTo>
                  <a:pt x="1063" y="12669"/>
                </a:lnTo>
                <a:cubicBezTo>
                  <a:pt x="685" y="13218"/>
                  <a:pt x="475" y="13941"/>
                  <a:pt x="475" y="14691"/>
                </a:cubicBezTo>
                <a:cubicBezTo>
                  <a:pt x="475" y="16327"/>
                  <a:pt x="1451" y="17652"/>
                  <a:pt x="2655" y="17652"/>
                </a:cubicBezTo>
                <a:cubicBezTo>
                  <a:pt x="2739" y="17652"/>
                  <a:pt x="2824" y="17645"/>
                  <a:pt x="2909" y="17631"/>
                </a:cubicBezTo>
                <a:lnTo>
                  <a:pt x="2897" y="17651"/>
                </a:lnTo>
                <a:cubicBezTo>
                  <a:pt x="3585" y="19290"/>
                  <a:pt x="4863" y="20302"/>
                  <a:pt x="6248" y="20302"/>
                </a:cubicBezTo>
                <a:cubicBezTo>
                  <a:pt x="6948" y="20301"/>
                  <a:pt x="7636" y="20041"/>
                  <a:pt x="8236" y="19548"/>
                </a:cubicBezTo>
                <a:lnTo>
                  <a:pt x="8230" y="19552"/>
                </a:lnTo>
                <a:cubicBezTo>
                  <a:pt x="8856" y="20831"/>
                  <a:pt x="9909" y="21599"/>
                  <a:pt x="11037" y="21599"/>
                </a:cubicBezTo>
                <a:cubicBezTo>
                  <a:pt x="12524" y="21598"/>
                  <a:pt x="13837" y="20269"/>
                  <a:pt x="14268" y="18326"/>
                </a:cubicBezTo>
                <a:lnTo>
                  <a:pt x="14271" y="18352"/>
                </a:lnTo>
                <a:cubicBezTo>
                  <a:pt x="14731" y="18742"/>
                  <a:pt x="15261" y="18949"/>
                  <a:pt x="15803" y="18949"/>
                </a:cubicBezTo>
                <a:cubicBezTo>
                  <a:pt x="17392" y="18948"/>
                  <a:pt x="18684" y="17207"/>
                  <a:pt x="18696" y="15046"/>
                </a:cubicBezTo>
                <a:lnTo>
                  <a:pt x="18691" y="15036"/>
                </a:lnTo>
                <a:cubicBezTo>
                  <a:pt x="20359" y="14711"/>
                  <a:pt x="21599" y="12766"/>
                  <a:pt x="21599" y="10473"/>
                </a:cubicBezTo>
                <a:cubicBezTo>
                  <a:pt x="21599" y="9457"/>
                  <a:pt x="21352" y="8470"/>
                  <a:pt x="20898" y="7664"/>
                </a:cubicBezTo>
                <a:lnTo>
                  <a:pt x="20891" y="7662"/>
                </a:lnTo>
                <a:cubicBezTo>
                  <a:pt x="21033" y="7209"/>
                  <a:pt x="21107" y="6722"/>
                  <a:pt x="21107" y="6229"/>
                </a:cubicBezTo>
                <a:cubicBezTo>
                  <a:pt x="21107" y="4588"/>
                  <a:pt x="20301" y="3150"/>
                  <a:pt x="19141" y="2719"/>
                </a:cubicBezTo>
                <a:lnTo>
                  <a:pt x="19150" y="2712"/>
                </a:lnTo>
                <a:cubicBezTo>
                  <a:pt x="18942" y="1142"/>
                  <a:pt x="17935" y="0"/>
                  <a:pt x="16760" y="0"/>
                </a:cubicBezTo>
                <a:cubicBezTo>
                  <a:pt x="16045" y="-1"/>
                  <a:pt x="15368" y="426"/>
                  <a:pt x="14906" y="1165"/>
                </a:cubicBezTo>
                <a:lnTo>
                  <a:pt x="14910" y="1170"/>
                </a:lnTo>
                <a:cubicBezTo>
                  <a:pt x="14498" y="432"/>
                  <a:pt x="13856" y="0"/>
                  <a:pt x="13175" y="0"/>
                </a:cubicBezTo>
                <a:cubicBezTo>
                  <a:pt x="12348" y="-1"/>
                  <a:pt x="11591" y="637"/>
                  <a:pt x="11222" y="1645"/>
                </a:cubicBezTo>
                <a:lnTo>
                  <a:pt x="11230" y="1694"/>
                </a:lnTo>
                <a:cubicBezTo>
                  <a:pt x="10731" y="1024"/>
                  <a:pt x="10059" y="650"/>
                  <a:pt x="9359" y="650"/>
                </a:cubicBezTo>
                <a:cubicBezTo>
                  <a:pt x="8373" y="649"/>
                  <a:pt x="7467" y="1391"/>
                  <a:pt x="7004" y="2578"/>
                </a:cubicBezTo>
                <a:lnTo>
                  <a:pt x="6996" y="2602"/>
                </a:lnTo>
                <a:cubicBezTo>
                  <a:pt x="6478" y="2189"/>
                  <a:pt x="5889" y="1972"/>
                  <a:pt x="5288" y="1972"/>
                </a:cubicBezTo>
                <a:cubicBezTo>
                  <a:pt x="3423" y="1972"/>
                  <a:pt x="1912" y="4029"/>
                  <a:pt x="1912" y="6568"/>
                </a:cubicBezTo>
                <a:cubicBezTo>
                  <a:pt x="1911" y="6775"/>
                  <a:pt x="1922" y="6982"/>
                  <a:pt x="1942" y="7187"/>
                </a:cubicBezTo>
                <a:close/>
              </a:path>
            </a:pathLst>
          </a:custGeom>
          <a:solidFill>
            <a:srgbClr val="FFBE7D"/>
          </a:solidFill>
          <a:ln w="12700">
            <a:miter lim="400000"/>
          </a:ln>
          <a:effectLst>
            <a:outerShdw blurRad="50800" dist="50800" dir="2700000" rotWithShape="0">
              <a:srgbClr val="000000">
                <a:alpha val="40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pic>
        <p:nvPicPr>
          <p:cNvPr id="55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4068764" y="1798640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38576" y="2066926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76676" y="1514477"/>
            <a:ext cx="276226" cy="276226"/>
          </a:xfrm>
          <a:prstGeom prst="rect">
            <a:avLst/>
          </a:prstGeom>
          <a:ln w="12700">
            <a:miter lim="400000"/>
          </a:ln>
        </p:spPr>
      </p:pic>
      <p:sp>
        <p:nvSpPr>
          <p:cNvPr id="557" name="Rounded Rectangle 29"/>
          <p:cNvSpPr/>
          <p:nvPr/>
        </p:nvSpPr>
        <p:spPr>
          <a:xfrm>
            <a:off x="6391275" y="1695450"/>
            <a:ext cx="509337" cy="666751"/>
          </a:xfrm>
          <a:prstGeom prst="roundRect">
            <a:avLst>
              <a:gd name="adj" fmla="val 16667"/>
            </a:avLst>
          </a:prstGeom>
          <a:ln w="19050">
            <a:solidFill>
              <a:srgbClr val="FF0000"/>
            </a:solidFill>
            <a:prstDash val="sysDash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558" name="Cloud"/>
          <p:cNvSpPr/>
          <p:nvPr/>
        </p:nvSpPr>
        <p:spPr>
          <a:xfrm rot="268469">
            <a:off x="5897781" y="2574224"/>
            <a:ext cx="1371807" cy="9194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1949" y="7181"/>
                </a:moveTo>
                <a:cubicBezTo>
                  <a:pt x="841" y="7337"/>
                  <a:pt x="0" y="8614"/>
                  <a:pt x="0" y="10138"/>
                </a:cubicBezTo>
                <a:cubicBezTo>
                  <a:pt x="-1" y="11193"/>
                  <a:pt x="409" y="12170"/>
                  <a:pt x="1074" y="12703"/>
                </a:cubicBezTo>
                <a:lnTo>
                  <a:pt x="1063" y="12669"/>
                </a:lnTo>
                <a:cubicBezTo>
                  <a:pt x="685" y="13218"/>
                  <a:pt x="475" y="13941"/>
                  <a:pt x="475" y="14691"/>
                </a:cubicBezTo>
                <a:cubicBezTo>
                  <a:pt x="475" y="16327"/>
                  <a:pt x="1451" y="17652"/>
                  <a:pt x="2655" y="17652"/>
                </a:cubicBezTo>
                <a:cubicBezTo>
                  <a:pt x="2739" y="17652"/>
                  <a:pt x="2824" y="17645"/>
                  <a:pt x="2909" y="17631"/>
                </a:cubicBezTo>
                <a:lnTo>
                  <a:pt x="2897" y="17651"/>
                </a:lnTo>
                <a:cubicBezTo>
                  <a:pt x="3585" y="19290"/>
                  <a:pt x="4863" y="20302"/>
                  <a:pt x="6248" y="20302"/>
                </a:cubicBezTo>
                <a:cubicBezTo>
                  <a:pt x="6948" y="20301"/>
                  <a:pt x="7636" y="20041"/>
                  <a:pt x="8236" y="19548"/>
                </a:cubicBezTo>
                <a:lnTo>
                  <a:pt x="8230" y="19552"/>
                </a:lnTo>
                <a:cubicBezTo>
                  <a:pt x="8856" y="20831"/>
                  <a:pt x="9909" y="21599"/>
                  <a:pt x="11037" y="21599"/>
                </a:cubicBezTo>
                <a:cubicBezTo>
                  <a:pt x="12524" y="21598"/>
                  <a:pt x="13837" y="20269"/>
                  <a:pt x="14268" y="18326"/>
                </a:cubicBezTo>
                <a:lnTo>
                  <a:pt x="14271" y="18352"/>
                </a:lnTo>
                <a:cubicBezTo>
                  <a:pt x="14731" y="18742"/>
                  <a:pt x="15261" y="18949"/>
                  <a:pt x="15803" y="18949"/>
                </a:cubicBezTo>
                <a:cubicBezTo>
                  <a:pt x="17392" y="18948"/>
                  <a:pt x="18684" y="17207"/>
                  <a:pt x="18696" y="15046"/>
                </a:cubicBezTo>
                <a:lnTo>
                  <a:pt x="18691" y="15036"/>
                </a:lnTo>
                <a:cubicBezTo>
                  <a:pt x="20359" y="14711"/>
                  <a:pt x="21599" y="12766"/>
                  <a:pt x="21599" y="10473"/>
                </a:cubicBezTo>
                <a:cubicBezTo>
                  <a:pt x="21599" y="9457"/>
                  <a:pt x="21352" y="8470"/>
                  <a:pt x="20898" y="7664"/>
                </a:cubicBezTo>
                <a:lnTo>
                  <a:pt x="20891" y="7662"/>
                </a:lnTo>
                <a:cubicBezTo>
                  <a:pt x="21033" y="7209"/>
                  <a:pt x="21107" y="6722"/>
                  <a:pt x="21107" y="6229"/>
                </a:cubicBezTo>
                <a:cubicBezTo>
                  <a:pt x="21107" y="4588"/>
                  <a:pt x="20301" y="3150"/>
                  <a:pt x="19141" y="2719"/>
                </a:cubicBezTo>
                <a:lnTo>
                  <a:pt x="19150" y="2712"/>
                </a:lnTo>
                <a:cubicBezTo>
                  <a:pt x="18942" y="1142"/>
                  <a:pt x="17935" y="0"/>
                  <a:pt x="16760" y="0"/>
                </a:cubicBezTo>
                <a:cubicBezTo>
                  <a:pt x="16045" y="-1"/>
                  <a:pt x="15368" y="426"/>
                  <a:pt x="14906" y="1165"/>
                </a:cubicBezTo>
                <a:lnTo>
                  <a:pt x="14910" y="1170"/>
                </a:lnTo>
                <a:cubicBezTo>
                  <a:pt x="14498" y="432"/>
                  <a:pt x="13856" y="0"/>
                  <a:pt x="13175" y="0"/>
                </a:cubicBezTo>
                <a:cubicBezTo>
                  <a:pt x="12348" y="-1"/>
                  <a:pt x="11591" y="637"/>
                  <a:pt x="11222" y="1645"/>
                </a:cubicBezTo>
                <a:lnTo>
                  <a:pt x="11230" y="1694"/>
                </a:lnTo>
                <a:cubicBezTo>
                  <a:pt x="10731" y="1024"/>
                  <a:pt x="10059" y="650"/>
                  <a:pt x="9359" y="650"/>
                </a:cubicBezTo>
                <a:cubicBezTo>
                  <a:pt x="8373" y="649"/>
                  <a:pt x="7467" y="1391"/>
                  <a:pt x="7004" y="2578"/>
                </a:cubicBezTo>
                <a:lnTo>
                  <a:pt x="6996" y="2602"/>
                </a:lnTo>
                <a:cubicBezTo>
                  <a:pt x="6478" y="2189"/>
                  <a:pt x="5889" y="1972"/>
                  <a:pt x="5288" y="1972"/>
                </a:cubicBezTo>
                <a:cubicBezTo>
                  <a:pt x="3423" y="1972"/>
                  <a:pt x="1912" y="4029"/>
                  <a:pt x="1912" y="6568"/>
                </a:cubicBezTo>
                <a:cubicBezTo>
                  <a:pt x="1911" y="6775"/>
                  <a:pt x="1922" y="6982"/>
                  <a:pt x="1942" y="7187"/>
                </a:cubicBezTo>
                <a:close/>
              </a:path>
            </a:pathLst>
          </a:custGeom>
          <a:solidFill>
            <a:srgbClr val="FFBE7D"/>
          </a:solidFill>
          <a:ln w="12700">
            <a:miter lim="400000"/>
          </a:ln>
          <a:effectLst>
            <a:outerShdw blurRad="50800" dist="50800" dir="2700000" rotWithShape="0">
              <a:srgbClr val="000000">
                <a:alpha val="40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559" name="Cloud"/>
          <p:cNvSpPr/>
          <p:nvPr/>
        </p:nvSpPr>
        <p:spPr>
          <a:xfrm rot="268469">
            <a:off x="8660032" y="2536124"/>
            <a:ext cx="1371806" cy="9194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599" extrusionOk="0">
                <a:moveTo>
                  <a:pt x="1949" y="7181"/>
                </a:moveTo>
                <a:cubicBezTo>
                  <a:pt x="841" y="7337"/>
                  <a:pt x="0" y="8614"/>
                  <a:pt x="0" y="10138"/>
                </a:cubicBezTo>
                <a:cubicBezTo>
                  <a:pt x="-1" y="11193"/>
                  <a:pt x="409" y="12170"/>
                  <a:pt x="1074" y="12703"/>
                </a:cubicBezTo>
                <a:lnTo>
                  <a:pt x="1063" y="12669"/>
                </a:lnTo>
                <a:cubicBezTo>
                  <a:pt x="685" y="13218"/>
                  <a:pt x="475" y="13941"/>
                  <a:pt x="475" y="14691"/>
                </a:cubicBezTo>
                <a:cubicBezTo>
                  <a:pt x="475" y="16327"/>
                  <a:pt x="1451" y="17652"/>
                  <a:pt x="2655" y="17652"/>
                </a:cubicBezTo>
                <a:cubicBezTo>
                  <a:pt x="2739" y="17652"/>
                  <a:pt x="2824" y="17645"/>
                  <a:pt x="2909" y="17631"/>
                </a:cubicBezTo>
                <a:lnTo>
                  <a:pt x="2897" y="17651"/>
                </a:lnTo>
                <a:cubicBezTo>
                  <a:pt x="3585" y="19290"/>
                  <a:pt x="4863" y="20302"/>
                  <a:pt x="6248" y="20302"/>
                </a:cubicBezTo>
                <a:cubicBezTo>
                  <a:pt x="6948" y="20301"/>
                  <a:pt x="7636" y="20041"/>
                  <a:pt x="8236" y="19548"/>
                </a:cubicBezTo>
                <a:lnTo>
                  <a:pt x="8230" y="19552"/>
                </a:lnTo>
                <a:cubicBezTo>
                  <a:pt x="8856" y="20831"/>
                  <a:pt x="9909" y="21599"/>
                  <a:pt x="11037" y="21599"/>
                </a:cubicBezTo>
                <a:cubicBezTo>
                  <a:pt x="12524" y="21598"/>
                  <a:pt x="13837" y="20269"/>
                  <a:pt x="14268" y="18326"/>
                </a:cubicBezTo>
                <a:lnTo>
                  <a:pt x="14271" y="18352"/>
                </a:lnTo>
                <a:cubicBezTo>
                  <a:pt x="14731" y="18742"/>
                  <a:pt x="15261" y="18949"/>
                  <a:pt x="15803" y="18949"/>
                </a:cubicBezTo>
                <a:cubicBezTo>
                  <a:pt x="17392" y="18948"/>
                  <a:pt x="18684" y="17207"/>
                  <a:pt x="18696" y="15046"/>
                </a:cubicBezTo>
                <a:lnTo>
                  <a:pt x="18691" y="15036"/>
                </a:lnTo>
                <a:cubicBezTo>
                  <a:pt x="20359" y="14711"/>
                  <a:pt x="21599" y="12766"/>
                  <a:pt x="21599" y="10473"/>
                </a:cubicBezTo>
                <a:cubicBezTo>
                  <a:pt x="21599" y="9457"/>
                  <a:pt x="21352" y="8470"/>
                  <a:pt x="20898" y="7664"/>
                </a:cubicBezTo>
                <a:lnTo>
                  <a:pt x="20891" y="7662"/>
                </a:lnTo>
                <a:cubicBezTo>
                  <a:pt x="21033" y="7209"/>
                  <a:pt x="21107" y="6722"/>
                  <a:pt x="21107" y="6229"/>
                </a:cubicBezTo>
                <a:cubicBezTo>
                  <a:pt x="21107" y="4588"/>
                  <a:pt x="20301" y="3150"/>
                  <a:pt x="19141" y="2719"/>
                </a:cubicBezTo>
                <a:lnTo>
                  <a:pt x="19150" y="2712"/>
                </a:lnTo>
                <a:cubicBezTo>
                  <a:pt x="18942" y="1142"/>
                  <a:pt x="17935" y="0"/>
                  <a:pt x="16760" y="0"/>
                </a:cubicBezTo>
                <a:cubicBezTo>
                  <a:pt x="16045" y="-1"/>
                  <a:pt x="15368" y="426"/>
                  <a:pt x="14906" y="1165"/>
                </a:cubicBezTo>
                <a:lnTo>
                  <a:pt x="14910" y="1170"/>
                </a:lnTo>
                <a:cubicBezTo>
                  <a:pt x="14498" y="432"/>
                  <a:pt x="13856" y="0"/>
                  <a:pt x="13175" y="0"/>
                </a:cubicBezTo>
                <a:cubicBezTo>
                  <a:pt x="12348" y="-1"/>
                  <a:pt x="11591" y="637"/>
                  <a:pt x="11222" y="1645"/>
                </a:cubicBezTo>
                <a:lnTo>
                  <a:pt x="11230" y="1694"/>
                </a:lnTo>
                <a:cubicBezTo>
                  <a:pt x="10731" y="1024"/>
                  <a:pt x="10059" y="650"/>
                  <a:pt x="9359" y="650"/>
                </a:cubicBezTo>
                <a:cubicBezTo>
                  <a:pt x="8373" y="649"/>
                  <a:pt x="7467" y="1391"/>
                  <a:pt x="7004" y="2578"/>
                </a:cubicBezTo>
                <a:lnTo>
                  <a:pt x="6996" y="2602"/>
                </a:lnTo>
                <a:cubicBezTo>
                  <a:pt x="6478" y="2189"/>
                  <a:pt x="5889" y="1972"/>
                  <a:pt x="5288" y="1972"/>
                </a:cubicBezTo>
                <a:cubicBezTo>
                  <a:pt x="3423" y="1972"/>
                  <a:pt x="1912" y="4029"/>
                  <a:pt x="1912" y="6568"/>
                </a:cubicBezTo>
                <a:cubicBezTo>
                  <a:pt x="1911" y="6775"/>
                  <a:pt x="1922" y="6982"/>
                  <a:pt x="1942" y="7187"/>
                </a:cubicBezTo>
                <a:close/>
              </a:path>
            </a:pathLst>
          </a:custGeom>
          <a:solidFill>
            <a:srgbClr val="FFBE7D"/>
          </a:solidFill>
          <a:ln w="12700">
            <a:miter lim="400000"/>
          </a:ln>
          <a:effectLst>
            <a:outerShdw blurRad="50800" dist="50800" dir="2700000" rotWithShape="0">
              <a:srgbClr val="000000">
                <a:alpha val="40000"/>
              </a:srgbClr>
            </a:outerShdw>
          </a:effectLst>
        </p:spPr>
        <p:txBody>
          <a:bodyPr lIns="45719" rIns="45719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560" name="Rounded Rectangle 33"/>
          <p:cNvSpPr/>
          <p:nvPr/>
        </p:nvSpPr>
        <p:spPr>
          <a:xfrm>
            <a:off x="7029450" y="1695450"/>
            <a:ext cx="509337" cy="666751"/>
          </a:xfrm>
          <a:prstGeom prst="roundRect">
            <a:avLst>
              <a:gd name="adj" fmla="val 16667"/>
            </a:avLst>
          </a:prstGeom>
          <a:ln w="19050">
            <a:solidFill>
              <a:srgbClr val="FF0000"/>
            </a:solidFill>
            <a:prstDash val="sysDash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pic>
        <p:nvPicPr>
          <p:cNvPr id="56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19801" y="2057401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56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53076" y="1847851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4211639" y="2208215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6392864" y="1770065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76901" y="2286001"/>
            <a:ext cx="276226" cy="276226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Straight Arrow Connector 49"/>
          <p:cNvSpPr/>
          <p:nvPr/>
        </p:nvSpPr>
        <p:spPr>
          <a:xfrm flipH="1">
            <a:off x="6591300" y="2362202"/>
            <a:ext cx="54644" cy="41910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7" name="Straight Arrow Connector 51"/>
          <p:cNvSpPr/>
          <p:nvPr/>
        </p:nvSpPr>
        <p:spPr>
          <a:xfrm flipH="1">
            <a:off x="6972301" y="2362200"/>
            <a:ext cx="311819" cy="42862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571" name="Group 55"/>
          <p:cNvGrpSpPr/>
          <p:nvPr/>
        </p:nvGrpSpPr>
        <p:grpSpPr>
          <a:xfrm>
            <a:off x="3536641" y="2847975"/>
            <a:ext cx="860756" cy="428625"/>
            <a:chOff x="0" y="0"/>
            <a:chExt cx="860754" cy="428623"/>
          </a:xfrm>
        </p:grpSpPr>
        <p:pic>
          <p:nvPicPr>
            <p:cNvPr id="568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42982" y="-1"/>
              <a:ext cx="417774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9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21491" y="5402"/>
              <a:ext cx="417773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0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0805"/>
              <a:ext cx="417773" cy="4178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75" name="Group 56"/>
          <p:cNvGrpSpPr/>
          <p:nvPr/>
        </p:nvGrpSpPr>
        <p:grpSpPr>
          <a:xfrm>
            <a:off x="6175066" y="2809875"/>
            <a:ext cx="860756" cy="428625"/>
            <a:chOff x="0" y="0"/>
            <a:chExt cx="860754" cy="428623"/>
          </a:xfrm>
        </p:grpSpPr>
        <p:pic>
          <p:nvPicPr>
            <p:cNvPr id="572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42982" y="-1"/>
              <a:ext cx="417774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3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21491" y="5402"/>
              <a:ext cx="417773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4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0805"/>
              <a:ext cx="417773" cy="4178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79" name="Group 60"/>
          <p:cNvGrpSpPr/>
          <p:nvPr/>
        </p:nvGrpSpPr>
        <p:grpSpPr>
          <a:xfrm>
            <a:off x="8937317" y="2800350"/>
            <a:ext cx="860756" cy="428625"/>
            <a:chOff x="0" y="0"/>
            <a:chExt cx="860754" cy="428623"/>
          </a:xfrm>
        </p:grpSpPr>
        <p:pic>
          <p:nvPicPr>
            <p:cNvPr id="576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42982" y="-1"/>
              <a:ext cx="417774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7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21491" y="5402"/>
              <a:ext cx="417773" cy="4178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8" name="Picture 51" descr="Picture 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0805"/>
              <a:ext cx="417773" cy="4178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80" name="TextBox 64"/>
          <p:cNvSpPr txBox="1"/>
          <p:nvPr/>
        </p:nvSpPr>
        <p:spPr>
          <a:xfrm>
            <a:off x="6261423" y="1219202"/>
            <a:ext cx="730186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pPr>
            <a:r>
              <a:t>Company</a:t>
            </a:r>
            <a:br/>
            <a:r>
              <a:t>A</a:t>
            </a:r>
          </a:p>
        </p:txBody>
      </p:sp>
      <p:sp>
        <p:nvSpPr>
          <p:cNvPr id="581" name="TextBox 65"/>
          <p:cNvSpPr txBox="1"/>
          <p:nvPr/>
        </p:nvSpPr>
        <p:spPr>
          <a:xfrm>
            <a:off x="6937698" y="1219202"/>
            <a:ext cx="730187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pPr>
            <a:r>
              <a:t>Company</a:t>
            </a:r>
            <a:br/>
            <a:r>
              <a:t>B</a:t>
            </a:r>
          </a:p>
        </p:txBody>
      </p:sp>
      <p:sp>
        <p:nvSpPr>
          <p:cNvPr id="582" name="Rounded Rectangle 66"/>
          <p:cNvSpPr/>
          <p:nvPr/>
        </p:nvSpPr>
        <p:spPr>
          <a:xfrm>
            <a:off x="8496299" y="2085975"/>
            <a:ext cx="1743077" cy="1495425"/>
          </a:xfrm>
          <a:prstGeom prst="roundRect">
            <a:avLst>
              <a:gd name="adj" fmla="val 16667"/>
            </a:avLst>
          </a:prstGeom>
          <a:ln w="19050">
            <a:solidFill>
              <a:srgbClr val="FF0000"/>
            </a:solidFill>
            <a:prstDash val="sysDash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pic>
        <p:nvPicPr>
          <p:cNvPr id="583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09014" y="2219326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4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589464" y="1885951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503614" y="1666876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6592889" y="2008190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8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76926" y="1704976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588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18589" y="2162176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89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80539" y="2295526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90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742489" y="2143126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91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932989" y="2438401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592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456614" y="2552701"/>
            <a:ext cx="277813" cy="277813"/>
          </a:xfrm>
          <a:prstGeom prst="rect">
            <a:avLst/>
          </a:prstGeom>
          <a:ln w="12700">
            <a:miter lim="400000"/>
          </a:ln>
        </p:spPr>
      </p:pic>
      <p:sp>
        <p:nvSpPr>
          <p:cNvPr id="593" name="Straight Arrow Connector 79"/>
          <p:cNvSpPr/>
          <p:nvPr/>
        </p:nvSpPr>
        <p:spPr>
          <a:xfrm>
            <a:off x="3600451" y="2466974"/>
            <a:ext cx="133351" cy="33337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4" name="Straight Arrow Connector 81"/>
          <p:cNvSpPr/>
          <p:nvPr/>
        </p:nvSpPr>
        <p:spPr>
          <a:xfrm>
            <a:off x="3743326" y="2019300"/>
            <a:ext cx="161926" cy="75247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5" name="Straight Arrow Connector 83"/>
          <p:cNvSpPr/>
          <p:nvPr/>
        </p:nvSpPr>
        <p:spPr>
          <a:xfrm flipH="1">
            <a:off x="4124325" y="2073275"/>
            <a:ext cx="81757" cy="68897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6" name="Straight Arrow Connector 85"/>
          <p:cNvSpPr/>
          <p:nvPr/>
        </p:nvSpPr>
        <p:spPr>
          <a:xfrm>
            <a:off x="3219451" y="2181224"/>
            <a:ext cx="342901" cy="63817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7" name="Straight Arrow Connector 87"/>
          <p:cNvSpPr/>
          <p:nvPr/>
        </p:nvSpPr>
        <p:spPr>
          <a:xfrm flipH="1">
            <a:off x="4381499" y="2190750"/>
            <a:ext cx="247651" cy="60960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9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1501" y="1609727"/>
            <a:ext cx="276226" cy="276226"/>
          </a:xfrm>
          <a:prstGeom prst="rect">
            <a:avLst/>
          </a:prstGeom>
          <a:ln w="12700">
            <a:miter lim="400000"/>
          </a:ln>
        </p:spPr>
      </p:pic>
      <p:sp>
        <p:nvSpPr>
          <p:cNvPr id="599" name="Straight Arrow Connector 90"/>
          <p:cNvSpPr/>
          <p:nvPr/>
        </p:nvSpPr>
        <p:spPr>
          <a:xfrm>
            <a:off x="8820150" y="2543175"/>
            <a:ext cx="266701" cy="20002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0" name="Straight Arrow Connector 92"/>
          <p:cNvSpPr/>
          <p:nvPr/>
        </p:nvSpPr>
        <p:spPr>
          <a:xfrm flipH="1">
            <a:off x="9667876" y="2466974"/>
            <a:ext cx="171451" cy="27622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1" name="Straight Arrow Connector 94"/>
          <p:cNvSpPr/>
          <p:nvPr/>
        </p:nvSpPr>
        <p:spPr>
          <a:xfrm>
            <a:off x="9157494" y="2439989"/>
            <a:ext cx="138906" cy="31273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8669339" y="1703390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03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39150" y="1485902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60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9374189" y="1446215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0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8707439" y="1284290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0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77325" y="1647826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60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86850" y="1257302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60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0002839" y="1693865"/>
            <a:ext cx="274638" cy="274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0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01200" y="1657351"/>
            <a:ext cx="276226" cy="276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61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63125" y="1362077"/>
            <a:ext cx="276226" cy="276226"/>
          </a:xfrm>
          <a:prstGeom prst="rect">
            <a:avLst/>
          </a:prstGeom>
          <a:ln w="12700">
            <a:miter lim="400000"/>
          </a:ln>
        </p:spPr>
      </p:pic>
      <p:sp>
        <p:nvSpPr>
          <p:cNvPr id="611" name="TextBox 104"/>
          <p:cNvSpPr txBox="1"/>
          <p:nvPr/>
        </p:nvSpPr>
        <p:spPr>
          <a:xfrm>
            <a:off x="3645210" y="3486150"/>
            <a:ext cx="62861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Public</a:t>
            </a:r>
          </a:p>
        </p:txBody>
      </p:sp>
      <p:sp>
        <p:nvSpPr>
          <p:cNvPr id="612" name="TextBox 105"/>
          <p:cNvSpPr txBox="1"/>
          <p:nvPr/>
        </p:nvSpPr>
        <p:spPr>
          <a:xfrm>
            <a:off x="6076816" y="3514725"/>
            <a:ext cx="1118454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Community</a:t>
            </a:r>
          </a:p>
        </p:txBody>
      </p:sp>
      <p:sp>
        <p:nvSpPr>
          <p:cNvPr id="613" name="TextBox 106"/>
          <p:cNvSpPr txBox="1"/>
          <p:nvPr/>
        </p:nvSpPr>
        <p:spPr>
          <a:xfrm>
            <a:off x="9031405" y="3533775"/>
            <a:ext cx="714733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Private</a:t>
            </a:r>
          </a:p>
        </p:txBody>
      </p:sp>
      <p:pic>
        <p:nvPicPr>
          <p:cNvPr id="614" name="Picture 8" descr="Picture 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048000" y="2828925"/>
            <a:ext cx="466582" cy="4665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5" name="Picture 8" descr="Picture 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695950" y="2819400"/>
            <a:ext cx="466582" cy="4665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027864" y="1752601"/>
            <a:ext cx="277813" cy="277813"/>
          </a:xfrm>
          <a:prstGeom prst="rect">
            <a:avLst/>
          </a:prstGeom>
          <a:ln w="12700">
            <a:miter lim="400000"/>
          </a:ln>
        </p:spPr>
      </p:pic>
      <p:pic>
        <p:nvPicPr>
          <p:cNvPr id="617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237414" y="2028826"/>
            <a:ext cx="277813" cy="2778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5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2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2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2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2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2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2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3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3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3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3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3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3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2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3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5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3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3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3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4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4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5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4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4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4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4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4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4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2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4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4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8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5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5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5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5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5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5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5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9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5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2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5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5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5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8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6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2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6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5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6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6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3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" grpId="1" build="p" bldLvl="5" animBg="1" advAuto="0"/>
      <p:bldP spid="547" grpId="60" animBg="1" advAuto="0"/>
      <p:bldP spid="548" grpId="61" animBg="1" advAuto="0"/>
      <p:bldP spid="549" grpId="62" animBg="1" advAuto="0"/>
      <p:bldP spid="550" grpId="63" animBg="1" advAuto="0"/>
      <p:bldP spid="551" grpId="2" animBg="1" advAuto="0"/>
      <p:bldP spid="552" grpId="3" animBg="1" advAuto="0"/>
      <p:bldP spid="553" grpId="4" animBg="1" advAuto="0"/>
      <p:bldP spid="554" grpId="5" animBg="1" advAuto="0"/>
      <p:bldP spid="555" grpId="6" animBg="1" advAuto="0"/>
      <p:bldP spid="556" grpId="7" animBg="1" advAuto="0"/>
      <p:bldP spid="557" grpId="42" animBg="1" advAuto="0"/>
      <p:bldP spid="558" grpId="43" animBg="1" advAuto="0"/>
      <p:bldP spid="559" grpId="20" animBg="1" advAuto="0"/>
      <p:bldP spid="560" grpId="44" animBg="1" advAuto="0"/>
      <p:bldP spid="561" grpId="45" animBg="1" advAuto="0"/>
      <p:bldP spid="562" grpId="46" animBg="1" advAuto="0"/>
      <p:bldP spid="563" grpId="8" animBg="1" advAuto="0"/>
      <p:bldP spid="564" grpId="47" animBg="1" advAuto="0"/>
      <p:bldP spid="565" grpId="48" animBg="1" advAuto="0"/>
      <p:bldP spid="566" grpId="49" animBg="1" advAuto="0"/>
      <p:bldP spid="567" grpId="50" animBg="1" advAuto="0"/>
      <p:bldP spid="571" grpId="9" animBg="1" advAuto="0"/>
      <p:bldP spid="575" grpId="51" animBg="1" advAuto="0"/>
      <p:bldP spid="579" grpId="21" animBg="1" advAuto="0"/>
      <p:bldP spid="580" grpId="52" animBg="1" advAuto="0"/>
      <p:bldP spid="581" grpId="53" animBg="1" advAuto="0"/>
      <p:bldP spid="582" grpId="22" animBg="1" advAuto="0"/>
      <p:bldP spid="583" grpId="23" animBg="1" advAuto="0"/>
      <p:bldP spid="584" grpId="10" animBg="1" advAuto="0"/>
      <p:bldP spid="585" grpId="11" animBg="1" advAuto="0"/>
      <p:bldP spid="586" grpId="54" animBg="1" advAuto="0"/>
      <p:bldP spid="587" grpId="55" animBg="1" advAuto="0"/>
      <p:bldP spid="588" grpId="24" animBg="1" advAuto="0"/>
      <p:bldP spid="589" grpId="25" animBg="1" advAuto="0"/>
      <p:bldP spid="590" grpId="26" animBg="1" advAuto="0"/>
      <p:bldP spid="591" grpId="27" animBg="1" advAuto="0"/>
      <p:bldP spid="592" grpId="28" animBg="1" advAuto="0"/>
      <p:bldP spid="593" grpId="12" animBg="1" advAuto="0"/>
      <p:bldP spid="594" grpId="13" animBg="1" advAuto="0"/>
      <p:bldP spid="595" grpId="14" animBg="1" advAuto="0"/>
      <p:bldP spid="596" grpId="15" animBg="1" advAuto="0"/>
      <p:bldP spid="597" grpId="16" animBg="1" advAuto="0"/>
      <p:bldP spid="598" grpId="17" animBg="1" advAuto="0"/>
      <p:bldP spid="599" grpId="29" animBg="1" advAuto="0"/>
      <p:bldP spid="600" grpId="30" animBg="1" advAuto="0"/>
      <p:bldP spid="601" grpId="31" animBg="1" advAuto="0"/>
      <p:bldP spid="602" grpId="32" animBg="1" advAuto="0"/>
      <p:bldP spid="603" grpId="33" animBg="1" advAuto="0"/>
      <p:bldP spid="604" grpId="34" animBg="1" advAuto="0"/>
      <p:bldP spid="605" grpId="35" animBg="1" advAuto="0"/>
      <p:bldP spid="606" grpId="36" animBg="1" advAuto="0"/>
      <p:bldP spid="607" grpId="37" animBg="1" advAuto="0"/>
      <p:bldP spid="608" grpId="38" animBg="1" advAuto="0"/>
      <p:bldP spid="609" grpId="39" animBg="1" advAuto="0"/>
      <p:bldP spid="610" grpId="40" animBg="1" advAuto="0"/>
      <p:bldP spid="611" grpId="18" animBg="1" advAuto="0"/>
      <p:bldP spid="612" grpId="56" animBg="1" advAuto="0"/>
      <p:bldP spid="613" grpId="41" animBg="1" advAuto="0"/>
      <p:bldP spid="614" grpId="19" animBg="1" advAuto="0"/>
      <p:bldP spid="615" grpId="57" animBg="1" advAuto="0"/>
      <p:bldP spid="616" grpId="58" animBg="1" advAuto="0"/>
      <p:bldP spid="617" grpId="59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Plan for today</a:t>
            </a:r>
          </a:p>
        </p:txBody>
      </p:sp>
      <p:sp>
        <p:nvSpPr>
          <p:cNvPr id="620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658938"/>
            <a:ext cx="7858125" cy="4532313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t>Computing at scale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The need for scalability; scale of current services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Scaling up: From PCs to data centers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Problems with 'classical' scaling techniques </a:t>
            </a:r>
            <a:br/>
            <a:endParaRPr/>
          </a:p>
          <a:p>
            <a:pPr marL="226313" indent="-226313" defTabSz="905255">
              <a:spcBef>
                <a:spcPts val="900"/>
              </a:spcBef>
              <a:defRPr sz="2772"/>
            </a:pPr>
            <a:r>
              <a:t>Utility computing and cloud computing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are utility computing and cloud computing?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What kinds of clouds exist today?</a:t>
            </a:r>
          </a:p>
          <a:p>
            <a:pPr marL="678941" lvl="1" indent="-226313" defTabSz="905255">
              <a:spcBef>
                <a:spcPts val="400"/>
              </a:spcBef>
              <a:defRPr sz="2376">
                <a:solidFill>
                  <a:srgbClr val="FF9900"/>
                </a:solidFill>
              </a:defRPr>
            </a:pPr>
            <a:r>
              <a:t>What kinds of applications run on the cloud?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Virtualization: How clouds work 'under the hood'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t>Some cloud computing challenges</a:t>
            </a:r>
          </a:p>
        </p:txBody>
      </p:sp>
      <p:sp>
        <p:nvSpPr>
          <p:cNvPr id="62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Examples of cloud applications</a:t>
            </a:r>
          </a:p>
        </p:txBody>
      </p:sp>
      <p:sp>
        <p:nvSpPr>
          <p:cNvPr id="62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Application hosting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Backup and Storage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Content delivery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E-commerce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High-performance computing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Media hosting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On-demand workforce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Search engines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2772"/>
            </a:pPr>
            <a:r>
              <a:t>Web hosting</a:t>
            </a:r>
          </a:p>
        </p:txBody>
      </p:sp>
      <p:sp>
        <p:nvSpPr>
          <p:cNvPr id="62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Case study: </a:t>
            </a:r>
          </a:p>
        </p:txBody>
      </p:sp>
      <p:sp>
        <p:nvSpPr>
          <p:cNvPr id="62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t>Animoto: Lets users</a:t>
            </a:r>
            <a:br/>
            <a:r>
              <a:t>create videos from </a:t>
            </a:r>
            <a:br/>
            <a:r>
              <a:t>their own photos/music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Auto-edits photos and aligns</a:t>
            </a:r>
            <a:br/>
            <a:r>
              <a:t>them with the music, so it</a:t>
            </a:r>
            <a:br/>
            <a:r>
              <a:t>"looks good"</a:t>
            </a:r>
          </a:p>
          <a:p>
            <a:r>
              <a:t>Built using Amazon EC2+S3+SQS</a:t>
            </a:r>
          </a:p>
          <a:p>
            <a:r>
              <a:t>Released a Facebook app in mid-April 2008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More than </a:t>
            </a:r>
            <a:r>
              <a:rPr>
                <a:solidFill>
                  <a:srgbClr val="FF9900"/>
                </a:solidFill>
              </a:rPr>
              <a:t>750,000 people </a:t>
            </a:r>
            <a:r>
              <a:t>signed up within </a:t>
            </a:r>
            <a:r>
              <a:rPr>
                <a:solidFill>
                  <a:srgbClr val="FF9900"/>
                </a:solidFill>
              </a:rPr>
              <a:t>3 days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EC2 usage went from 50 machines to 3,500 (x70 scalability!)</a:t>
            </a:r>
          </a:p>
        </p:txBody>
      </p:sp>
      <p:sp>
        <p:nvSpPr>
          <p:cNvPr id="629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pic>
        <p:nvPicPr>
          <p:cNvPr id="63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29976" y="1496264"/>
            <a:ext cx="3424581" cy="2376490"/>
          </a:xfrm>
          <a:prstGeom prst="rect">
            <a:avLst/>
          </a:prstGeom>
          <a:ln w="12700">
            <a:miter lim="400000"/>
          </a:ln>
        </p:spPr>
      </p:pic>
      <p:sp>
        <p:nvSpPr>
          <p:cNvPr id="631" name="TextBox 7"/>
          <p:cNvSpPr txBox="1"/>
          <p:nvPr/>
        </p:nvSpPr>
        <p:spPr>
          <a:xfrm>
            <a:off x="7361990" y="3747248"/>
            <a:ext cx="2726803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0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Source: Jeff Bezos' talk at Stanford on 4/19/08</a:t>
            </a:r>
          </a:p>
        </p:txBody>
      </p:sp>
      <p:pic>
        <p:nvPicPr>
          <p:cNvPr id="632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79500" y="663147"/>
            <a:ext cx="2409525" cy="619049"/>
          </a:xfrm>
          <a:prstGeom prst="rect">
            <a:avLst/>
          </a:prstGeom>
          <a:ln w="12700">
            <a:miter lim="400000"/>
          </a:ln>
        </p:spPr>
      </p:pic>
      <p:sp>
        <p:nvSpPr>
          <p:cNvPr id="633" name="TextBox 9"/>
          <p:cNvSpPr txBox="1"/>
          <p:nvPr/>
        </p:nvSpPr>
        <p:spPr>
          <a:xfrm rot="16200000">
            <a:off x="8806169" y="1710349"/>
            <a:ext cx="3511214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"/>
              </a:spcBef>
              <a:defRPr sz="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http://animoto.com/blog/company/amazon-com-ceo-jeff-bezos-on-animoto/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" grpId="1" build="p" bldLvl="5" animBg="1" advAuto="0"/>
      <p:bldP spid="630" grpId="2" animBg="1" advAuto="0"/>
      <p:bldP spid="631" grpId="3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Case study:</a:t>
            </a:r>
          </a:p>
        </p:txBody>
      </p:sp>
      <p:sp>
        <p:nvSpPr>
          <p:cNvPr id="63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590675"/>
            <a:ext cx="7772400" cy="4714876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March 19, 2008: Hillary Clinton's official White House schedule released to the public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17,481 pages of non-searchable, low-quality PDF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Very interesting to journalists, but would have required hundreds of man-hours to evaluate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Peter Harkins, Senior Engineer at The Washington Post: </a:t>
            </a:r>
            <a:br/>
            <a:r>
              <a:t>Can we make that data available more quickly, ideally within the same news cycle?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Tested various Optical Character Recognition (OCR) programs; estimated required speed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Launched 200 EC2 instances; project was completed within nine hours using 1,407 hours of VM time ($144.62)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Results available on the web only 26 hours after the release</a:t>
            </a:r>
          </a:p>
        </p:txBody>
      </p:sp>
      <p:sp>
        <p:nvSpPr>
          <p:cNvPr id="637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  <p:pic>
        <p:nvPicPr>
          <p:cNvPr id="63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48250" y="709612"/>
            <a:ext cx="3771900" cy="583206"/>
          </a:xfrm>
          <a:prstGeom prst="rect">
            <a:avLst/>
          </a:prstGeom>
          <a:ln w="12700">
            <a:miter lim="400000"/>
          </a:ln>
        </p:spPr>
      </p:pic>
      <p:sp>
        <p:nvSpPr>
          <p:cNvPr id="639" name="TextBox 6"/>
          <p:cNvSpPr txBox="1"/>
          <p:nvPr/>
        </p:nvSpPr>
        <p:spPr>
          <a:xfrm rot="16200000">
            <a:off x="9057714" y="1455471"/>
            <a:ext cx="300812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100"/>
              </a:spcBef>
              <a:defRPr sz="8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http://aws.amazon.com/solutions/case-studies/washington-post/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" grpId="1" build="p" bldLvl="5" animBg="1" advAuto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Other examples</a:t>
            </a:r>
          </a:p>
        </p:txBody>
      </p:sp>
      <p:sp>
        <p:nvSpPr>
          <p:cNvPr id="64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DreamWorks is using the Cerelink </a:t>
            </a:r>
            <a:br/>
            <a:r>
              <a:t>cloud to render animation movies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t>Cloud was already used to render parts of </a:t>
            </a:r>
            <a:br/>
            <a:r>
              <a:rPr i="1"/>
              <a:t>Shrek Forever After</a:t>
            </a:r>
            <a:r>
              <a:t> </a:t>
            </a:r>
            <a:r>
              <a:rPr i="1"/>
              <a:t> </a:t>
            </a:r>
            <a:r>
              <a:t>and </a:t>
            </a:r>
            <a:r>
              <a:rPr i="1"/>
              <a:t>How to Train </a:t>
            </a:r>
            <a:br>
              <a:rPr i="1"/>
            </a:br>
            <a:r>
              <a:rPr i="1"/>
              <a:t>your Dragon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 i="1"/>
            </a:pPr>
            <a:endParaRPr i="1"/>
          </a:p>
          <a:p>
            <a:pPr>
              <a:lnSpc>
                <a:spcPct val="81000"/>
              </a:lnSpc>
              <a:defRPr sz="2500"/>
            </a:pPr>
            <a:r>
              <a:t>CERN is working on a "science </a:t>
            </a:r>
            <a:br/>
            <a:r>
              <a:t>cloud" to process experimental </a:t>
            </a:r>
            <a:br/>
            <a:r>
              <a:t>data</a:t>
            </a:r>
          </a:p>
          <a:p>
            <a:pPr marL="0" indent="0">
              <a:lnSpc>
                <a:spcPct val="81000"/>
              </a:lnSpc>
              <a:buSzTx/>
              <a:buNone/>
              <a:defRPr sz="2500"/>
            </a:pPr>
            <a:endParaRPr/>
          </a:p>
          <a:p>
            <a:pPr>
              <a:lnSpc>
                <a:spcPct val="81000"/>
              </a:lnSpc>
              <a:defRPr sz="2500"/>
            </a:pPr>
            <a:r>
              <a:t>Virgin atlantic is hosting their new</a:t>
            </a:r>
            <a:br/>
            <a:r>
              <a:t>travel portal on Amazon AWS</a:t>
            </a:r>
          </a:p>
        </p:txBody>
      </p:sp>
      <p:sp>
        <p:nvSpPr>
          <p:cNvPr id="64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pic>
        <p:nvPicPr>
          <p:cNvPr id="64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37399" y="1101431"/>
            <a:ext cx="1137762" cy="1796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64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37399" y="5000264"/>
            <a:ext cx="1831976" cy="558753"/>
          </a:xfrm>
          <a:prstGeom prst="rect">
            <a:avLst/>
          </a:prstGeom>
          <a:ln w="12700">
            <a:miter lim="400000"/>
          </a:ln>
        </p:spPr>
      </p:pic>
      <p:pic>
        <p:nvPicPr>
          <p:cNvPr id="646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237399" y="3169791"/>
            <a:ext cx="2068730" cy="13858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" grpId="1" build="p" bldLvl="5" animBg="1" advAuto="0"/>
      <p:bldP spid="645" grpId="3" animBg="1" advAuto="0"/>
      <p:bldP spid="646" grpId="2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Recap: Utility/cloud computing</a:t>
            </a:r>
          </a:p>
        </p:txBody>
      </p:sp>
      <p:sp>
        <p:nvSpPr>
          <p:cNvPr id="64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Why is cloud computing attractive?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Analogy to 'classical' utilities (electricity, water, ...)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No up-front investment (pay-as-you-go model)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Low price due to economies of scale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Elasticity - can quickly scale up/down as demand varies</a:t>
            </a:r>
          </a:p>
          <a:p>
            <a:pPr>
              <a:defRPr sz="2500"/>
            </a:pPr>
            <a:r>
              <a:t>Different types of clouds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SaaS, PaaS, IaaS; public/private/community clouds</a:t>
            </a:r>
          </a:p>
          <a:p>
            <a:pPr>
              <a:defRPr sz="2500"/>
            </a:pPr>
            <a:r>
              <a:t>What runs on the cloud?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Many potential applications: Application hosting, backup/storage, scientific computing, content delivery, ...</a:t>
            </a:r>
          </a:p>
          <a:p>
            <a:pPr marL="685800" lvl="1" indent="-228600">
              <a:spcBef>
                <a:spcPts val="500"/>
              </a:spcBef>
              <a:defRPr sz="2200"/>
            </a:pPr>
            <a:r>
              <a:t>Not yet suitable for certain applications (sensitive data, compliance requirements)</a:t>
            </a:r>
          </a:p>
        </p:txBody>
      </p:sp>
      <p:sp>
        <p:nvSpPr>
          <p:cNvPr id="65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Is the cloud good for everything?</a:t>
            </a:r>
          </a:p>
        </p:txBody>
      </p:sp>
      <p:sp>
        <p:nvSpPr>
          <p:cNvPr id="65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514600" y="1443318"/>
            <a:ext cx="7992034" cy="4912658"/>
          </a:xfrm>
          <a:prstGeom prst="rect">
            <a:avLst/>
          </a:prstGeom>
        </p:spPr>
        <p:txBody>
          <a:bodyPr/>
          <a:lstStyle/>
          <a:p>
            <a:r>
              <a:t>No. </a:t>
            </a:r>
          </a:p>
          <a:p>
            <a:r>
              <a:t>Sometimes it is problematic, e.g., because of auditability requirements</a:t>
            </a:r>
            <a:br/>
            <a:endParaRPr sz="800"/>
          </a:p>
          <a:p>
            <a:r>
              <a:t>Example: Processing medical records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HIPAA (Health Insurance Portability and Accountability Act) privacy and security rule</a:t>
            </a:r>
          </a:p>
          <a:p>
            <a:r>
              <a:t>Example: Processing financial information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Sarbanes-Oxley act</a:t>
            </a:r>
          </a:p>
          <a:p>
            <a:pPr marL="685800" lvl="1" indent="-228600">
              <a:spcBef>
                <a:spcPts val="500"/>
              </a:spcBef>
              <a:defRPr sz="800"/>
            </a:pPr>
            <a:endParaRPr/>
          </a:p>
          <a:p>
            <a:r>
              <a:t>Would you put your medical data on the cloud?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Why / why not?</a:t>
            </a:r>
          </a:p>
        </p:txBody>
      </p:sp>
      <p:sp>
        <p:nvSpPr>
          <p:cNvPr id="654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" grpId="1" build="p" animBg="1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Recap: Cloud applications</a:t>
            </a:r>
          </a:p>
        </p:txBody>
      </p:sp>
      <p:sp>
        <p:nvSpPr>
          <p:cNvPr id="65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t>Clouds are good for many things...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Applications that involve large amounts of computation, storage, bandwidth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Especially when lots of resources are needed quickly (Washington Post example) or load varies rapidly (TicketLeap example)</a:t>
            </a:r>
          </a:p>
          <a:p>
            <a:endParaRPr sz="2400"/>
          </a:p>
          <a:p>
            <a:r>
              <a:t>... but not for all things</a:t>
            </a:r>
          </a:p>
        </p:txBody>
      </p:sp>
      <p:sp>
        <p:nvSpPr>
          <p:cNvPr id="65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 is virtualization?</a:t>
            </a:r>
          </a:p>
        </p:txBody>
      </p:sp>
      <p:sp>
        <p:nvSpPr>
          <p:cNvPr id="66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38200" y="4154950"/>
            <a:ext cx="9448800" cy="2266950"/>
          </a:xfrm>
          <a:prstGeom prst="rect">
            <a:avLst/>
          </a:prstGeom>
        </p:spPr>
        <p:txBody>
          <a:bodyPr/>
          <a:lstStyle/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rPr dirty="0"/>
              <a:t>Suppose Alice has a machine with 4 CPUs and 8 GB of memory, and three customers:</a:t>
            </a:r>
          </a:p>
          <a:p>
            <a:pPr marL="672084" lvl="1" indent="-224027" defTabSz="896111">
              <a:lnSpc>
                <a:spcPct val="81000"/>
              </a:lnSpc>
              <a:spcBef>
                <a:spcPts val="400"/>
              </a:spcBef>
              <a:defRPr sz="2156"/>
            </a:pPr>
            <a:r>
              <a:rPr dirty="0"/>
              <a:t>Bob wants a machine with 1 CPU and 3GB of memory</a:t>
            </a:r>
          </a:p>
          <a:p>
            <a:pPr marL="672084" lvl="1" indent="-224027" defTabSz="896111">
              <a:lnSpc>
                <a:spcPct val="81000"/>
              </a:lnSpc>
              <a:spcBef>
                <a:spcPts val="400"/>
              </a:spcBef>
              <a:defRPr sz="2156"/>
            </a:pPr>
            <a:r>
              <a:rPr dirty="0"/>
              <a:t>Charlie wants 2 CPUs and 1GB of memory</a:t>
            </a:r>
          </a:p>
          <a:p>
            <a:pPr marL="672084" lvl="1" indent="-224027" defTabSz="896111">
              <a:lnSpc>
                <a:spcPct val="81000"/>
              </a:lnSpc>
              <a:spcBef>
                <a:spcPts val="400"/>
              </a:spcBef>
              <a:defRPr sz="2156"/>
            </a:pPr>
            <a:r>
              <a:rPr dirty="0"/>
              <a:t>Daniel wants 1 CPU and 4GB of memory</a:t>
            </a:r>
          </a:p>
          <a:p>
            <a:pPr marL="224027" indent="-224027" defTabSz="896111">
              <a:lnSpc>
                <a:spcPct val="81000"/>
              </a:lnSpc>
              <a:spcBef>
                <a:spcPts val="900"/>
              </a:spcBef>
              <a:defRPr sz="2450"/>
            </a:pPr>
            <a:r>
              <a:rPr dirty="0"/>
              <a:t>What should Alice do?</a:t>
            </a:r>
          </a:p>
        </p:txBody>
      </p:sp>
      <p:sp>
        <p:nvSpPr>
          <p:cNvPr id="66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50</a:t>
            </a:fld>
            <a:endParaRPr/>
          </a:p>
        </p:txBody>
      </p:sp>
      <p:pic>
        <p:nvPicPr>
          <p:cNvPr id="667" name="Picture 51" descr="Picture 5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60869" y="1644649"/>
            <a:ext cx="1825481" cy="1825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6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93035" y="2255839"/>
            <a:ext cx="554037" cy="554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669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flipH="1">
            <a:off x="7791450" y="1362077"/>
            <a:ext cx="504826" cy="504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670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636839" y="2438401"/>
            <a:ext cx="639762" cy="639762"/>
          </a:xfrm>
          <a:prstGeom prst="rect">
            <a:avLst/>
          </a:prstGeom>
          <a:ln w="12700">
            <a:miter lim="400000"/>
          </a:ln>
        </p:spPr>
      </p:pic>
      <p:sp>
        <p:nvSpPr>
          <p:cNvPr id="671" name="TextBox 9"/>
          <p:cNvSpPr txBox="1"/>
          <p:nvPr/>
        </p:nvSpPr>
        <p:spPr>
          <a:xfrm>
            <a:off x="2718557" y="3028950"/>
            <a:ext cx="519768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Alice</a:t>
            </a:r>
          </a:p>
        </p:txBody>
      </p:sp>
      <p:pic>
        <p:nvPicPr>
          <p:cNvPr id="672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590925" y="1733550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3" name="Picture 14" descr="Picture 1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613439" y="276684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74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171950" y="1733550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5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600450" y="2247900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6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162425" y="22574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7" name="Picture 23" descr="Picture 2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203989" y="276684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78" name="Picture 26" descr="Picture 2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603914" y="291924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79" name="Picture 27" descr="Picture 2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194464" y="291924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0" name="Picture 28" descr="Picture 2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613439" y="30621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1" name="Picture 29" descr="Picture 2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203989" y="30621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2" name="Picture 30" descr="Picture 3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613439" y="32049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3" name="Picture 31" descr="Picture 3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203989" y="32049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4" name="Picture 5" descr="Pictur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flipH="1">
            <a:off x="7810500" y="3152775"/>
            <a:ext cx="580882" cy="580882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TextBox 33"/>
          <p:cNvSpPr txBox="1"/>
          <p:nvPr/>
        </p:nvSpPr>
        <p:spPr>
          <a:xfrm>
            <a:off x="7841022" y="1790700"/>
            <a:ext cx="44753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Bob</a:t>
            </a:r>
          </a:p>
        </p:txBody>
      </p:sp>
      <p:sp>
        <p:nvSpPr>
          <p:cNvPr id="686" name="TextBox 34"/>
          <p:cNvSpPr txBox="1"/>
          <p:nvPr/>
        </p:nvSpPr>
        <p:spPr>
          <a:xfrm>
            <a:off x="7724143" y="2743200"/>
            <a:ext cx="719396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Charlie</a:t>
            </a:r>
          </a:p>
        </p:txBody>
      </p:sp>
      <p:sp>
        <p:nvSpPr>
          <p:cNvPr id="687" name="TextBox 35"/>
          <p:cNvSpPr txBox="1"/>
          <p:nvPr/>
        </p:nvSpPr>
        <p:spPr>
          <a:xfrm>
            <a:off x="7772018" y="3657600"/>
            <a:ext cx="66175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Daniel</a:t>
            </a:r>
          </a:p>
        </p:txBody>
      </p:sp>
      <p:grpSp>
        <p:nvGrpSpPr>
          <p:cNvPr id="693" name="Cloud Callout 36"/>
          <p:cNvGrpSpPr/>
          <p:nvPr/>
        </p:nvGrpSpPr>
        <p:grpSpPr>
          <a:xfrm>
            <a:off x="8179037" y="412558"/>
            <a:ext cx="1641995" cy="1112859"/>
            <a:chOff x="0" y="0"/>
            <a:chExt cx="1641993" cy="1112858"/>
          </a:xfrm>
        </p:grpSpPr>
        <p:sp>
          <p:nvSpPr>
            <p:cNvPr id="688" name="Shape"/>
            <p:cNvSpPr/>
            <p:nvPr/>
          </p:nvSpPr>
          <p:spPr>
            <a:xfrm>
              <a:off x="58746" y="0"/>
              <a:ext cx="1583248" cy="925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lnTo>
                    <a:pt x="10857" y="1573"/>
                  </a:ln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lnTo>
                    <a:pt x="1038" y="12172"/>
                  </a:ln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89" name="Circle"/>
            <p:cNvSpPr/>
            <p:nvPr/>
          </p:nvSpPr>
          <p:spPr>
            <a:xfrm>
              <a:off x="191421" y="825352"/>
              <a:ext cx="153989" cy="153989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0" name="Circle"/>
            <p:cNvSpPr/>
            <p:nvPr/>
          </p:nvSpPr>
          <p:spPr>
            <a:xfrm>
              <a:off x="75293" y="958989"/>
              <a:ext cx="102659" cy="102659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1" name="Circle"/>
            <p:cNvSpPr/>
            <p:nvPr/>
          </p:nvSpPr>
          <p:spPr>
            <a:xfrm>
              <a:off x="0" y="1061528"/>
              <a:ext cx="51331" cy="5133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2" name="Shape"/>
            <p:cNvSpPr/>
            <p:nvPr/>
          </p:nvSpPr>
          <p:spPr>
            <a:xfrm>
              <a:off x="139140" y="47072"/>
              <a:ext cx="1450783" cy="78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699" name="Cloud Callout 37"/>
          <p:cNvGrpSpPr/>
          <p:nvPr/>
        </p:nvGrpSpPr>
        <p:grpSpPr>
          <a:xfrm>
            <a:off x="8273495" y="1318017"/>
            <a:ext cx="2250630" cy="1176355"/>
            <a:chOff x="0" y="0"/>
            <a:chExt cx="2250628" cy="1176353"/>
          </a:xfrm>
        </p:grpSpPr>
        <p:sp>
          <p:nvSpPr>
            <p:cNvPr id="694" name="Shape"/>
            <p:cNvSpPr/>
            <p:nvPr/>
          </p:nvSpPr>
          <p:spPr>
            <a:xfrm>
              <a:off x="621474" y="0"/>
              <a:ext cx="1629155" cy="110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lnTo>
                    <a:pt x="10857" y="1573"/>
                  </a:ln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lnTo>
                    <a:pt x="1038" y="12172"/>
                  </a:ln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5" name="Circle"/>
            <p:cNvSpPr/>
            <p:nvPr/>
          </p:nvSpPr>
          <p:spPr>
            <a:xfrm>
              <a:off x="434696" y="842973"/>
              <a:ext cx="184151" cy="18415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6" name="Circle"/>
            <p:cNvSpPr/>
            <p:nvPr/>
          </p:nvSpPr>
          <p:spPr>
            <a:xfrm>
              <a:off x="189098" y="990966"/>
              <a:ext cx="122767" cy="1227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7" name="Circle"/>
            <p:cNvSpPr/>
            <p:nvPr/>
          </p:nvSpPr>
          <p:spPr>
            <a:xfrm>
              <a:off x="0" y="1114969"/>
              <a:ext cx="61385" cy="6138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698" name="Shape"/>
            <p:cNvSpPr/>
            <p:nvPr/>
          </p:nvSpPr>
          <p:spPr>
            <a:xfrm>
              <a:off x="704199" y="56292"/>
              <a:ext cx="1492850" cy="939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705" name="Cloud Callout 38"/>
          <p:cNvGrpSpPr/>
          <p:nvPr/>
        </p:nvGrpSpPr>
        <p:grpSpPr>
          <a:xfrm>
            <a:off x="8272988" y="2517399"/>
            <a:ext cx="1652673" cy="868461"/>
            <a:chOff x="0" y="0"/>
            <a:chExt cx="1652671" cy="868459"/>
          </a:xfrm>
        </p:grpSpPr>
        <p:sp>
          <p:nvSpPr>
            <p:cNvPr id="700" name="Shape"/>
            <p:cNvSpPr/>
            <p:nvPr/>
          </p:nvSpPr>
          <p:spPr>
            <a:xfrm>
              <a:off x="374628" y="0"/>
              <a:ext cx="1278044" cy="868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lnTo>
                    <a:pt x="10857" y="1573"/>
                  </a:ln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lnTo>
                    <a:pt x="1038" y="12172"/>
                  </a:ln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1" name="Circle"/>
            <p:cNvSpPr/>
            <p:nvPr/>
          </p:nvSpPr>
          <p:spPr>
            <a:xfrm>
              <a:off x="260721" y="632747"/>
              <a:ext cx="144463" cy="144463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2" name="Circle"/>
            <p:cNvSpPr/>
            <p:nvPr/>
          </p:nvSpPr>
          <p:spPr>
            <a:xfrm>
              <a:off x="108028" y="728055"/>
              <a:ext cx="96309" cy="96309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3" name="Circle"/>
            <p:cNvSpPr/>
            <p:nvPr/>
          </p:nvSpPr>
          <p:spPr>
            <a:xfrm>
              <a:off x="0" y="805366"/>
              <a:ext cx="48155" cy="4815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04" name="Shape"/>
            <p:cNvSpPr/>
            <p:nvPr/>
          </p:nvSpPr>
          <p:spPr>
            <a:xfrm>
              <a:off x="439525" y="44160"/>
              <a:ext cx="1171114" cy="737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pic>
        <p:nvPicPr>
          <p:cNvPr id="706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382000" y="6191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Picture 40" descr="Picture 4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004589" y="680867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Picture 41" descr="Picture 4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995064" y="8332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9" name="Picture 42" descr="Picture 4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004589" y="97614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10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144000" y="14763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1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725025" y="14763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Picture 45" descr="Picture 4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33214" y="208104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13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801100" y="26955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4" name="Picture 47" descr="Picture 4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14164" y="26620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15" name="Picture 48" descr="Picture 4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04639" y="28144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16" name="Picture 49" descr="Picture 4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14164" y="295734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17" name="Picture 50" descr="Picture 5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14164" y="3100216"/>
            <a:ext cx="510887" cy="118445"/>
          </a:xfrm>
          <a:prstGeom prst="rect">
            <a:avLst/>
          </a:prstGeom>
          <a:ln w="12700">
            <a:miter lim="400000"/>
          </a:ln>
        </p:spPr>
      </p:pic>
      <p:sp>
        <p:nvSpPr>
          <p:cNvPr id="718" name="TextBox 51"/>
          <p:cNvSpPr txBox="1"/>
          <p:nvPr/>
        </p:nvSpPr>
        <p:spPr>
          <a:xfrm>
            <a:off x="3345822" y="3381375"/>
            <a:ext cx="162744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Physical machine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" grpId="1" animBg="1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Picture 53" descr="Picture 5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42245" y="3622754"/>
            <a:ext cx="596755" cy="596821"/>
          </a:xfrm>
          <a:prstGeom prst="rect">
            <a:avLst/>
          </a:prstGeom>
          <a:ln w="12700">
            <a:miter lim="400000"/>
          </a:ln>
        </p:spPr>
      </p:pic>
      <p:sp>
        <p:nvSpPr>
          <p:cNvPr id="721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What is virtualization?</a:t>
            </a:r>
          </a:p>
        </p:txBody>
      </p:sp>
      <p:sp>
        <p:nvSpPr>
          <p:cNvPr id="722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200" y="4886326"/>
            <a:ext cx="9448800" cy="1619250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spcBef>
                <a:spcPts val="900"/>
              </a:spcBef>
              <a:defRPr sz="2772"/>
            </a:pPr>
            <a:r>
              <a:rPr dirty="0"/>
              <a:t>Alice can sell each customer a </a:t>
            </a:r>
            <a:r>
              <a:rPr dirty="0">
                <a:solidFill>
                  <a:srgbClr val="FF9900"/>
                </a:solidFill>
              </a:rPr>
              <a:t>virtual machine </a:t>
            </a:r>
            <a:r>
              <a:rPr dirty="0"/>
              <a:t>(VM) with the requested resources</a:t>
            </a:r>
          </a:p>
          <a:p>
            <a:pPr marL="678941" lvl="1" indent="-226313" defTabSz="905255">
              <a:spcBef>
                <a:spcPts val="400"/>
              </a:spcBef>
              <a:defRPr sz="2376"/>
            </a:pPr>
            <a:r>
              <a:rPr dirty="0"/>
              <a:t>From each customer's perspective, it appears as if they had a physical machine all by themselves (</a:t>
            </a:r>
            <a:r>
              <a:rPr dirty="0">
                <a:solidFill>
                  <a:srgbClr val="FF9900"/>
                </a:solidFill>
              </a:rPr>
              <a:t>isolation</a:t>
            </a:r>
            <a:r>
              <a:rPr dirty="0"/>
              <a:t>)</a:t>
            </a:r>
          </a:p>
        </p:txBody>
      </p:sp>
      <p:sp>
        <p:nvSpPr>
          <p:cNvPr id="72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  <p:pic>
        <p:nvPicPr>
          <p:cNvPr id="724" name="Picture 51" descr="Picture 5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75194" y="2130424"/>
            <a:ext cx="1825481" cy="1825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07360" y="2741614"/>
            <a:ext cx="554037" cy="554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3" descr="Pictur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8105775" y="1847851"/>
            <a:ext cx="504826" cy="504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19" descr="Picture 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951164" y="2924176"/>
            <a:ext cx="639762" cy="639762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TextBox 9"/>
          <p:cNvSpPr txBox="1"/>
          <p:nvPr/>
        </p:nvSpPr>
        <p:spPr>
          <a:xfrm>
            <a:off x="3032882" y="3514725"/>
            <a:ext cx="519768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Alice</a:t>
            </a:r>
          </a:p>
        </p:txBody>
      </p:sp>
      <p:pic>
        <p:nvPicPr>
          <p:cNvPr id="729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905250" y="22193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0" name="Picture 14" descr="Picture 14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27764" y="32526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86275" y="22193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914775" y="27336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76750" y="2743200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Picture 23" descr="Picture 2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518314" y="32526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Picture 26" descr="Picture 2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18239" y="34050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Picture 27" descr="Picture 2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508789" y="34050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7" name="Picture 28" descr="Picture 2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27764" y="35478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" name="Picture 29" descr="Picture 2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518314" y="35478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Picture 30" descr="Picture 3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27764" y="36907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Picture 31" descr="Picture 3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518314" y="36907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Picture 5" descr="Picture 5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flipH="1">
            <a:off x="8124825" y="3638551"/>
            <a:ext cx="580882" cy="580882"/>
          </a:xfrm>
          <a:prstGeom prst="rect">
            <a:avLst/>
          </a:prstGeom>
          <a:ln w="12700">
            <a:miter lim="400000"/>
          </a:ln>
        </p:spPr>
      </p:pic>
      <p:sp>
        <p:nvSpPr>
          <p:cNvPr id="742" name="TextBox 33"/>
          <p:cNvSpPr txBox="1"/>
          <p:nvPr/>
        </p:nvSpPr>
        <p:spPr>
          <a:xfrm>
            <a:off x="8155347" y="2276475"/>
            <a:ext cx="44753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Bob</a:t>
            </a:r>
          </a:p>
        </p:txBody>
      </p:sp>
      <p:sp>
        <p:nvSpPr>
          <p:cNvPr id="743" name="TextBox 34"/>
          <p:cNvSpPr txBox="1"/>
          <p:nvPr/>
        </p:nvSpPr>
        <p:spPr>
          <a:xfrm>
            <a:off x="8038468" y="3228975"/>
            <a:ext cx="719396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Charlie</a:t>
            </a:r>
          </a:p>
        </p:txBody>
      </p:sp>
      <p:sp>
        <p:nvSpPr>
          <p:cNvPr id="744" name="TextBox 35"/>
          <p:cNvSpPr txBox="1"/>
          <p:nvPr/>
        </p:nvSpPr>
        <p:spPr>
          <a:xfrm>
            <a:off x="8086343" y="4143375"/>
            <a:ext cx="66175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Daniel</a:t>
            </a:r>
          </a:p>
        </p:txBody>
      </p:sp>
      <p:pic>
        <p:nvPicPr>
          <p:cNvPr id="745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562725" y="3733800"/>
            <a:ext cx="314326" cy="3143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50" name="Group 56"/>
          <p:cNvGrpSpPr/>
          <p:nvPr/>
        </p:nvGrpSpPr>
        <p:grpSpPr>
          <a:xfrm>
            <a:off x="6934688" y="3728866"/>
            <a:ext cx="351940" cy="376409"/>
            <a:chOff x="0" y="0"/>
            <a:chExt cx="351939" cy="376407"/>
          </a:xfrm>
        </p:grpSpPr>
        <p:pic>
          <p:nvPicPr>
            <p:cNvPr id="746" name="Picture 47" descr="Picture 4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7" name="Picture 48" descr="Picture 48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8" name="Picture 49" descr="Picture 49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49" name="Picture 50" descr="Picture 50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51" name="Picture 52" descr="Picture 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37520" y="2663824"/>
            <a:ext cx="1053955" cy="1054070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TextBox 54"/>
          <p:cNvSpPr txBox="1"/>
          <p:nvPr/>
        </p:nvSpPr>
        <p:spPr>
          <a:xfrm>
            <a:off x="3660147" y="3867150"/>
            <a:ext cx="162744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Physical machine</a:t>
            </a:r>
          </a:p>
        </p:txBody>
      </p:sp>
      <p:sp>
        <p:nvSpPr>
          <p:cNvPr id="753" name="TextBox 55"/>
          <p:cNvSpPr txBox="1"/>
          <p:nvPr/>
        </p:nvSpPr>
        <p:spPr>
          <a:xfrm>
            <a:off x="6291383" y="4229100"/>
            <a:ext cx="1584683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Virtual machines</a:t>
            </a:r>
          </a:p>
        </p:txBody>
      </p:sp>
      <p:grpSp>
        <p:nvGrpSpPr>
          <p:cNvPr id="757" name="Group 57"/>
          <p:cNvGrpSpPr/>
          <p:nvPr/>
        </p:nvGrpSpPr>
        <p:grpSpPr>
          <a:xfrm>
            <a:off x="7115175" y="2933700"/>
            <a:ext cx="732759" cy="475462"/>
            <a:chOff x="0" y="0"/>
            <a:chExt cx="732757" cy="475460"/>
          </a:xfrm>
        </p:grpSpPr>
        <p:pic>
          <p:nvPicPr>
            <p:cNvPr id="754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5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82036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56" name="Picture 45" descr="Picture 45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90164" y="397581"/>
              <a:ext cx="335920" cy="778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58" name="Picture 51" descr="Picture 5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61295" y="1854200"/>
            <a:ext cx="736521" cy="73660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63" name="Group 58"/>
          <p:cNvGrpSpPr/>
          <p:nvPr/>
        </p:nvGrpSpPr>
        <p:grpSpPr>
          <a:xfrm>
            <a:off x="6629399" y="2000250"/>
            <a:ext cx="789387" cy="371476"/>
            <a:chOff x="0" y="0"/>
            <a:chExt cx="789385" cy="371475"/>
          </a:xfrm>
        </p:grpSpPr>
        <p:pic>
          <p:nvPicPr>
            <p:cNvPr id="759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1" y="0"/>
              <a:ext cx="371476" cy="3714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0" name="Picture 40" descr="Picture 40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33589" y="42998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1" name="Picture 41" descr="Picture 41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26955" y="149134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62" name="Picture 42" descr="Picture 42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33589" y="248636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64" name="TextBox 59"/>
          <p:cNvSpPr txBox="1"/>
          <p:nvPr/>
        </p:nvSpPr>
        <p:spPr>
          <a:xfrm>
            <a:off x="5565495" y="2638425"/>
            <a:ext cx="864752" cy="824866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Virtual </a:t>
            </a:r>
            <a:br/>
            <a:r>
              <a:t>machine</a:t>
            </a:r>
            <a:br/>
            <a:r>
              <a:t>monitor</a:t>
            </a:r>
          </a:p>
        </p:txBody>
      </p:sp>
      <p:sp>
        <p:nvSpPr>
          <p:cNvPr id="765" name="Straight Arrow Connector 61"/>
          <p:cNvSpPr/>
          <p:nvPr/>
        </p:nvSpPr>
        <p:spPr>
          <a:xfrm flipV="1">
            <a:off x="5086351" y="3053924"/>
            <a:ext cx="440880" cy="1312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6" name="Straight Arrow Connector 64"/>
          <p:cNvSpPr/>
          <p:nvPr/>
        </p:nvSpPr>
        <p:spPr>
          <a:xfrm flipV="1">
            <a:off x="6477000" y="2476500"/>
            <a:ext cx="419101" cy="40957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7" name="Straight Arrow Connector 66"/>
          <p:cNvSpPr/>
          <p:nvPr/>
        </p:nvSpPr>
        <p:spPr>
          <a:xfrm>
            <a:off x="6468512" y="3053924"/>
            <a:ext cx="608564" cy="3217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8" name="Straight Arrow Connector 68"/>
          <p:cNvSpPr/>
          <p:nvPr/>
        </p:nvSpPr>
        <p:spPr>
          <a:xfrm>
            <a:off x="6486524" y="3257551"/>
            <a:ext cx="454100" cy="36520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774" name="Cloud Callout 69"/>
          <p:cNvGrpSpPr/>
          <p:nvPr/>
        </p:nvGrpSpPr>
        <p:grpSpPr>
          <a:xfrm>
            <a:off x="8505146" y="1306893"/>
            <a:ext cx="801162" cy="748394"/>
            <a:chOff x="0" y="0"/>
            <a:chExt cx="801161" cy="748392"/>
          </a:xfrm>
        </p:grpSpPr>
        <p:sp>
          <p:nvSpPr>
            <p:cNvPr id="769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0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1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2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3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780" name="Cloud Callout 72"/>
          <p:cNvGrpSpPr/>
          <p:nvPr/>
        </p:nvGrpSpPr>
        <p:grpSpPr>
          <a:xfrm>
            <a:off x="8619446" y="2164143"/>
            <a:ext cx="801162" cy="748394"/>
            <a:chOff x="0" y="0"/>
            <a:chExt cx="801161" cy="748392"/>
          </a:xfrm>
        </p:grpSpPr>
        <p:sp>
          <p:nvSpPr>
            <p:cNvPr id="775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6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7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8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79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786" name="Cloud Callout 74"/>
          <p:cNvGrpSpPr/>
          <p:nvPr/>
        </p:nvGrpSpPr>
        <p:grpSpPr>
          <a:xfrm>
            <a:off x="8686121" y="3030918"/>
            <a:ext cx="801162" cy="748394"/>
            <a:chOff x="0" y="0"/>
            <a:chExt cx="801161" cy="748392"/>
          </a:xfrm>
        </p:grpSpPr>
        <p:sp>
          <p:nvSpPr>
            <p:cNvPr id="781" name="Shape"/>
            <p:cNvSpPr/>
            <p:nvPr/>
          </p:nvSpPr>
          <p:spPr>
            <a:xfrm>
              <a:off x="0" y="0"/>
              <a:ext cx="801162" cy="610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9" h="20684" extrusionOk="0">
                  <a:moveTo>
                    <a:pt x="1901" y="6800"/>
                  </a:moveTo>
                  <a:cubicBezTo>
                    <a:pt x="1658" y="4397"/>
                    <a:pt x="2907" y="2184"/>
                    <a:pt x="4691" y="1857"/>
                  </a:cubicBezTo>
                  <a:cubicBezTo>
                    <a:pt x="5414" y="1724"/>
                    <a:pt x="6149" y="1922"/>
                    <a:pt x="6778" y="2419"/>
                  </a:cubicBezTo>
                  <a:cubicBezTo>
                    <a:pt x="7445" y="725"/>
                    <a:pt x="9003" y="82"/>
                    <a:pt x="10259" y="981"/>
                  </a:cubicBezTo>
                  <a:cubicBezTo>
                    <a:pt x="10478" y="1139"/>
                    <a:pt x="10680" y="1338"/>
                    <a:pt x="10857" y="1573"/>
                  </a:cubicBezTo>
                  <a:cubicBezTo>
                    <a:pt x="11377" y="169"/>
                    <a:pt x="12642" y="-401"/>
                    <a:pt x="13683" y="299"/>
                  </a:cubicBezTo>
                  <a:cubicBezTo>
                    <a:pt x="13971" y="493"/>
                    <a:pt x="14223" y="774"/>
                    <a:pt x="14418" y="1119"/>
                  </a:cubicBezTo>
                  <a:cubicBezTo>
                    <a:pt x="15255" y="-209"/>
                    <a:pt x="16734" y="-373"/>
                    <a:pt x="17722" y="753"/>
                  </a:cubicBezTo>
                  <a:cubicBezTo>
                    <a:pt x="18137" y="1226"/>
                    <a:pt x="18417" y="1878"/>
                    <a:pt x="18513" y="2598"/>
                  </a:cubicBezTo>
                  <a:cubicBezTo>
                    <a:pt x="19885" y="3102"/>
                    <a:pt x="20694" y="5013"/>
                    <a:pt x="20321" y="6865"/>
                  </a:cubicBezTo>
                  <a:cubicBezTo>
                    <a:pt x="20289" y="7020"/>
                    <a:pt x="20250" y="7173"/>
                    <a:pt x="20203" y="7321"/>
                  </a:cubicBezTo>
                  <a:cubicBezTo>
                    <a:pt x="21303" y="9251"/>
                    <a:pt x="21034" y="12017"/>
                    <a:pt x="19601" y="13499"/>
                  </a:cubicBezTo>
                  <a:cubicBezTo>
                    <a:pt x="19156" y="13961"/>
                    <a:pt x="18629" y="14259"/>
                    <a:pt x="18072" y="14367"/>
                  </a:cubicBezTo>
                  <a:cubicBezTo>
                    <a:pt x="18072" y="16443"/>
                    <a:pt x="16822" y="18126"/>
                    <a:pt x="15280" y="18126"/>
                  </a:cubicBezTo>
                  <a:cubicBezTo>
                    <a:pt x="14757" y="18126"/>
                    <a:pt x="14245" y="17928"/>
                    <a:pt x="13801" y="17556"/>
                  </a:cubicBezTo>
                  <a:cubicBezTo>
                    <a:pt x="13280" y="19883"/>
                    <a:pt x="11460" y="21199"/>
                    <a:pt x="9738" y="20494"/>
                  </a:cubicBezTo>
                  <a:cubicBezTo>
                    <a:pt x="9016" y="20199"/>
                    <a:pt x="8392" y="19574"/>
                    <a:pt x="7973" y="18727"/>
                  </a:cubicBezTo>
                  <a:cubicBezTo>
                    <a:pt x="6209" y="20160"/>
                    <a:pt x="3920" y="19389"/>
                    <a:pt x="2859" y="17004"/>
                  </a:cubicBezTo>
                  <a:cubicBezTo>
                    <a:pt x="2846" y="16974"/>
                    <a:pt x="2833" y="16944"/>
                    <a:pt x="2820" y="16914"/>
                  </a:cubicBezTo>
                  <a:lnTo>
                    <a:pt x="2820" y="16914"/>
                  </a:lnTo>
                  <a:cubicBezTo>
                    <a:pt x="1666" y="17096"/>
                    <a:pt x="620" y="15986"/>
                    <a:pt x="485" y="14435"/>
                  </a:cubicBezTo>
                  <a:cubicBezTo>
                    <a:pt x="412" y="13608"/>
                    <a:pt x="615" y="12780"/>
                    <a:pt x="1038" y="12172"/>
                  </a:cubicBezTo>
                  <a:cubicBezTo>
                    <a:pt x="39" y="11379"/>
                    <a:pt x="-297" y="9639"/>
                    <a:pt x="288" y="8285"/>
                  </a:cubicBezTo>
                  <a:cubicBezTo>
                    <a:pt x="626" y="7504"/>
                    <a:pt x="1218" y="6988"/>
                    <a:pt x="1883" y="6895"/>
                  </a:cubicBezTo>
                  <a:close/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82" name="Circle"/>
            <p:cNvSpPr/>
            <p:nvPr/>
          </p:nvSpPr>
          <p:spPr>
            <a:xfrm>
              <a:off x="100949" y="558996"/>
              <a:ext cx="101601" cy="101601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83" name="Circle"/>
            <p:cNvSpPr/>
            <p:nvPr/>
          </p:nvSpPr>
          <p:spPr>
            <a:xfrm>
              <a:off x="57875" y="649912"/>
              <a:ext cx="67735" cy="67735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84" name="Circle"/>
            <p:cNvSpPr/>
            <p:nvPr/>
          </p:nvSpPr>
          <p:spPr>
            <a:xfrm>
              <a:off x="36136" y="714526"/>
              <a:ext cx="33867" cy="33867"/>
            </a:xfrm>
            <a:prstGeom prst="ellipse">
              <a:avLst/>
            </a:pr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785" name="Shape"/>
            <p:cNvSpPr/>
            <p:nvPr/>
          </p:nvSpPr>
          <p:spPr>
            <a:xfrm>
              <a:off x="40681" y="31057"/>
              <a:ext cx="734132" cy="518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0" y="14010"/>
                  </a:moveTo>
                  <a:cubicBezTo>
                    <a:pt x="899" y="14066"/>
                    <a:pt x="417" y="13902"/>
                    <a:pt x="0" y="13542"/>
                  </a:cubicBezTo>
                  <a:moveTo>
                    <a:pt x="2598" y="19137"/>
                  </a:moveTo>
                  <a:cubicBezTo>
                    <a:pt x="2405" y="19250"/>
                    <a:pt x="2202" y="19325"/>
                    <a:pt x="1994" y="19361"/>
                  </a:cubicBezTo>
                  <a:moveTo>
                    <a:pt x="7802" y="21600"/>
                  </a:moveTo>
                  <a:cubicBezTo>
                    <a:pt x="7657" y="21279"/>
                    <a:pt x="7535" y="20936"/>
                    <a:pt x="7438" y="20577"/>
                  </a:cubicBezTo>
                  <a:moveTo>
                    <a:pt x="14532" y="19050"/>
                  </a:moveTo>
                  <a:cubicBezTo>
                    <a:pt x="14510" y="19430"/>
                    <a:pt x="14462" y="19806"/>
                    <a:pt x="14386" y="20172"/>
                  </a:cubicBezTo>
                  <a:moveTo>
                    <a:pt x="17421" y="12116"/>
                  </a:moveTo>
                  <a:cubicBezTo>
                    <a:pt x="18505" y="12890"/>
                    <a:pt x="19193" y="14504"/>
                    <a:pt x="19193" y="16273"/>
                  </a:cubicBezTo>
                  <a:moveTo>
                    <a:pt x="21600" y="7649"/>
                  </a:moveTo>
                  <a:cubicBezTo>
                    <a:pt x="21423" y="8256"/>
                    <a:pt x="21153" y="8794"/>
                    <a:pt x="20811" y="9222"/>
                  </a:cubicBezTo>
                  <a:moveTo>
                    <a:pt x="19707" y="1814"/>
                  </a:moveTo>
                  <a:cubicBezTo>
                    <a:pt x="19737" y="2059"/>
                    <a:pt x="19751" y="2307"/>
                    <a:pt x="19749" y="2556"/>
                  </a:cubicBezTo>
                  <a:moveTo>
                    <a:pt x="14668" y="947"/>
                  </a:moveTo>
                  <a:cubicBezTo>
                    <a:pt x="14771" y="605"/>
                    <a:pt x="14907" y="286"/>
                    <a:pt x="15073" y="0"/>
                  </a:cubicBezTo>
                  <a:moveTo>
                    <a:pt x="10888" y="1399"/>
                  </a:moveTo>
                  <a:cubicBezTo>
                    <a:pt x="10930" y="1115"/>
                    <a:pt x="10996" y="841"/>
                    <a:pt x="11084" y="582"/>
                  </a:cubicBezTo>
                  <a:moveTo>
                    <a:pt x="6452" y="1676"/>
                  </a:moveTo>
                  <a:cubicBezTo>
                    <a:pt x="6709" y="1897"/>
                    <a:pt x="6947" y="2163"/>
                    <a:pt x="7160" y="2469"/>
                  </a:cubicBezTo>
                  <a:moveTo>
                    <a:pt x="1072" y="7905"/>
                  </a:moveTo>
                  <a:lnTo>
                    <a:pt x="1072" y="7905"/>
                  </a:lnTo>
                  <a:cubicBezTo>
                    <a:pt x="1016" y="7632"/>
                    <a:pt x="974" y="7353"/>
                    <a:pt x="948" y="707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pic>
        <p:nvPicPr>
          <p:cNvPr id="787" name="Picture 60" descr="Picture 60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686800" y="1400175"/>
            <a:ext cx="428625" cy="428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" name="Picture 62" descr="Picture 62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820150" y="2238375"/>
            <a:ext cx="428625" cy="428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89" name="Picture 63" descr="Picture 63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867775" y="3124200"/>
            <a:ext cx="428625" cy="4286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" grpId="1" animBg="1" advAuto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04198" y="341398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92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94673" y="356638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93" name="Picture 23" descr="Picture 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04198" y="3709256"/>
            <a:ext cx="510887" cy="118445"/>
          </a:xfrm>
          <a:prstGeom prst="rect">
            <a:avLst/>
          </a:prstGeom>
          <a:ln w="12700">
            <a:miter lim="400000"/>
          </a:ln>
        </p:spPr>
      </p:pic>
      <p:sp>
        <p:nvSpPr>
          <p:cNvPr id="79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How does it work?</a:t>
            </a:r>
          </a:p>
        </p:txBody>
      </p:sp>
      <p:sp>
        <p:nvSpPr>
          <p:cNvPr id="79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38200" y="4085391"/>
            <a:ext cx="10081334" cy="266251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rPr dirty="0"/>
              <a:t>Resources (CPU, memory, ...) are virtualized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VMM ("Hypervisor") has translation tables that map requests for virtual resources to physical resources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Example: VM 1 accesses memory cell #323; VMM maps this to memory cell 123.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For which resources does this (not) work?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How do VMMs differ from OS kernels?</a:t>
            </a:r>
          </a:p>
        </p:txBody>
      </p:sp>
      <p:sp>
        <p:nvSpPr>
          <p:cNvPr id="79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52</a:t>
            </a:fld>
            <a:endParaRPr/>
          </a:p>
        </p:txBody>
      </p:sp>
      <p:sp>
        <p:nvSpPr>
          <p:cNvPr id="797" name="Rectangle 5"/>
          <p:cNvSpPr/>
          <p:nvPr/>
        </p:nvSpPr>
        <p:spPr>
          <a:xfrm>
            <a:off x="4061011" y="1488140"/>
            <a:ext cx="2366684" cy="2312896"/>
          </a:xfrm>
          <a:prstGeom prst="rect">
            <a:avLst/>
          </a:prstGeom>
          <a:solidFill>
            <a:srgbClr val="00B05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798" name="TextBox 6"/>
          <p:cNvSpPr txBox="1"/>
          <p:nvPr/>
        </p:nvSpPr>
        <p:spPr>
          <a:xfrm>
            <a:off x="5319608" y="3558988"/>
            <a:ext cx="105620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Physical machine</a:t>
            </a:r>
          </a:p>
        </p:txBody>
      </p:sp>
      <p:sp>
        <p:nvSpPr>
          <p:cNvPr id="799" name="Rectangle 9"/>
          <p:cNvSpPr/>
          <p:nvPr/>
        </p:nvSpPr>
        <p:spPr>
          <a:xfrm>
            <a:off x="4195483" y="1604681"/>
            <a:ext cx="986118" cy="12192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800" name="Rectangle 10"/>
          <p:cNvSpPr/>
          <p:nvPr/>
        </p:nvSpPr>
        <p:spPr>
          <a:xfrm>
            <a:off x="5316070" y="1604681"/>
            <a:ext cx="986120" cy="1219201"/>
          </a:xfrm>
          <a:prstGeom prst="rect">
            <a:avLst/>
          </a:prstGeom>
          <a:solidFill>
            <a:srgbClr val="00B0F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803" name="Rectangle 11"/>
          <p:cNvGrpSpPr/>
          <p:nvPr/>
        </p:nvGrpSpPr>
        <p:grpSpPr>
          <a:xfrm>
            <a:off x="4267200" y="2406501"/>
            <a:ext cx="824752" cy="332741"/>
            <a:chOff x="0" y="0"/>
            <a:chExt cx="824751" cy="332740"/>
          </a:xfrm>
        </p:grpSpPr>
        <p:sp>
          <p:nvSpPr>
            <p:cNvPr id="801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02" name="OS 1"/>
            <p:cNvSpPr txBox="1"/>
            <p:nvPr/>
          </p:nvSpPr>
          <p:spPr>
            <a:xfrm>
              <a:off x="0" y="0"/>
              <a:ext cx="824752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OS 1</a:t>
              </a:r>
            </a:p>
          </p:txBody>
        </p:sp>
      </p:grpSp>
      <p:grpSp>
        <p:nvGrpSpPr>
          <p:cNvPr id="806" name="Rectangle 12"/>
          <p:cNvGrpSpPr/>
          <p:nvPr/>
        </p:nvGrpSpPr>
        <p:grpSpPr>
          <a:xfrm>
            <a:off x="5396753" y="2406501"/>
            <a:ext cx="824753" cy="332741"/>
            <a:chOff x="0" y="0"/>
            <a:chExt cx="824751" cy="332740"/>
          </a:xfrm>
        </p:grpSpPr>
        <p:sp>
          <p:nvSpPr>
            <p:cNvPr id="804" name="Rectangle"/>
            <p:cNvSpPr/>
            <p:nvPr/>
          </p:nvSpPr>
          <p:spPr>
            <a:xfrm>
              <a:off x="0" y="5005"/>
              <a:ext cx="824752" cy="322730"/>
            </a:xfrm>
            <a:prstGeom prst="rect">
              <a:avLst/>
            </a:prstGeom>
            <a:solidFill>
              <a:srgbClr val="FFFF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05" name="OS 2"/>
            <p:cNvSpPr txBox="1"/>
            <p:nvPr/>
          </p:nvSpPr>
          <p:spPr>
            <a:xfrm>
              <a:off x="0" y="0"/>
              <a:ext cx="824752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OS 2</a:t>
              </a:r>
            </a:p>
          </p:txBody>
        </p:sp>
      </p:grpSp>
      <p:grpSp>
        <p:nvGrpSpPr>
          <p:cNvPr id="809" name="Rectangle 13"/>
          <p:cNvGrpSpPr/>
          <p:nvPr/>
        </p:nvGrpSpPr>
        <p:grpSpPr>
          <a:xfrm>
            <a:off x="4276164" y="1675877"/>
            <a:ext cx="537883" cy="332741"/>
            <a:chOff x="0" y="0"/>
            <a:chExt cx="537881" cy="332740"/>
          </a:xfrm>
        </p:grpSpPr>
        <p:sp>
          <p:nvSpPr>
            <p:cNvPr id="807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08" name="App"/>
            <p:cNvSpPr txBox="1"/>
            <p:nvPr/>
          </p:nvSpPr>
          <p:spPr>
            <a:xfrm>
              <a:off x="0" y="0"/>
              <a:ext cx="537882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App</a:t>
              </a:r>
            </a:p>
          </p:txBody>
        </p:sp>
      </p:grpSp>
      <p:grpSp>
        <p:nvGrpSpPr>
          <p:cNvPr id="812" name="Rectangle 14"/>
          <p:cNvGrpSpPr/>
          <p:nvPr/>
        </p:nvGrpSpPr>
        <p:grpSpPr>
          <a:xfrm>
            <a:off x="4276164" y="2016536"/>
            <a:ext cx="537883" cy="332741"/>
            <a:chOff x="0" y="0"/>
            <a:chExt cx="537881" cy="332740"/>
          </a:xfrm>
        </p:grpSpPr>
        <p:sp>
          <p:nvSpPr>
            <p:cNvPr id="810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11" name="App"/>
            <p:cNvSpPr txBox="1"/>
            <p:nvPr/>
          </p:nvSpPr>
          <p:spPr>
            <a:xfrm>
              <a:off x="0" y="0"/>
              <a:ext cx="537882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App</a:t>
              </a:r>
            </a:p>
          </p:txBody>
        </p:sp>
      </p:grpSp>
      <p:grpSp>
        <p:nvGrpSpPr>
          <p:cNvPr id="815" name="Rectangle 16"/>
          <p:cNvGrpSpPr/>
          <p:nvPr/>
        </p:nvGrpSpPr>
        <p:grpSpPr>
          <a:xfrm>
            <a:off x="5405716" y="2007571"/>
            <a:ext cx="537883" cy="332741"/>
            <a:chOff x="0" y="0"/>
            <a:chExt cx="537881" cy="332740"/>
          </a:xfrm>
        </p:grpSpPr>
        <p:sp>
          <p:nvSpPr>
            <p:cNvPr id="813" name="Rectangle"/>
            <p:cNvSpPr/>
            <p:nvPr/>
          </p:nvSpPr>
          <p:spPr>
            <a:xfrm>
              <a:off x="0" y="18452"/>
              <a:ext cx="537882" cy="295836"/>
            </a:xfrm>
            <a:prstGeom prst="rect">
              <a:avLst/>
            </a:prstGeom>
            <a:solidFill>
              <a:srgbClr val="66FF33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14" name="App"/>
            <p:cNvSpPr txBox="1"/>
            <p:nvPr/>
          </p:nvSpPr>
          <p:spPr>
            <a:xfrm>
              <a:off x="0" y="0"/>
              <a:ext cx="537882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spcBef>
                  <a:spcPts val="300"/>
                </a:spcBef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App</a:t>
              </a:r>
            </a:p>
          </p:txBody>
        </p:sp>
      </p:grpSp>
      <p:grpSp>
        <p:nvGrpSpPr>
          <p:cNvPr id="818" name="Rectangle 17"/>
          <p:cNvGrpSpPr/>
          <p:nvPr/>
        </p:nvGrpSpPr>
        <p:grpSpPr>
          <a:xfrm>
            <a:off x="4195483" y="3003177"/>
            <a:ext cx="2097742" cy="537884"/>
            <a:chOff x="0" y="0"/>
            <a:chExt cx="2097740" cy="537883"/>
          </a:xfrm>
        </p:grpSpPr>
        <p:sp>
          <p:nvSpPr>
            <p:cNvPr id="816" name="Rectangle"/>
            <p:cNvSpPr/>
            <p:nvPr/>
          </p:nvSpPr>
          <p:spPr>
            <a:xfrm>
              <a:off x="0" y="-1"/>
              <a:ext cx="2097741" cy="537885"/>
            </a:xfrm>
            <a:prstGeom prst="rect">
              <a:avLst/>
            </a:prstGeom>
            <a:solidFill>
              <a:srgbClr val="FF99FF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817" name="VMM"/>
            <p:cNvSpPr txBox="1"/>
            <p:nvPr/>
          </p:nvSpPr>
          <p:spPr>
            <a:xfrm>
              <a:off x="0" y="70821"/>
              <a:ext cx="2097741" cy="396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VMM</a:t>
              </a:r>
            </a:p>
          </p:txBody>
        </p:sp>
      </p:grpSp>
      <p:pic>
        <p:nvPicPr>
          <p:cNvPr id="819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69726" y="3476735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20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60201" y="3629135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21" name="Picture 20" descr="Picture 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69726" y="3772010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2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86971" y="2564465"/>
            <a:ext cx="806553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Straight Arrow Connector 32"/>
          <p:cNvSpPr/>
          <p:nvPr/>
        </p:nvSpPr>
        <p:spPr>
          <a:xfrm>
            <a:off x="6436659" y="3594853"/>
            <a:ext cx="1416424" cy="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4" name="Rectangle 34"/>
          <p:cNvSpPr/>
          <p:nvPr/>
        </p:nvSpPr>
        <p:spPr>
          <a:xfrm>
            <a:off x="4329953" y="3119719"/>
            <a:ext cx="215154" cy="295836"/>
          </a:xfrm>
          <a:prstGeom prst="rect">
            <a:avLst/>
          </a:prstGeom>
          <a:solidFill>
            <a:schemeClr val="accent4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aphicFrame>
        <p:nvGraphicFramePr>
          <p:cNvPr id="825" name="Table 35"/>
          <p:cNvGraphicFramePr/>
          <p:nvPr/>
        </p:nvGraphicFramePr>
        <p:xfrm>
          <a:off x="1936379" y="1800411"/>
          <a:ext cx="1586751" cy="146304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8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81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sym typeface="Calibri"/>
                        </a:rPr>
                        <a:t>VM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sym typeface="Calibri"/>
                        </a:rPr>
                        <a:t>Virt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000" b="1">
                          <a:solidFill>
                            <a:srgbClr val="FFFFFF"/>
                          </a:solidFill>
                          <a:sym typeface="Calibri"/>
                        </a:rPr>
                        <a:t>Phys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81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0-99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0-99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81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299-399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100-199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81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0-99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300-399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81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200-299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500-599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81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600-699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000">
                          <a:sym typeface="Calibri"/>
                        </a:rPr>
                        <a:t>400-499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30" name="Group 56"/>
          <p:cNvGrpSpPr/>
          <p:nvPr/>
        </p:nvGrpSpPr>
        <p:grpSpPr>
          <a:xfrm>
            <a:off x="1936377" y="1828799"/>
            <a:ext cx="2635624" cy="1600202"/>
            <a:chOff x="0" y="0"/>
            <a:chExt cx="2635623" cy="1600200"/>
          </a:xfrm>
        </p:grpSpPr>
        <p:sp>
          <p:nvSpPr>
            <p:cNvPr id="826" name="Straight Connector 37"/>
            <p:cNvSpPr/>
            <p:nvPr/>
          </p:nvSpPr>
          <p:spPr>
            <a:xfrm flipH="1" flipV="1">
              <a:off x="1586753" y="-1"/>
              <a:ext cx="1048871" cy="1295401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27" name="Straight Connector 38"/>
            <p:cNvSpPr/>
            <p:nvPr/>
          </p:nvSpPr>
          <p:spPr>
            <a:xfrm flipH="1" flipV="1">
              <a:off x="0" y="1434353"/>
              <a:ext cx="2407024" cy="165848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28" name="Straight Connector 43"/>
            <p:cNvSpPr/>
            <p:nvPr/>
          </p:nvSpPr>
          <p:spPr>
            <a:xfrm flipH="1" flipV="1">
              <a:off x="1595717" y="887505"/>
              <a:ext cx="806825" cy="407896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829" name="Straight Connector 45"/>
            <p:cNvSpPr/>
            <p:nvPr/>
          </p:nvSpPr>
          <p:spPr>
            <a:xfrm flipH="1" flipV="1">
              <a:off x="1568823" y="1447800"/>
              <a:ext cx="1066801" cy="152401"/>
            </a:xfrm>
            <a:prstGeom prst="line">
              <a:avLst/>
            </a:prstGeom>
            <a:solidFill>
              <a:schemeClr val="accent1"/>
            </a:solidFill>
            <a:ln w="3175" cap="flat">
              <a:solidFill>
                <a:srgbClr val="000000"/>
              </a:solidFill>
              <a:prstDash val="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31" name="TextBox 48"/>
          <p:cNvSpPr txBox="1"/>
          <p:nvPr/>
        </p:nvSpPr>
        <p:spPr>
          <a:xfrm>
            <a:off x="1938329" y="3361764"/>
            <a:ext cx="15793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Translation table</a:t>
            </a:r>
          </a:p>
        </p:txBody>
      </p:sp>
      <p:sp>
        <p:nvSpPr>
          <p:cNvPr id="832" name="TextBox 49"/>
          <p:cNvSpPr txBox="1"/>
          <p:nvPr/>
        </p:nvSpPr>
        <p:spPr>
          <a:xfrm>
            <a:off x="4820595" y="1595715"/>
            <a:ext cx="38679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VM 1</a:t>
            </a:r>
          </a:p>
        </p:txBody>
      </p:sp>
      <p:sp>
        <p:nvSpPr>
          <p:cNvPr id="833" name="TextBox 50"/>
          <p:cNvSpPr txBox="1"/>
          <p:nvPr/>
        </p:nvSpPr>
        <p:spPr>
          <a:xfrm>
            <a:off x="5914290" y="1595714"/>
            <a:ext cx="38679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VM 2</a:t>
            </a:r>
          </a:p>
        </p:txBody>
      </p:sp>
      <p:sp>
        <p:nvSpPr>
          <p:cNvPr id="834" name="Straight Arrow Connector 51"/>
          <p:cNvSpPr/>
          <p:nvPr/>
        </p:nvSpPr>
        <p:spPr>
          <a:xfrm flipV="1">
            <a:off x="6436659" y="2897840"/>
            <a:ext cx="1450313" cy="46393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35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41021" y="1416424"/>
            <a:ext cx="1058116" cy="1058115"/>
          </a:xfrm>
          <a:prstGeom prst="rect">
            <a:avLst/>
          </a:prstGeom>
          <a:ln w="12700">
            <a:miter lim="400000"/>
          </a:ln>
        </p:spPr>
      </p:pic>
      <p:sp>
        <p:nvSpPr>
          <p:cNvPr id="836" name="Straight Arrow Connector 54"/>
          <p:cNvSpPr/>
          <p:nvPr/>
        </p:nvSpPr>
        <p:spPr>
          <a:xfrm flipV="1">
            <a:off x="6436659" y="2088776"/>
            <a:ext cx="1541930" cy="1048879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" grpId="1" build="p" bldLvl="5" animBg="1" advAuto="0"/>
      <p:bldP spid="824" grpId="2" animBg="1" advAuto="0"/>
      <p:bldP spid="825" grpId="4" animBg="1" advAuto="0"/>
      <p:bldP spid="830" grpId="3" animBg="1" advAuto="0"/>
      <p:bldP spid="831" grpId="5" animBg="1" advAuto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Picture 2" descr="Picture 2"/>
          <p:cNvPicPr>
            <a:picLocks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4801" y="666750"/>
            <a:ext cx="746126" cy="1017588"/>
          </a:xfrm>
          <a:prstGeom prst="rect">
            <a:avLst/>
          </a:prstGeom>
          <a:ln w="12700">
            <a:miter lim="400000"/>
          </a:ln>
        </p:spPr>
      </p:pic>
      <p:sp>
        <p:nvSpPr>
          <p:cNvPr id="83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40763"/>
          </a:xfrm>
          <a:prstGeom prst="rect">
            <a:avLst/>
          </a:prstGeom>
        </p:spPr>
        <p:txBody>
          <a:bodyPr/>
          <a:lstStyle/>
          <a:p>
            <a:r>
              <a:rPr dirty="0"/>
              <a:t>Benefit: Migration</a:t>
            </a:r>
          </a:p>
        </p:txBody>
      </p:sp>
      <p:sp>
        <p:nvSpPr>
          <p:cNvPr id="84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200" y="5136775"/>
            <a:ext cx="9448800" cy="1321175"/>
          </a:xfrm>
          <a:prstGeom prst="rect">
            <a:avLst/>
          </a:prstGeom>
        </p:spPr>
        <p:txBody>
          <a:bodyPr/>
          <a:lstStyle/>
          <a:p>
            <a:pPr marL="224027" indent="-224027" defTabSz="896111">
              <a:lnSpc>
                <a:spcPct val="72000"/>
              </a:lnSpc>
              <a:spcBef>
                <a:spcPts val="900"/>
              </a:spcBef>
              <a:defRPr sz="2450"/>
            </a:pPr>
            <a:r>
              <a:rPr dirty="0"/>
              <a:t>What if the machine needs to be shut down?</a:t>
            </a:r>
          </a:p>
          <a:p>
            <a:pPr marL="672084" lvl="1" indent="-224027" defTabSz="896111">
              <a:lnSpc>
                <a:spcPct val="72000"/>
              </a:lnSpc>
              <a:spcBef>
                <a:spcPts val="400"/>
              </a:spcBef>
              <a:defRPr sz="2156"/>
            </a:pPr>
            <a:r>
              <a:rPr dirty="0"/>
              <a:t>e.g., for maintenance, consolidation, ...</a:t>
            </a:r>
          </a:p>
          <a:p>
            <a:pPr marL="672084" lvl="1" indent="-224027" defTabSz="896111">
              <a:lnSpc>
                <a:spcPct val="72000"/>
              </a:lnSpc>
              <a:spcBef>
                <a:spcPts val="400"/>
              </a:spcBef>
              <a:defRPr sz="2156"/>
            </a:pPr>
            <a:r>
              <a:rPr dirty="0"/>
              <a:t>Alice can </a:t>
            </a:r>
            <a:r>
              <a:rPr dirty="0">
                <a:solidFill>
                  <a:srgbClr val="FF9900"/>
                </a:solidFill>
              </a:rPr>
              <a:t>migrate</a:t>
            </a:r>
            <a:r>
              <a:rPr dirty="0"/>
              <a:t> the VMs to different physical machines without any customers noticing</a:t>
            </a:r>
          </a:p>
        </p:txBody>
      </p:sp>
      <p:sp>
        <p:nvSpPr>
          <p:cNvPr id="841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p:pic>
        <p:nvPicPr>
          <p:cNvPr id="84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42245" y="3622754"/>
            <a:ext cx="596755" cy="59682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3" name="Picture 51" descr="Picture 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75194" y="1520824"/>
            <a:ext cx="1825481" cy="1825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844" name="Picture 2" descr="Pictur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07360" y="2741614"/>
            <a:ext cx="554037" cy="554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845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flipH="1">
            <a:off x="8105775" y="1847851"/>
            <a:ext cx="504826" cy="504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846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89239" y="2438401"/>
            <a:ext cx="639762" cy="639762"/>
          </a:xfrm>
          <a:prstGeom prst="rect">
            <a:avLst/>
          </a:prstGeom>
          <a:ln w="12700">
            <a:miter lim="400000"/>
          </a:ln>
        </p:spPr>
      </p:pic>
      <p:sp>
        <p:nvSpPr>
          <p:cNvPr id="847" name="TextBox 10"/>
          <p:cNvSpPr txBox="1"/>
          <p:nvPr/>
        </p:nvSpPr>
        <p:spPr>
          <a:xfrm>
            <a:off x="2870957" y="3028950"/>
            <a:ext cx="519768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Alice</a:t>
            </a:r>
          </a:p>
        </p:txBody>
      </p:sp>
      <p:pic>
        <p:nvPicPr>
          <p:cNvPr id="848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05250" y="16097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49" name="Picture 12" descr="Picture 12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27764" y="26430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0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486275" y="16097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1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14775" y="21240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2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476750" y="2133600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3" name="Picture 16" descr="Picture 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18314" y="26430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4" name="Picture 17" descr="Picture 1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18239" y="27954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5" name="Picture 18" descr="Picture 1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08789" y="27954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6" name="Picture 19" descr="Picture 1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27764" y="29382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7" name="Picture 20" descr="Picture 2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18314" y="29382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8" name="Picture 21" descr="Picture 2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27764" y="30811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9" name="Picture 22" descr="Picture 22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18314" y="30811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60" name="Picture 5" descr="Picture 5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 flipH="1">
            <a:off x="8124825" y="3638551"/>
            <a:ext cx="580882" cy="580882"/>
          </a:xfrm>
          <a:prstGeom prst="rect">
            <a:avLst/>
          </a:prstGeom>
          <a:ln w="12700">
            <a:miter lim="400000"/>
          </a:ln>
        </p:spPr>
      </p:pic>
      <p:sp>
        <p:nvSpPr>
          <p:cNvPr id="861" name="TextBox 24"/>
          <p:cNvSpPr txBox="1"/>
          <p:nvPr/>
        </p:nvSpPr>
        <p:spPr>
          <a:xfrm>
            <a:off x="8155347" y="2276475"/>
            <a:ext cx="44753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Bob</a:t>
            </a:r>
          </a:p>
        </p:txBody>
      </p:sp>
      <p:sp>
        <p:nvSpPr>
          <p:cNvPr id="862" name="TextBox 25"/>
          <p:cNvSpPr txBox="1"/>
          <p:nvPr/>
        </p:nvSpPr>
        <p:spPr>
          <a:xfrm>
            <a:off x="8038468" y="3228975"/>
            <a:ext cx="719396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Charlie</a:t>
            </a:r>
          </a:p>
        </p:txBody>
      </p:sp>
      <p:sp>
        <p:nvSpPr>
          <p:cNvPr id="863" name="TextBox 26"/>
          <p:cNvSpPr txBox="1"/>
          <p:nvPr/>
        </p:nvSpPr>
        <p:spPr>
          <a:xfrm>
            <a:off x="8086343" y="4143375"/>
            <a:ext cx="66175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Daniel</a:t>
            </a:r>
          </a:p>
        </p:txBody>
      </p:sp>
      <p:pic>
        <p:nvPicPr>
          <p:cNvPr id="864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562725" y="3733800"/>
            <a:ext cx="314326" cy="3143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69" name="Group 28"/>
          <p:cNvGrpSpPr/>
          <p:nvPr/>
        </p:nvGrpSpPr>
        <p:grpSpPr>
          <a:xfrm>
            <a:off x="6934688" y="3728866"/>
            <a:ext cx="351940" cy="376409"/>
            <a:chOff x="0" y="0"/>
            <a:chExt cx="351939" cy="376407"/>
          </a:xfrm>
        </p:grpSpPr>
        <p:pic>
          <p:nvPicPr>
            <p:cNvPr id="865" name="Picture 29" descr="Picture 29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6" name="Picture 30" descr="Picture 30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7" name="Picture 31" descr="Picture 31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8" name="Picture 32" descr="Picture 32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870" name="Picture 33" descr="Picture 3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37520" y="2663824"/>
            <a:ext cx="1053955" cy="1054070"/>
          </a:xfrm>
          <a:prstGeom prst="rect">
            <a:avLst/>
          </a:prstGeom>
          <a:ln w="12700">
            <a:miter lim="400000"/>
          </a:ln>
        </p:spPr>
      </p:pic>
      <p:sp>
        <p:nvSpPr>
          <p:cNvPr id="871" name="TextBox 34"/>
          <p:cNvSpPr txBox="1"/>
          <p:nvPr/>
        </p:nvSpPr>
        <p:spPr>
          <a:xfrm>
            <a:off x="3614804" y="4714875"/>
            <a:ext cx="1718132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Physical machines</a:t>
            </a:r>
          </a:p>
        </p:txBody>
      </p:sp>
      <p:sp>
        <p:nvSpPr>
          <p:cNvPr id="872" name="TextBox 35"/>
          <p:cNvSpPr txBox="1"/>
          <p:nvPr/>
        </p:nvSpPr>
        <p:spPr>
          <a:xfrm>
            <a:off x="6291383" y="4229100"/>
            <a:ext cx="1584683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Virtual machines</a:t>
            </a:r>
          </a:p>
        </p:txBody>
      </p:sp>
      <p:grpSp>
        <p:nvGrpSpPr>
          <p:cNvPr id="876" name="Group 36"/>
          <p:cNvGrpSpPr/>
          <p:nvPr/>
        </p:nvGrpSpPr>
        <p:grpSpPr>
          <a:xfrm>
            <a:off x="7115175" y="2933700"/>
            <a:ext cx="732759" cy="475462"/>
            <a:chOff x="0" y="0"/>
            <a:chExt cx="732757" cy="475460"/>
          </a:xfrm>
        </p:grpSpPr>
        <p:pic>
          <p:nvPicPr>
            <p:cNvPr id="873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4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82036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5" name="Picture 39" descr="Picture 39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90164" y="397581"/>
              <a:ext cx="335920" cy="778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877" name="Picture 40" descr="Picture 4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1295" y="1854200"/>
            <a:ext cx="736521" cy="73660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82" name="Group 41"/>
          <p:cNvGrpSpPr/>
          <p:nvPr/>
        </p:nvGrpSpPr>
        <p:grpSpPr>
          <a:xfrm>
            <a:off x="6629399" y="2000250"/>
            <a:ext cx="789387" cy="371476"/>
            <a:chOff x="0" y="0"/>
            <a:chExt cx="789385" cy="371475"/>
          </a:xfrm>
        </p:grpSpPr>
        <p:pic>
          <p:nvPicPr>
            <p:cNvPr id="878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0"/>
              <a:ext cx="371476" cy="3714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9" name="Picture 43" descr="Picture 43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433589" y="42998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0" name="Picture 44" descr="Picture 44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426955" y="149134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1" name="Picture 45" descr="Picture 45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433589" y="248636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83" name="TextBox 46"/>
          <p:cNvSpPr txBox="1"/>
          <p:nvPr/>
        </p:nvSpPr>
        <p:spPr>
          <a:xfrm>
            <a:off x="5565495" y="2638425"/>
            <a:ext cx="864752" cy="824866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Virtual </a:t>
            </a:r>
            <a:br/>
            <a:r>
              <a:t>machine</a:t>
            </a:r>
            <a:br/>
            <a:r>
              <a:t>monitor</a:t>
            </a:r>
          </a:p>
        </p:txBody>
      </p:sp>
      <p:sp>
        <p:nvSpPr>
          <p:cNvPr id="884" name="Straight Arrow Connector 47"/>
          <p:cNvSpPr/>
          <p:nvPr/>
        </p:nvSpPr>
        <p:spPr>
          <a:xfrm>
            <a:off x="5086349" y="2457450"/>
            <a:ext cx="440880" cy="596475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5" name="Straight Arrow Connector 48"/>
          <p:cNvSpPr/>
          <p:nvPr/>
        </p:nvSpPr>
        <p:spPr>
          <a:xfrm flipV="1">
            <a:off x="6477000" y="2476500"/>
            <a:ext cx="419101" cy="40957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6" name="Straight Arrow Connector 49"/>
          <p:cNvSpPr/>
          <p:nvPr/>
        </p:nvSpPr>
        <p:spPr>
          <a:xfrm>
            <a:off x="6468512" y="3053924"/>
            <a:ext cx="608564" cy="3217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7" name="Straight Arrow Connector 50"/>
          <p:cNvSpPr/>
          <p:nvPr/>
        </p:nvSpPr>
        <p:spPr>
          <a:xfrm>
            <a:off x="6486524" y="3257551"/>
            <a:ext cx="454100" cy="36520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8" name="TextBox 51"/>
          <p:cNvSpPr txBox="1"/>
          <p:nvPr/>
        </p:nvSpPr>
        <p:spPr>
          <a:xfrm>
            <a:off x="8119133" y="1485900"/>
            <a:ext cx="48186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Emil</a:t>
            </a:r>
          </a:p>
        </p:txBody>
      </p:sp>
      <p:pic>
        <p:nvPicPr>
          <p:cNvPr id="889" name="Picture 51" descr="Picture 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279919" y="3435413"/>
            <a:ext cx="1234931" cy="1235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890" name="Picture 51" descr="Picture 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80044" y="3416363"/>
            <a:ext cx="1234931" cy="1235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891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857625" y="35718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2" name="Picture 58" descr="Picture 5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670589" y="40527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93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371850" y="35718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4" name="Picture 60" descr="Picture 6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661064" y="42051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95" name="Picture 61" descr="Picture 6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670589" y="43479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96" name="Picture 62" descr="Picture 62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670589" y="44908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97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905375" y="35718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8" name="Picture 64" descr="Picture 64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718339" y="40527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419600" y="35718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Picture 66" descr="Picture 6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708814" y="42051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1" name="Picture 67" descr="Picture 6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718339" y="43479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2" name="Picture 68" descr="Picture 6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718339" y="4490866"/>
            <a:ext cx="510887" cy="118445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Rectangle 69"/>
          <p:cNvSpPr/>
          <p:nvPr/>
        </p:nvSpPr>
        <p:spPr>
          <a:xfrm>
            <a:off x="4076701" y="1759839"/>
            <a:ext cx="180976" cy="173737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04" name="Rectangle 70"/>
          <p:cNvSpPr/>
          <p:nvPr/>
        </p:nvSpPr>
        <p:spPr>
          <a:xfrm>
            <a:off x="4657726" y="1750314"/>
            <a:ext cx="180976" cy="173737"/>
          </a:xfrm>
          <a:prstGeom prst="rect">
            <a:avLst/>
          </a:prstGeom>
          <a:solidFill>
            <a:srgbClr val="FF99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05" name="Rectangle 71"/>
          <p:cNvSpPr/>
          <p:nvPr/>
        </p:nvSpPr>
        <p:spPr>
          <a:xfrm>
            <a:off x="4086226" y="2283714"/>
            <a:ext cx="180976" cy="173737"/>
          </a:xfrm>
          <a:prstGeom prst="rect">
            <a:avLst/>
          </a:prstGeom>
          <a:solidFill>
            <a:srgbClr val="FF99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06" name="Rectangle 72"/>
          <p:cNvSpPr/>
          <p:nvPr/>
        </p:nvSpPr>
        <p:spPr>
          <a:xfrm>
            <a:off x="4648201" y="2274189"/>
            <a:ext cx="180976" cy="173737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910" name="Group 79"/>
          <p:cNvGrpSpPr/>
          <p:nvPr/>
        </p:nvGrpSpPr>
        <p:grpSpPr>
          <a:xfrm>
            <a:off x="4038601" y="2645665"/>
            <a:ext cx="314326" cy="392812"/>
            <a:chOff x="0" y="0"/>
            <a:chExt cx="314325" cy="392811"/>
          </a:xfrm>
        </p:grpSpPr>
        <p:sp>
          <p:nvSpPr>
            <p:cNvPr id="907" name="Rectangle 73"/>
            <p:cNvSpPr/>
            <p:nvPr/>
          </p:nvSpPr>
          <p:spPr>
            <a:xfrm>
              <a:off x="0" y="-1"/>
              <a:ext cx="314325" cy="97537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08" name="Rectangle 74"/>
            <p:cNvSpPr/>
            <p:nvPr/>
          </p:nvSpPr>
          <p:spPr>
            <a:xfrm>
              <a:off x="0" y="152399"/>
              <a:ext cx="314325" cy="97538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09" name="Rectangle 75"/>
            <p:cNvSpPr/>
            <p:nvPr/>
          </p:nvSpPr>
          <p:spPr>
            <a:xfrm>
              <a:off x="0" y="295275"/>
              <a:ext cx="314325" cy="97537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911" name="Rectangle 76"/>
          <p:cNvSpPr/>
          <p:nvPr/>
        </p:nvSpPr>
        <p:spPr>
          <a:xfrm>
            <a:off x="4038601" y="3074289"/>
            <a:ext cx="314326" cy="97537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915" name="Group 81"/>
          <p:cNvGrpSpPr/>
          <p:nvPr/>
        </p:nvGrpSpPr>
        <p:grpSpPr>
          <a:xfrm>
            <a:off x="4638676" y="2645665"/>
            <a:ext cx="314326" cy="526162"/>
            <a:chOff x="0" y="0"/>
            <a:chExt cx="314325" cy="526161"/>
          </a:xfrm>
        </p:grpSpPr>
        <p:sp>
          <p:nvSpPr>
            <p:cNvPr id="912" name="Rectangle 77"/>
            <p:cNvSpPr/>
            <p:nvPr/>
          </p:nvSpPr>
          <p:spPr>
            <a:xfrm>
              <a:off x="0" y="-1"/>
              <a:ext cx="314325" cy="97537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13" name="Rectangle 78"/>
            <p:cNvSpPr/>
            <p:nvPr/>
          </p:nvSpPr>
          <p:spPr>
            <a:xfrm>
              <a:off x="0" y="152399"/>
              <a:ext cx="314325" cy="97538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14" name="Rectangle 80"/>
            <p:cNvSpPr/>
            <p:nvPr/>
          </p:nvSpPr>
          <p:spPr>
            <a:xfrm>
              <a:off x="0" y="428625"/>
              <a:ext cx="314325" cy="97537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60407 0.283343" pathEditMode="relative">
                                      <p:cBhvr>
                                        <p:cTn id="13" dur="2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29173 0.209722" pathEditMode="relative">
                                      <p:cBhvr>
                                        <p:cTn id="16" dur="200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3754 0.288894" pathEditMode="relative">
                                      <p:cBhvr>
                                        <p:cTn id="19" dur="2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53134 0.211112" pathEditMode="relative">
                                      <p:cBhvr>
                                        <p:cTn id="22" dur="200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0843 0.206954" pathEditMode="relative">
                                      <p:cBhvr>
                                        <p:cTn id="25" dur="200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67707 0.206953" pathEditMode="relative">
                                      <p:cBhvr>
                                        <p:cTn id="28" dur="200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28133 0.212504" pathEditMode="relative">
                                      <p:cBhvr>
                                        <p:cTn id="31" dur="2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" grpId="1" build="p" bldLvl="5" animBg="1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50391" y="723900"/>
            <a:ext cx="359523" cy="312726"/>
          </a:xfrm>
          <a:prstGeom prst="rect">
            <a:avLst/>
          </a:prstGeom>
          <a:ln w="12700">
            <a:miter lim="400000"/>
          </a:ln>
        </p:spPr>
      </p:pic>
      <p:sp>
        <p:nvSpPr>
          <p:cNvPr id="91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Benefit: Time sharing</a:t>
            </a:r>
          </a:p>
        </p:txBody>
      </p:sp>
      <p:sp>
        <p:nvSpPr>
          <p:cNvPr id="91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8200" y="4667250"/>
            <a:ext cx="9344026" cy="188595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</a:pPr>
            <a:r>
              <a:rPr dirty="0"/>
              <a:t>What if Alice gets another customer?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Multiple VMs can </a:t>
            </a:r>
            <a:r>
              <a:rPr dirty="0">
                <a:solidFill>
                  <a:srgbClr val="FF9900"/>
                </a:solidFill>
              </a:rPr>
              <a:t>time-share</a:t>
            </a:r>
            <a:r>
              <a:rPr dirty="0"/>
              <a:t> the existing resources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Result: Alice has more virtual CPUs and virtual memory than physical resources (but not all can be active at the same time)</a:t>
            </a:r>
          </a:p>
        </p:txBody>
      </p:sp>
      <p:sp>
        <p:nvSpPr>
          <p:cNvPr id="920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  <p:pic>
        <p:nvPicPr>
          <p:cNvPr id="921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42245" y="3622754"/>
            <a:ext cx="596755" cy="59682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2" name="Picture 51" descr="Picture 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75194" y="2130424"/>
            <a:ext cx="1825481" cy="1825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923" name="Picture 2" descr="Pictur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07360" y="2741614"/>
            <a:ext cx="554037" cy="554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924" name="Picture 3" descr="Pictur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flipH="1">
            <a:off x="8105775" y="1847851"/>
            <a:ext cx="504826" cy="504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925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951164" y="2924176"/>
            <a:ext cx="639762" cy="639762"/>
          </a:xfrm>
          <a:prstGeom prst="rect">
            <a:avLst/>
          </a:prstGeom>
          <a:ln w="12700">
            <a:miter lim="400000"/>
          </a:ln>
        </p:spPr>
      </p:pic>
      <p:sp>
        <p:nvSpPr>
          <p:cNvPr id="926" name="TextBox 10"/>
          <p:cNvSpPr txBox="1"/>
          <p:nvPr/>
        </p:nvSpPr>
        <p:spPr>
          <a:xfrm>
            <a:off x="3032882" y="3514725"/>
            <a:ext cx="519768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Alice</a:t>
            </a:r>
          </a:p>
        </p:txBody>
      </p:sp>
      <p:pic>
        <p:nvPicPr>
          <p:cNvPr id="927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05250" y="22193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8" name="Picture 12" descr="Picture 12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27764" y="32526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29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486275" y="221932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30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914775" y="2733675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31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476750" y="2743200"/>
            <a:ext cx="5334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32" name="Picture 16" descr="Picture 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18314" y="32526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3" name="Picture 17" descr="Picture 1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18239" y="34050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4" name="Picture 18" descr="Picture 1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08789" y="340501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5" name="Picture 19" descr="Picture 1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27764" y="35478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6" name="Picture 20" descr="Picture 2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18314" y="3547891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7" name="Picture 21" descr="Picture 2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927764" y="36907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8" name="Picture 22" descr="Picture 22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18314" y="3690766"/>
            <a:ext cx="510887" cy="11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39" name="Picture 5" descr="Picture 5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 flipH="1">
            <a:off x="8124825" y="3638551"/>
            <a:ext cx="580882" cy="580882"/>
          </a:xfrm>
          <a:prstGeom prst="rect">
            <a:avLst/>
          </a:prstGeom>
          <a:ln w="12700">
            <a:miter lim="400000"/>
          </a:ln>
        </p:spPr>
      </p:pic>
      <p:sp>
        <p:nvSpPr>
          <p:cNvPr id="940" name="TextBox 24"/>
          <p:cNvSpPr txBox="1"/>
          <p:nvPr/>
        </p:nvSpPr>
        <p:spPr>
          <a:xfrm>
            <a:off x="8155347" y="2276475"/>
            <a:ext cx="44753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Bob</a:t>
            </a:r>
          </a:p>
        </p:txBody>
      </p:sp>
      <p:sp>
        <p:nvSpPr>
          <p:cNvPr id="941" name="TextBox 25"/>
          <p:cNvSpPr txBox="1"/>
          <p:nvPr/>
        </p:nvSpPr>
        <p:spPr>
          <a:xfrm>
            <a:off x="8038468" y="3228975"/>
            <a:ext cx="719396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Charlie</a:t>
            </a:r>
          </a:p>
        </p:txBody>
      </p:sp>
      <p:sp>
        <p:nvSpPr>
          <p:cNvPr id="942" name="TextBox 26"/>
          <p:cNvSpPr txBox="1"/>
          <p:nvPr/>
        </p:nvSpPr>
        <p:spPr>
          <a:xfrm>
            <a:off x="8086343" y="4143375"/>
            <a:ext cx="661750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Daniel</a:t>
            </a:r>
          </a:p>
        </p:txBody>
      </p:sp>
      <p:pic>
        <p:nvPicPr>
          <p:cNvPr id="943" name="Picture 3" descr="Picture 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562725" y="3733800"/>
            <a:ext cx="314326" cy="3143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48" name="Group 28"/>
          <p:cNvGrpSpPr/>
          <p:nvPr/>
        </p:nvGrpSpPr>
        <p:grpSpPr>
          <a:xfrm>
            <a:off x="6934688" y="3728866"/>
            <a:ext cx="351940" cy="376409"/>
            <a:chOff x="0" y="0"/>
            <a:chExt cx="351939" cy="376407"/>
          </a:xfrm>
        </p:grpSpPr>
        <p:pic>
          <p:nvPicPr>
            <p:cNvPr id="944" name="Picture 29" descr="Picture 29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6441" y="0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5" name="Picture 30" descr="Picture 30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-1" y="103063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6" name="Picture 31" descr="Picture 31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6441" y="199685"/>
              <a:ext cx="345499" cy="80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7" name="Picture 32" descr="Picture 32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6441" y="296307"/>
              <a:ext cx="345499" cy="801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49" name="Picture 33" descr="Picture 3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37520" y="2663824"/>
            <a:ext cx="1053955" cy="1054070"/>
          </a:xfrm>
          <a:prstGeom prst="rect">
            <a:avLst/>
          </a:prstGeom>
          <a:ln w="12700">
            <a:miter lim="400000"/>
          </a:ln>
        </p:spPr>
      </p:pic>
      <p:sp>
        <p:nvSpPr>
          <p:cNvPr id="950" name="TextBox 34"/>
          <p:cNvSpPr txBox="1"/>
          <p:nvPr/>
        </p:nvSpPr>
        <p:spPr>
          <a:xfrm>
            <a:off x="3660147" y="3867150"/>
            <a:ext cx="162744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Physical machine</a:t>
            </a:r>
          </a:p>
        </p:txBody>
      </p:sp>
      <p:sp>
        <p:nvSpPr>
          <p:cNvPr id="951" name="TextBox 35"/>
          <p:cNvSpPr txBox="1"/>
          <p:nvPr/>
        </p:nvSpPr>
        <p:spPr>
          <a:xfrm>
            <a:off x="6291383" y="4229100"/>
            <a:ext cx="1584683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Virtual machines</a:t>
            </a:r>
          </a:p>
        </p:txBody>
      </p:sp>
      <p:grpSp>
        <p:nvGrpSpPr>
          <p:cNvPr id="955" name="Group 36"/>
          <p:cNvGrpSpPr/>
          <p:nvPr/>
        </p:nvGrpSpPr>
        <p:grpSpPr>
          <a:xfrm>
            <a:off x="7115175" y="2933700"/>
            <a:ext cx="732759" cy="475462"/>
            <a:chOff x="0" y="0"/>
            <a:chExt cx="732757" cy="475460"/>
          </a:xfrm>
        </p:grpSpPr>
        <p:pic>
          <p:nvPicPr>
            <p:cNvPr id="952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3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82036" y="0"/>
              <a:ext cx="350722" cy="3507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4" name="Picture 39" descr="Picture 39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90164" y="397581"/>
              <a:ext cx="335920" cy="778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56" name="Picture 40" descr="Picture 4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1295" y="1854200"/>
            <a:ext cx="736521" cy="73660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61" name="Group 41"/>
          <p:cNvGrpSpPr/>
          <p:nvPr/>
        </p:nvGrpSpPr>
        <p:grpSpPr>
          <a:xfrm>
            <a:off x="6629399" y="2000250"/>
            <a:ext cx="789387" cy="371476"/>
            <a:chOff x="0" y="0"/>
            <a:chExt cx="789385" cy="371475"/>
          </a:xfrm>
        </p:grpSpPr>
        <p:pic>
          <p:nvPicPr>
            <p:cNvPr id="957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0"/>
              <a:ext cx="371476" cy="3714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8" name="Picture 43" descr="Picture 43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433589" y="42998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9" name="Picture 44" descr="Picture 44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426955" y="149134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0" name="Picture 45" descr="Picture 45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433589" y="248636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62" name="TextBox 46"/>
          <p:cNvSpPr txBox="1"/>
          <p:nvPr/>
        </p:nvSpPr>
        <p:spPr>
          <a:xfrm>
            <a:off x="5565495" y="2638425"/>
            <a:ext cx="864752" cy="824866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pPr>
            <a:r>
              <a:t>Virtual </a:t>
            </a:r>
            <a:br/>
            <a:r>
              <a:t>machine</a:t>
            </a:r>
            <a:br/>
            <a:r>
              <a:t>monitor</a:t>
            </a:r>
          </a:p>
        </p:txBody>
      </p:sp>
      <p:sp>
        <p:nvSpPr>
          <p:cNvPr id="963" name="Straight Arrow Connector 47"/>
          <p:cNvSpPr/>
          <p:nvPr/>
        </p:nvSpPr>
        <p:spPr>
          <a:xfrm flipV="1">
            <a:off x="5086351" y="3053924"/>
            <a:ext cx="440880" cy="1312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4" name="Straight Arrow Connector 48"/>
          <p:cNvSpPr/>
          <p:nvPr/>
        </p:nvSpPr>
        <p:spPr>
          <a:xfrm flipV="1">
            <a:off x="6477000" y="2476500"/>
            <a:ext cx="419101" cy="40957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5" name="Straight Arrow Connector 49"/>
          <p:cNvSpPr/>
          <p:nvPr/>
        </p:nvSpPr>
        <p:spPr>
          <a:xfrm>
            <a:off x="6468512" y="3053924"/>
            <a:ext cx="608564" cy="32177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6" name="Straight Arrow Connector 50"/>
          <p:cNvSpPr/>
          <p:nvPr/>
        </p:nvSpPr>
        <p:spPr>
          <a:xfrm>
            <a:off x="6486524" y="3257551"/>
            <a:ext cx="454100" cy="365206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7" name="TextBox 53"/>
          <p:cNvSpPr txBox="1"/>
          <p:nvPr/>
        </p:nvSpPr>
        <p:spPr>
          <a:xfrm>
            <a:off x="8119133" y="1485900"/>
            <a:ext cx="481867" cy="332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Emil</a:t>
            </a:r>
          </a:p>
        </p:txBody>
      </p:sp>
      <p:grpSp>
        <p:nvGrpSpPr>
          <p:cNvPr id="975" name="Group 61"/>
          <p:cNvGrpSpPr/>
          <p:nvPr/>
        </p:nvGrpSpPr>
        <p:grpSpPr>
          <a:xfrm>
            <a:off x="7128020" y="758823"/>
            <a:ext cx="1053955" cy="1054071"/>
            <a:chOff x="0" y="0"/>
            <a:chExt cx="1053953" cy="1054069"/>
          </a:xfrm>
        </p:grpSpPr>
        <p:pic>
          <p:nvPicPr>
            <p:cNvPr id="968" name="Picture 51" descr="Picture 5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053954" cy="10540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9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39552" y="88901"/>
              <a:ext cx="371476" cy="3714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0" name="Picture 56" descr="Picture 56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554091" y="570049"/>
              <a:ext cx="355798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1" name="Picture 57" descr="Picture 57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37883" y="704760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2" name="Picture 58" descr="Picture 58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134991" y="575662"/>
              <a:ext cx="355797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3" name="Picture 59" descr="Picture 59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563616" y="693874"/>
              <a:ext cx="355798" cy="82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4" name="Picture 3" descr="Picture 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549127" y="88901"/>
              <a:ext cx="371476" cy="3714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76" name="Freeform 62"/>
          <p:cNvSpPr/>
          <p:nvPr/>
        </p:nvSpPr>
        <p:spPr>
          <a:xfrm>
            <a:off x="6248400" y="1285875"/>
            <a:ext cx="1028701" cy="1352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200" y="5932"/>
                </a:lnTo>
                <a:lnTo>
                  <a:pt x="21600" y="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77" name="Rectangle 75"/>
          <p:cNvSpPr/>
          <p:nvPr/>
        </p:nvSpPr>
        <p:spPr>
          <a:xfrm>
            <a:off x="4076701" y="2891952"/>
            <a:ext cx="180976" cy="173737"/>
          </a:xfrm>
          <a:prstGeom prst="rect">
            <a:avLst/>
          </a:prstGeom>
          <a:solidFill>
            <a:srgbClr val="7030A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78" name="Rectangle 76"/>
          <p:cNvSpPr/>
          <p:nvPr/>
        </p:nvSpPr>
        <p:spPr>
          <a:xfrm>
            <a:off x="4666153" y="2364127"/>
            <a:ext cx="180976" cy="173737"/>
          </a:xfrm>
          <a:prstGeom prst="rect">
            <a:avLst/>
          </a:prstGeom>
          <a:solidFill>
            <a:srgbClr val="FF99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79" name="Rectangle 77"/>
          <p:cNvSpPr/>
          <p:nvPr/>
        </p:nvSpPr>
        <p:spPr>
          <a:xfrm>
            <a:off x="4065156" y="2370800"/>
            <a:ext cx="180976" cy="173737"/>
          </a:xfrm>
          <a:prstGeom prst="rect">
            <a:avLst/>
          </a:prstGeom>
          <a:solidFill>
            <a:srgbClr val="FF99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80" name="Rectangle 78"/>
          <p:cNvSpPr/>
          <p:nvPr/>
        </p:nvSpPr>
        <p:spPr>
          <a:xfrm>
            <a:off x="4648201" y="2883789"/>
            <a:ext cx="180976" cy="173737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984" name="Group 79"/>
          <p:cNvGrpSpPr/>
          <p:nvPr/>
        </p:nvGrpSpPr>
        <p:grpSpPr>
          <a:xfrm>
            <a:off x="4038601" y="3255264"/>
            <a:ext cx="314326" cy="392812"/>
            <a:chOff x="0" y="0"/>
            <a:chExt cx="314325" cy="392811"/>
          </a:xfrm>
        </p:grpSpPr>
        <p:sp>
          <p:nvSpPr>
            <p:cNvPr id="981" name="Rectangle 80"/>
            <p:cNvSpPr/>
            <p:nvPr/>
          </p:nvSpPr>
          <p:spPr>
            <a:xfrm>
              <a:off x="0" y="-1"/>
              <a:ext cx="314325" cy="97537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82" name="Rectangle 81"/>
            <p:cNvSpPr/>
            <p:nvPr/>
          </p:nvSpPr>
          <p:spPr>
            <a:xfrm>
              <a:off x="0" y="152399"/>
              <a:ext cx="314325" cy="97538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83" name="Rectangle 82"/>
            <p:cNvSpPr/>
            <p:nvPr/>
          </p:nvSpPr>
          <p:spPr>
            <a:xfrm>
              <a:off x="0" y="295275"/>
              <a:ext cx="314325" cy="97537"/>
            </a:xfrm>
            <a:prstGeom prst="rect">
              <a:avLst/>
            </a:prstGeom>
            <a:solidFill>
              <a:srgbClr val="7030A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sp>
        <p:nvSpPr>
          <p:cNvPr id="985" name="Rectangle 83"/>
          <p:cNvSpPr/>
          <p:nvPr/>
        </p:nvSpPr>
        <p:spPr>
          <a:xfrm>
            <a:off x="4038601" y="3683889"/>
            <a:ext cx="314326" cy="97537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989" name="Group 84"/>
          <p:cNvGrpSpPr/>
          <p:nvPr/>
        </p:nvGrpSpPr>
        <p:grpSpPr>
          <a:xfrm>
            <a:off x="4638676" y="3255264"/>
            <a:ext cx="314326" cy="526162"/>
            <a:chOff x="0" y="0"/>
            <a:chExt cx="314325" cy="526161"/>
          </a:xfrm>
        </p:grpSpPr>
        <p:sp>
          <p:nvSpPr>
            <p:cNvPr id="986" name="Rectangle 85"/>
            <p:cNvSpPr/>
            <p:nvPr/>
          </p:nvSpPr>
          <p:spPr>
            <a:xfrm>
              <a:off x="0" y="-1"/>
              <a:ext cx="314325" cy="97537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87" name="Rectangle 86"/>
            <p:cNvSpPr/>
            <p:nvPr/>
          </p:nvSpPr>
          <p:spPr>
            <a:xfrm>
              <a:off x="0" y="152399"/>
              <a:ext cx="314325" cy="97538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88" name="Rectangle 87"/>
            <p:cNvSpPr/>
            <p:nvPr/>
          </p:nvSpPr>
          <p:spPr>
            <a:xfrm>
              <a:off x="0" y="428625"/>
              <a:ext cx="314325" cy="97537"/>
            </a:xfrm>
            <a:prstGeom prst="rect">
              <a:avLst/>
            </a:prstGeom>
            <a:solidFill>
              <a:srgbClr val="FF99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pic>
        <p:nvPicPr>
          <p:cNvPr id="990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flipH="1">
            <a:off x="8096250" y="935038"/>
            <a:ext cx="552449" cy="552450"/>
          </a:xfrm>
          <a:prstGeom prst="rect">
            <a:avLst/>
          </a:prstGeom>
          <a:ln w="12700">
            <a:miter lim="400000"/>
          </a:ln>
        </p:spPr>
      </p:pic>
      <p:sp>
        <p:nvSpPr>
          <p:cNvPr id="991" name="Rectangle 90"/>
          <p:cNvSpPr/>
          <p:nvPr/>
        </p:nvSpPr>
        <p:spPr>
          <a:xfrm>
            <a:off x="4067176" y="1769364"/>
            <a:ext cx="180976" cy="173737"/>
          </a:xfrm>
          <a:prstGeom prst="rect">
            <a:avLst/>
          </a:prstGeom>
          <a:solidFill>
            <a:srgbClr val="00CC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sp>
        <p:nvSpPr>
          <p:cNvPr id="992" name="Rectangle 91"/>
          <p:cNvSpPr/>
          <p:nvPr/>
        </p:nvSpPr>
        <p:spPr>
          <a:xfrm>
            <a:off x="4667251" y="1769364"/>
            <a:ext cx="180976" cy="173737"/>
          </a:xfrm>
          <a:prstGeom prst="rect">
            <a:avLst/>
          </a:prstGeom>
          <a:solidFill>
            <a:srgbClr val="00CC00"/>
          </a:solidFill>
          <a:ln w="19050">
            <a:solidFill>
              <a:srgbClr val="000000"/>
            </a:solidFill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997" name="Group 97"/>
          <p:cNvGrpSpPr/>
          <p:nvPr/>
        </p:nvGrpSpPr>
        <p:grpSpPr>
          <a:xfrm>
            <a:off x="5362576" y="3693414"/>
            <a:ext cx="314326" cy="526162"/>
            <a:chOff x="0" y="0"/>
            <a:chExt cx="314325" cy="526161"/>
          </a:xfrm>
        </p:grpSpPr>
        <p:sp>
          <p:nvSpPr>
            <p:cNvPr id="993" name="Rectangle 93"/>
            <p:cNvSpPr/>
            <p:nvPr/>
          </p:nvSpPr>
          <p:spPr>
            <a:xfrm>
              <a:off x="0" y="-1"/>
              <a:ext cx="314325" cy="97537"/>
            </a:xfrm>
            <a:prstGeom prst="rect">
              <a:avLst/>
            </a:prstGeom>
            <a:solidFill>
              <a:srgbClr val="00CC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94" name="Rectangle 94"/>
            <p:cNvSpPr/>
            <p:nvPr/>
          </p:nvSpPr>
          <p:spPr>
            <a:xfrm>
              <a:off x="0" y="152399"/>
              <a:ext cx="314325" cy="97538"/>
            </a:xfrm>
            <a:prstGeom prst="rect">
              <a:avLst/>
            </a:prstGeom>
            <a:solidFill>
              <a:srgbClr val="00CC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95" name="Rectangle 95"/>
            <p:cNvSpPr/>
            <p:nvPr/>
          </p:nvSpPr>
          <p:spPr>
            <a:xfrm>
              <a:off x="0" y="428625"/>
              <a:ext cx="314325" cy="97537"/>
            </a:xfrm>
            <a:prstGeom prst="rect">
              <a:avLst/>
            </a:prstGeom>
            <a:solidFill>
              <a:srgbClr val="00CC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96" name="Rectangle 96"/>
            <p:cNvSpPr/>
            <p:nvPr/>
          </p:nvSpPr>
          <p:spPr>
            <a:xfrm>
              <a:off x="0" y="285749"/>
              <a:ext cx="314325" cy="97538"/>
            </a:xfrm>
            <a:prstGeom prst="rect">
              <a:avLst/>
            </a:prstGeom>
            <a:solidFill>
              <a:srgbClr val="00CC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001" name="Curved Right Arrow 98"/>
          <p:cNvGrpSpPr/>
          <p:nvPr/>
        </p:nvGrpSpPr>
        <p:grpSpPr>
          <a:xfrm>
            <a:off x="3850013" y="1786661"/>
            <a:ext cx="169539" cy="716374"/>
            <a:chOff x="0" y="0"/>
            <a:chExt cx="169537" cy="716372"/>
          </a:xfrm>
        </p:grpSpPr>
        <p:sp>
          <p:nvSpPr>
            <p:cNvPr id="998" name="Shape"/>
            <p:cNvSpPr/>
            <p:nvPr/>
          </p:nvSpPr>
          <p:spPr>
            <a:xfrm>
              <a:off x="0" y="0"/>
              <a:ext cx="169538" cy="716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4" h="21600" extrusionOk="0">
                  <a:moveTo>
                    <a:pt x="2" y="9454"/>
                  </a:moveTo>
                  <a:cubicBezTo>
                    <a:pt x="2" y="13387"/>
                    <a:pt x="5242" y="16909"/>
                    <a:pt x="13159" y="18299"/>
                  </a:cubicBezTo>
                  <a:lnTo>
                    <a:pt x="13159" y="17391"/>
                  </a:lnTo>
                  <a:lnTo>
                    <a:pt x="20344" y="20105"/>
                  </a:lnTo>
                  <a:lnTo>
                    <a:pt x="13159" y="21600"/>
                  </a:lnTo>
                  <a:lnTo>
                    <a:pt x="13159" y="20692"/>
                  </a:lnTo>
                  <a:cubicBezTo>
                    <a:pt x="5242" y="19303"/>
                    <a:pt x="2" y="15781"/>
                    <a:pt x="2" y="11848"/>
                  </a:cubicBezTo>
                  <a:close/>
                  <a:moveTo>
                    <a:pt x="20344" y="2394"/>
                  </a:moveTo>
                  <a:cubicBezTo>
                    <a:pt x="10105" y="2394"/>
                    <a:pt x="1462" y="5930"/>
                    <a:pt x="166" y="10651"/>
                  </a:cubicBezTo>
                  <a:cubicBezTo>
                    <a:pt x="-1256" y="5471"/>
                    <a:pt x="6625" y="737"/>
                    <a:pt x="17769" y="76"/>
                  </a:cubicBezTo>
                  <a:cubicBezTo>
                    <a:pt x="18623" y="25"/>
                    <a:pt x="19483" y="0"/>
                    <a:pt x="20344" y="0"/>
                  </a:cubicBez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999" name="Shape"/>
            <p:cNvSpPr/>
            <p:nvPr/>
          </p:nvSpPr>
          <p:spPr>
            <a:xfrm>
              <a:off x="0" y="0"/>
              <a:ext cx="169538" cy="353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4" h="21600" extrusionOk="0">
                  <a:moveTo>
                    <a:pt x="20344" y="4854"/>
                  </a:moveTo>
                  <a:cubicBezTo>
                    <a:pt x="10105" y="4854"/>
                    <a:pt x="1462" y="12027"/>
                    <a:pt x="166" y="21600"/>
                  </a:cubicBezTo>
                  <a:cubicBezTo>
                    <a:pt x="-1256" y="11096"/>
                    <a:pt x="6625" y="1495"/>
                    <a:pt x="17769" y="154"/>
                  </a:cubicBezTo>
                  <a:cubicBezTo>
                    <a:pt x="18623" y="52"/>
                    <a:pt x="19483" y="0"/>
                    <a:pt x="2034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00" name="Line"/>
            <p:cNvSpPr/>
            <p:nvPr/>
          </p:nvSpPr>
          <p:spPr>
            <a:xfrm>
              <a:off x="18" y="0"/>
              <a:ext cx="169520" cy="716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454"/>
                  </a:moveTo>
                  <a:cubicBezTo>
                    <a:pt x="0" y="13387"/>
                    <a:pt x="5563" y="16909"/>
                    <a:pt x="13970" y="18299"/>
                  </a:cubicBezTo>
                  <a:lnTo>
                    <a:pt x="13970" y="17391"/>
                  </a:lnTo>
                  <a:lnTo>
                    <a:pt x="21600" y="20105"/>
                  </a:lnTo>
                  <a:lnTo>
                    <a:pt x="13970" y="21600"/>
                  </a:lnTo>
                  <a:lnTo>
                    <a:pt x="13970" y="20692"/>
                  </a:lnTo>
                  <a:cubicBezTo>
                    <a:pt x="5563" y="19303"/>
                    <a:pt x="0" y="15781"/>
                    <a:pt x="0" y="11848"/>
                  </a:cubicBezTo>
                  <a:lnTo>
                    <a:pt x="0" y="9454"/>
                  </a:lnTo>
                  <a:cubicBezTo>
                    <a:pt x="0" y="4233"/>
                    <a:pt x="9671" y="0"/>
                    <a:pt x="21600" y="0"/>
                  </a:cubicBezTo>
                  <a:lnTo>
                    <a:pt x="21600" y="2394"/>
                  </a:lnTo>
                  <a:cubicBezTo>
                    <a:pt x="10728" y="2394"/>
                    <a:pt x="1550" y="5930"/>
                    <a:pt x="174" y="1065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005" name="Curved Right Arrow 99"/>
          <p:cNvGrpSpPr/>
          <p:nvPr/>
        </p:nvGrpSpPr>
        <p:grpSpPr>
          <a:xfrm>
            <a:off x="4260810" y="1790784"/>
            <a:ext cx="166533" cy="716310"/>
            <a:chOff x="0" y="0"/>
            <a:chExt cx="166532" cy="716309"/>
          </a:xfrm>
        </p:grpSpPr>
        <p:sp>
          <p:nvSpPr>
            <p:cNvPr id="1002" name="Shape"/>
            <p:cNvSpPr/>
            <p:nvPr/>
          </p:nvSpPr>
          <p:spPr>
            <a:xfrm rot="10800000">
              <a:off x="0" y="0"/>
              <a:ext cx="166533" cy="716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" y="9484"/>
                  </a:moveTo>
                  <a:cubicBezTo>
                    <a:pt x="2" y="13430"/>
                    <a:pt x="5247" y="16963"/>
                    <a:pt x="13172" y="18357"/>
                  </a:cubicBezTo>
                  <a:lnTo>
                    <a:pt x="13172" y="17465"/>
                  </a:lnTo>
                  <a:lnTo>
                    <a:pt x="20365" y="20144"/>
                  </a:lnTo>
                  <a:lnTo>
                    <a:pt x="13172" y="21600"/>
                  </a:lnTo>
                  <a:lnTo>
                    <a:pt x="13172" y="20708"/>
                  </a:lnTo>
                  <a:cubicBezTo>
                    <a:pt x="5247" y="19314"/>
                    <a:pt x="2" y="15781"/>
                    <a:pt x="2" y="11835"/>
                  </a:cubicBezTo>
                  <a:close/>
                  <a:moveTo>
                    <a:pt x="20365" y="2351"/>
                  </a:moveTo>
                  <a:cubicBezTo>
                    <a:pt x="10095" y="2351"/>
                    <a:pt x="1432" y="5913"/>
                    <a:pt x="159" y="10660"/>
                  </a:cubicBezTo>
                  <a:lnTo>
                    <a:pt x="159" y="10660"/>
                  </a:lnTo>
                  <a:cubicBezTo>
                    <a:pt x="-1235" y="5462"/>
                    <a:pt x="6681" y="722"/>
                    <a:pt x="17841" y="73"/>
                  </a:cubicBezTo>
                  <a:cubicBezTo>
                    <a:pt x="18678" y="24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03" name="Shape"/>
            <p:cNvSpPr/>
            <p:nvPr/>
          </p:nvSpPr>
          <p:spPr>
            <a:xfrm rot="10800000">
              <a:off x="0" y="362805"/>
              <a:ext cx="166533" cy="353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0365" y="4765"/>
                  </a:moveTo>
                  <a:cubicBezTo>
                    <a:pt x="10095" y="4765"/>
                    <a:pt x="1432" y="11982"/>
                    <a:pt x="159" y="21600"/>
                  </a:cubicBezTo>
                  <a:lnTo>
                    <a:pt x="159" y="21600"/>
                  </a:lnTo>
                  <a:cubicBezTo>
                    <a:pt x="-1235" y="11068"/>
                    <a:pt x="6681" y="1464"/>
                    <a:pt x="17841" y="148"/>
                  </a:cubicBezTo>
                  <a:cubicBezTo>
                    <a:pt x="18678" y="50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04" name="Line"/>
            <p:cNvSpPr/>
            <p:nvPr/>
          </p:nvSpPr>
          <p:spPr>
            <a:xfrm rot="10800000">
              <a:off x="0" y="0"/>
              <a:ext cx="166516" cy="716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484"/>
                  </a:moveTo>
                  <a:cubicBezTo>
                    <a:pt x="0" y="13430"/>
                    <a:pt x="5563" y="16963"/>
                    <a:pt x="13970" y="18357"/>
                  </a:cubicBezTo>
                  <a:lnTo>
                    <a:pt x="13970" y="17465"/>
                  </a:lnTo>
                  <a:lnTo>
                    <a:pt x="21600" y="20144"/>
                  </a:lnTo>
                  <a:lnTo>
                    <a:pt x="13970" y="21600"/>
                  </a:lnTo>
                  <a:lnTo>
                    <a:pt x="13970" y="20708"/>
                  </a:lnTo>
                  <a:cubicBezTo>
                    <a:pt x="5563" y="19314"/>
                    <a:pt x="0" y="15781"/>
                    <a:pt x="0" y="11835"/>
                  </a:cubicBezTo>
                  <a:lnTo>
                    <a:pt x="0" y="9484"/>
                  </a:lnTo>
                  <a:cubicBezTo>
                    <a:pt x="0" y="4246"/>
                    <a:pt x="9671" y="0"/>
                    <a:pt x="21600" y="0"/>
                  </a:cubicBezTo>
                  <a:lnTo>
                    <a:pt x="21600" y="2351"/>
                  </a:lnTo>
                  <a:cubicBezTo>
                    <a:pt x="10706" y="2351"/>
                    <a:pt x="1517" y="5913"/>
                    <a:pt x="167" y="10660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009" name="Curved Right Arrow 100"/>
          <p:cNvGrpSpPr/>
          <p:nvPr/>
        </p:nvGrpSpPr>
        <p:grpSpPr>
          <a:xfrm>
            <a:off x="4478576" y="1795791"/>
            <a:ext cx="169538" cy="716373"/>
            <a:chOff x="0" y="0"/>
            <a:chExt cx="169537" cy="716372"/>
          </a:xfrm>
        </p:grpSpPr>
        <p:sp>
          <p:nvSpPr>
            <p:cNvPr id="1006" name="Shape"/>
            <p:cNvSpPr/>
            <p:nvPr/>
          </p:nvSpPr>
          <p:spPr>
            <a:xfrm>
              <a:off x="0" y="0"/>
              <a:ext cx="169538" cy="716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4" h="21600" extrusionOk="0">
                  <a:moveTo>
                    <a:pt x="2" y="9454"/>
                  </a:moveTo>
                  <a:cubicBezTo>
                    <a:pt x="2" y="13387"/>
                    <a:pt x="5242" y="16909"/>
                    <a:pt x="13159" y="18299"/>
                  </a:cubicBezTo>
                  <a:lnTo>
                    <a:pt x="13159" y="17391"/>
                  </a:lnTo>
                  <a:lnTo>
                    <a:pt x="20344" y="20105"/>
                  </a:lnTo>
                  <a:lnTo>
                    <a:pt x="13159" y="21600"/>
                  </a:lnTo>
                  <a:lnTo>
                    <a:pt x="13159" y="20692"/>
                  </a:lnTo>
                  <a:cubicBezTo>
                    <a:pt x="5242" y="19303"/>
                    <a:pt x="2" y="15781"/>
                    <a:pt x="2" y="11848"/>
                  </a:cubicBezTo>
                  <a:close/>
                  <a:moveTo>
                    <a:pt x="20344" y="2394"/>
                  </a:moveTo>
                  <a:cubicBezTo>
                    <a:pt x="10105" y="2394"/>
                    <a:pt x="1462" y="5930"/>
                    <a:pt x="166" y="10651"/>
                  </a:cubicBezTo>
                  <a:cubicBezTo>
                    <a:pt x="-1256" y="5471"/>
                    <a:pt x="6625" y="737"/>
                    <a:pt x="17769" y="76"/>
                  </a:cubicBezTo>
                  <a:cubicBezTo>
                    <a:pt x="18623" y="25"/>
                    <a:pt x="19483" y="0"/>
                    <a:pt x="20344" y="0"/>
                  </a:cubicBez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07" name="Shape"/>
            <p:cNvSpPr/>
            <p:nvPr/>
          </p:nvSpPr>
          <p:spPr>
            <a:xfrm>
              <a:off x="0" y="0"/>
              <a:ext cx="169538" cy="353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4" h="21600" extrusionOk="0">
                  <a:moveTo>
                    <a:pt x="20344" y="4854"/>
                  </a:moveTo>
                  <a:cubicBezTo>
                    <a:pt x="10105" y="4854"/>
                    <a:pt x="1462" y="12027"/>
                    <a:pt x="166" y="21600"/>
                  </a:cubicBezTo>
                  <a:cubicBezTo>
                    <a:pt x="-1256" y="11096"/>
                    <a:pt x="6625" y="1495"/>
                    <a:pt x="17769" y="154"/>
                  </a:cubicBezTo>
                  <a:cubicBezTo>
                    <a:pt x="18623" y="52"/>
                    <a:pt x="19483" y="0"/>
                    <a:pt x="2034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08" name="Line"/>
            <p:cNvSpPr/>
            <p:nvPr/>
          </p:nvSpPr>
          <p:spPr>
            <a:xfrm>
              <a:off x="18" y="0"/>
              <a:ext cx="169520" cy="716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454"/>
                  </a:moveTo>
                  <a:cubicBezTo>
                    <a:pt x="0" y="13387"/>
                    <a:pt x="5563" y="16909"/>
                    <a:pt x="13970" y="18299"/>
                  </a:cubicBezTo>
                  <a:lnTo>
                    <a:pt x="13970" y="17391"/>
                  </a:lnTo>
                  <a:lnTo>
                    <a:pt x="21600" y="20105"/>
                  </a:lnTo>
                  <a:lnTo>
                    <a:pt x="13970" y="21600"/>
                  </a:lnTo>
                  <a:lnTo>
                    <a:pt x="13970" y="20692"/>
                  </a:lnTo>
                  <a:cubicBezTo>
                    <a:pt x="5563" y="19303"/>
                    <a:pt x="0" y="15781"/>
                    <a:pt x="0" y="11848"/>
                  </a:cubicBezTo>
                  <a:lnTo>
                    <a:pt x="0" y="9454"/>
                  </a:lnTo>
                  <a:cubicBezTo>
                    <a:pt x="0" y="4233"/>
                    <a:pt x="9671" y="0"/>
                    <a:pt x="21600" y="0"/>
                  </a:cubicBezTo>
                  <a:lnTo>
                    <a:pt x="21600" y="2394"/>
                  </a:lnTo>
                  <a:cubicBezTo>
                    <a:pt x="10728" y="2394"/>
                    <a:pt x="1550" y="5930"/>
                    <a:pt x="174" y="10651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013" name="Curved Right Arrow 101"/>
          <p:cNvGrpSpPr/>
          <p:nvPr/>
        </p:nvGrpSpPr>
        <p:grpSpPr>
          <a:xfrm>
            <a:off x="4859875" y="1787272"/>
            <a:ext cx="166534" cy="716310"/>
            <a:chOff x="0" y="0"/>
            <a:chExt cx="166532" cy="716309"/>
          </a:xfrm>
        </p:grpSpPr>
        <p:sp>
          <p:nvSpPr>
            <p:cNvPr id="1010" name="Shape"/>
            <p:cNvSpPr/>
            <p:nvPr/>
          </p:nvSpPr>
          <p:spPr>
            <a:xfrm rot="10800000">
              <a:off x="0" y="0"/>
              <a:ext cx="166533" cy="716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" y="9484"/>
                  </a:moveTo>
                  <a:cubicBezTo>
                    <a:pt x="2" y="13430"/>
                    <a:pt x="5247" y="16963"/>
                    <a:pt x="13172" y="18357"/>
                  </a:cubicBezTo>
                  <a:lnTo>
                    <a:pt x="13172" y="17465"/>
                  </a:lnTo>
                  <a:lnTo>
                    <a:pt x="20365" y="20144"/>
                  </a:lnTo>
                  <a:lnTo>
                    <a:pt x="13172" y="21600"/>
                  </a:lnTo>
                  <a:lnTo>
                    <a:pt x="13172" y="20708"/>
                  </a:lnTo>
                  <a:cubicBezTo>
                    <a:pt x="5247" y="19314"/>
                    <a:pt x="2" y="15781"/>
                    <a:pt x="2" y="11835"/>
                  </a:cubicBezTo>
                  <a:close/>
                  <a:moveTo>
                    <a:pt x="20365" y="2351"/>
                  </a:moveTo>
                  <a:cubicBezTo>
                    <a:pt x="10095" y="2351"/>
                    <a:pt x="1432" y="5913"/>
                    <a:pt x="159" y="10660"/>
                  </a:cubicBezTo>
                  <a:lnTo>
                    <a:pt x="159" y="10660"/>
                  </a:lnTo>
                  <a:cubicBezTo>
                    <a:pt x="-1235" y="5462"/>
                    <a:pt x="6681" y="722"/>
                    <a:pt x="17841" y="73"/>
                  </a:cubicBezTo>
                  <a:cubicBezTo>
                    <a:pt x="18678" y="24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11" name="Shape"/>
            <p:cNvSpPr/>
            <p:nvPr/>
          </p:nvSpPr>
          <p:spPr>
            <a:xfrm rot="10800000">
              <a:off x="0" y="362805"/>
              <a:ext cx="166533" cy="353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0365" y="4765"/>
                  </a:moveTo>
                  <a:cubicBezTo>
                    <a:pt x="10095" y="4765"/>
                    <a:pt x="1432" y="11982"/>
                    <a:pt x="159" y="21600"/>
                  </a:cubicBezTo>
                  <a:lnTo>
                    <a:pt x="159" y="21600"/>
                  </a:lnTo>
                  <a:cubicBezTo>
                    <a:pt x="-1235" y="11068"/>
                    <a:pt x="6681" y="1464"/>
                    <a:pt x="17841" y="148"/>
                  </a:cubicBezTo>
                  <a:cubicBezTo>
                    <a:pt x="18678" y="50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12" name="Line"/>
            <p:cNvSpPr/>
            <p:nvPr/>
          </p:nvSpPr>
          <p:spPr>
            <a:xfrm rot="10800000">
              <a:off x="0" y="0"/>
              <a:ext cx="166516" cy="716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484"/>
                  </a:moveTo>
                  <a:cubicBezTo>
                    <a:pt x="0" y="13430"/>
                    <a:pt x="5563" y="16963"/>
                    <a:pt x="13970" y="18357"/>
                  </a:cubicBezTo>
                  <a:lnTo>
                    <a:pt x="13970" y="17465"/>
                  </a:lnTo>
                  <a:lnTo>
                    <a:pt x="21600" y="20144"/>
                  </a:lnTo>
                  <a:lnTo>
                    <a:pt x="13970" y="21600"/>
                  </a:lnTo>
                  <a:lnTo>
                    <a:pt x="13970" y="20708"/>
                  </a:lnTo>
                  <a:cubicBezTo>
                    <a:pt x="5563" y="19314"/>
                    <a:pt x="0" y="15781"/>
                    <a:pt x="0" y="11835"/>
                  </a:cubicBezTo>
                  <a:lnTo>
                    <a:pt x="0" y="9484"/>
                  </a:lnTo>
                  <a:cubicBezTo>
                    <a:pt x="0" y="4246"/>
                    <a:pt x="9671" y="0"/>
                    <a:pt x="21600" y="0"/>
                  </a:cubicBezTo>
                  <a:lnTo>
                    <a:pt x="21600" y="2351"/>
                  </a:lnTo>
                  <a:cubicBezTo>
                    <a:pt x="10706" y="2351"/>
                    <a:pt x="1517" y="5913"/>
                    <a:pt x="167" y="10660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017" name="Curved Right Arrow 102"/>
          <p:cNvGrpSpPr/>
          <p:nvPr/>
        </p:nvGrpSpPr>
        <p:grpSpPr>
          <a:xfrm>
            <a:off x="4965847" y="3151067"/>
            <a:ext cx="662865" cy="578247"/>
            <a:chOff x="0" y="0"/>
            <a:chExt cx="662864" cy="578245"/>
          </a:xfrm>
        </p:grpSpPr>
        <p:sp>
          <p:nvSpPr>
            <p:cNvPr id="1014" name="Shape"/>
            <p:cNvSpPr/>
            <p:nvPr/>
          </p:nvSpPr>
          <p:spPr>
            <a:xfrm rot="7725114">
              <a:off x="248165" y="-69032"/>
              <a:ext cx="166534" cy="716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" y="9484"/>
                  </a:moveTo>
                  <a:cubicBezTo>
                    <a:pt x="2" y="13430"/>
                    <a:pt x="5247" y="16963"/>
                    <a:pt x="13172" y="18357"/>
                  </a:cubicBezTo>
                  <a:lnTo>
                    <a:pt x="13172" y="17465"/>
                  </a:lnTo>
                  <a:lnTo>
                    <a:pt x="20365" y="20144"/>
                  </a:lnTo>
                  <a:lnTo>
                    <a:pt x="13172" y="21600"/>
                  </a:lnTo>
                  <a:lnTo>
                    <a:pt x="13172" y="20708"/>
                  </a:lnTo>
                  <a:cubicBezTo>
                    <a:pt x="5247" y="19314"/>
                    <a:pt x="2" y="15781"/>
                    <a:pt x="2" y="11835"/>
                  </a:cubicBezTo>
                  <a:close/>
                  <a:moveTo>
                    <a:pt x="20365" y="2351"/>
                  </a:moveTo>
                  <a:cubicBezTo>
                    <a:pt x="10095" y="2351"/>
                    <a:pt x="1432" y="5913"/>
                    <a:pt x="159" y="10660"/>
                  </a:cubicBezTo>
                  <a:lnTo>
                    <a:pt x="159" y="10660"/>
                  </a:lnTo>
                  <a:cubicBezTo>
                    <a:pt x="-1235" y="5462"/>
                    <a:pt x="6681" y="722"/>
                    <a:pt x="17841" y="73"/>
                  </a:cubicBezTo>
                  <a:cubicBezTo>
                    <a:pt x="18678" y="24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15" name="Shape"/>
            <p:cNvSpPr/>
            <p:nvPr/>
          </p:nvSpPr>
          <p:spPr>
            <a:xfrm rot="7725114">
              <a:off x="389635" y="225920"/>
              <a:ext cx="166533" cy="353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0365" y="4765"/>
                  </a:moveTo>
                  <a:cubicBezTo>
                    <a:pt x="10095" y="4765"/>
                    <a:pt x="1432" y="11982"/>
                    <a:pt x="159" y="21600"/>
                  </a:cubicBezTo>
                  <a:lnTo>
                    <a:pt x="159" y="21600"/>
                  </a:lnTo>
                  <a:cubicBezTo>
                    <a:pt x="-1235" y="11068"/>
                    <a:pt x="6681" y="1464"/>
                    <a:pt x="17841" y="148"/>
                  </a:cubicBezTo>
                  <a:cubicBezTo>
                    <a:pt x="18678" y="50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16" name="Line"/>
            <p:cNvSpPr/>
            <p:nvPr/>
          </p:nvSpPr>
          <p:spPr>
            <a:xfrm rot="7725114">
              <a:off x="248169" y="-69025"/>
              <a:ext cx="166516" cy="716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484"/>
                  </a:moveTo>
                  <a:cubicBezTo>
                    <a:pt x="0" y="13430"/>
                    <a:pt x="5563" y="16963"/>
                    <a:pt x="13970" y="18357"/>
                  </a:cubicBezTo>
                  <a:lnTo>
                    <a:pt x="13970" y="17465"/>
                  </a:lnTo>
                  <a:lnTo>
                    <a:pt x="21600" y="20144"/>
                  </a:lnTo>
                  <a:lnTo>
                    <a:pt x="13970" y="21600"/>
                  </a:lnTo>
                  <a:lnTo>
                    <a:pt x="13970" y="20708"/>
                  </a:lnTo>
                  <a:cubicBezTo>
                    <a:pt x="5563" y="19314"/>
                    <a:pt x="0" y="15781"/>
                    <a:pt x="0" y="11835"/>
                  </a:cubicBezTo>
                  <a:lnTo>
                    <a:pt x="0" y="9484"/>
                  </a:lnTo>
                  <a:cubicBezTo>
                    <a:pt x="0" y="4246"/>
                    <a:pt x="9671" y="0"/>
                    <a:pt x="21600" y="0"/>
                  </a:cubicBezTo>
                  <a:lnTo>
                    <a:pt x="21600" y="2351"/>
                  </a:lnTo>
                  <a:cubicBezTo>
                    <a:pt x="10706" y="2351"/>
                    <a:pt x="1517" y="5913"/>
                    <a:pt x="167" y="10660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  <p:grpSp>
        <p:nvGrpSpPr>
          <p:cNvPr id="1021" name="Curved Right Arrow 103"/>
          <p:cNvGrpSpPr/>
          <p:nvPr/>
        </p:nvGrpSpPr>
        <p:grpSpPr>
          <a:xfrm>
            <a:off x="4727787" y="3769967"/>
            <a:ext cx="694464" cy="523510"/>
            <a:chOff x="0" y="0"/>
            <a:chExt cx="694463" cy="523508"/>
          </a:xfrm>
        </p:grpSpPr>
        <p:sp>
          <p:nvSpPr>
            <p:cNvPr id="1018" name="Shape"/>
            <p:cNvSpPr/>
            <p:nvPr/>
          </p:nvSpPr>
          <p:spPr>
            <a:xfrm rot="18137891">
              <a:off x="263965" y="-96400"/>
              <a:ext cx="166533" cy="716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" y="9484"/>
                  </a:moveTo>
                  <a:cubicBezTo>
                    <a:pt x="2" y="13430"/>
                    <a:pt x="5247" y="16963"/>
                    <a:pt x="13172" y="18357"/>
                  </a:cubicBezTo>
                  <a:lnTo>
                    <a:pt x="13172" y="17465"/>
                  </a:lnTo>
                  <a:lnTo>
                    <a:pt x="20365" y="20144"/>
                  </a:lnTo>
                  <a:lnTo>
                    <a:pt x="13172" y="21600"/>
                  </a:lnTo>
                  <a:lnTo>
                    <a:pt x="13172" y="20708"/>
                  </a:lnTo>
                  <a:cubicBezTo>
                    <a:pt x="5247" y="19314"/>
                    <a:pt x="2" y="15781"/>
                    <a:pt x="2" y="11835"/>
                  </a:cubicBezTo>
                  <a:close/>
                  <a:moveTo>
                    <a:pt x="20365" y="2351"/>
                  </a:moveTo>
                  <a:cubicBezTo>
                    <a:pt x="10095" y="2351"/>
                    <a:pt x="1432" y="5913"/>
                    <a:pt x="159" y="10660"/>
                  </a:cubicBezTo>
                  <a:lnTo>
                    <a:pt x="159" y="10660"/>
                  </a:lnTo>
                  <a:cubicBezTo>
                    <a:pt x="-1235" y="5462"/>
                    <a:pt x="6681" y="722"/>
                    <a:pt x="17841" y="73"/>
                  </a:cubicBezTo>
                  <a:cubicBezTo>
                    <a:pt x="18678" y="24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FFF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19" name="Shape"/>
            <p:cNvSpPr/>
            <p:nvPr/>
          </p:nvSpPr>
          <p:spPr>
            <a:xfrm rot="18137891">
              <a:off x="110629" y="-11926"/>
              <a:ext cx="166533" cy="353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5" h="21600" extrusionOk="0">
                  <a:moveTo>
                    <a:pt x="20365" y="4765"/>
                  </a:moveTo>
                  <a:cubicBezTo>
                    <a:pt x="10095" y="4765"/>
                    <a:pt x="1432" y="11982"/>
                    <a:pt x="159" y="21600"/>
                  </a:cubicBezTo>
                  <a:lnTo>
                    <a:pt x="159" y="21600"/>
                  </a:lnTo>
                  <a:cubicBezTo>
                    <a:pt x="-1235" y="11068"/>
                    <a:pt x="6681" y="1464"/>
                    <a:pt x="17841" y="148"/>
                  </a:cubicBezTo>
                  <a:cubicBezTo>
                    <a:pt x="18678" y="50"/>
                    <a:pt x="19521" y="0"/>
                    <a:pt x="2036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  <p:sp>
          <p:nvSpPr>
            <p:cNvPr id="1020" name="Line"/>
            <p:cNvSpPr/>
            <p:nvPr/>
          </p:nvSpPr>
          <p:spPr>
            <a:xfrm rot="18137891">
              <a:off x="263978" y="-96408"/>
              <a:ext cx="166516" cy="716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484"/>
                  </a:moveTo>
                  <a:cubicBezTo>
                    <a:pt x="0" y="13430"/>
                    <a:pt x="5563" y="16963"/>
                    <a:pt x="13970" y="18357"/>
                  </a:cubicBezTo>
                  <a:lnTo>
                    <a:pt x="13970" y="17465"/>
                  </a:lnTo>
                  <a:lnTo>
                    <a:pt x="21600" y="20144"/>
                  </a:lnTo>
                  <a:lnTo>
                    <a:pt x="13970" y="21600"/>
                  </a:lnTo>
                  <a:lnTo>
                    <a:pt x="13970" y="20708"/>
                  </a:lnTo>
                  <a:cubicBezTo>
                    <a:pt x="5563" y="19314"/>
                    <a:pt x="0" y="15781"/>
                    <a:pt x="0" y="11835"/>
                  </a:cubicBezTo>
                  <a:lnTo>
                    <a:pt x="0" y="9484"/>
                  </a:lnTo>
                  <a:cubicBezTo>
                    <a:pt x="0" y="4246"/>
                    <a:pt x="9671" y="0"/>
                    <a:pt x="21600" y="0"/>
                  </a:cubicBezTo>
                  <a:lnTo>
                    <a:pt x="21600" y="2351"/>
                  </a:lnTo>
                  <a:cubicBezTo>
                    <a:pt x="10706" y="2351"/>
                    <a:pt x="1517" y="5913"/>
                    <a:pt x="167" y="10660"/>
                  </a:cubicBez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latin typeface="Tahoma"/>
                  <a:ea typeface="Tahoma"/>
                  <a:cs typeface="Tahoma"/>
                  <a:sym typeface="Tahoma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1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1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" grpId="1" animBg="1" advAuto="0"/>
      <p:bldP spid="919" grpId="9" build="p" bldLvl="5" animBg="1" advAuto="0"/>
      <p:bldP spid="967" grpId="2" animBg="1" advAuto="0"/>
      <p:bldP spid="975" grpId="3" animBg="1" advAuto="0"/>
      <p:bldP spid="976" grpId="5" animBg="1" advAuto="0"/>
      <p:bldP spid="990" grpId="4" animBg="1" advAuto="0"/>
      <p:bldP spid="991" grpId="6" animBg="1" advAuto="0"/>
      <p:bldP spid="992" grpId="7" animBg="1" advAuto="0"/>
      <p:bldP spid="997" grpId="8" animBg="1" advAuto="0"/>
      <p:bldP spid="1001" grpId="10" animBg="1" advAuto="0"/>
      <p:bldP spid="1005" grpId="11" animBg="1" advAuto="0"/>
      <p:bldP spid="1009" grpId="12" animBg="1" advAuto="0"/>
      <p:bldP spid="1013" grpId="13" animBg="1" advAuto="0"/>
      <p:bldP spid="1017" grpId="14" animBg="1" advAuto="0"/>
      <p:bldP spid="1021" grpId="15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Benefit and challenge: Isolation</a:t>
            </a:r>
          </a:p>
        </p:txBody>
      </p:sp>
      <p:sp>
        <p:nvSpPr>
          <p:cNvPr id="102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838200" y="4052178"/>
            <a:ext cx="9350320" cy="23622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sz="2500"/>
            </a:pPr>
            <a:r>
              <a:rPr dirty="0"/>
              <a:t>Good: Emil can't access Charlie's data</a:t>
            </a:r>
          </a:p>
          <a:p>
            <a:pPr>
              <a:lnSpc>
                <a:spcPct val="72000"/>
              </a:lnSpc>
              <a:defRPr sz="2500"/>
            </a:pPr>
            <a:r>
              <a:rPr dirty="0"/>
              <a:t>Bad: What if the load suddenly increases?</a:t>
            </a:r>
          </a:p>
          <a:p>
            <a:pPr marL="685800" lvl="1" indent="-228600">
              <a:lnSpc>
                <a:spcPct val="72000"/>
              </a:lnSpc>
              <a:spcBef>
                <a:spcPts val="500"/>
              </a:spcBef>
              <a:defRPr sz="2200"/>
            </a:pPr>
            <a:r>
              <a:rPr dirty="0"/>
              <a:t>Example: Emil's VM shares CPUs with Charlie's VM, and Charlie suddenly starts a large compute job</a:t>
            </a:r>
          </a:p>
          <a:p>
            <a:pPr marL="685800" lvl="1" indent="-228600">
              <a:lnSpc>
                <a:spcPct val="72000"/>
              </a:lnSpc>
              <a:spcBef>
                <a:spcPts val="500"/>
              </a:spcBef>
              <a:defRPr sz="2200"/>
            </a:pPr>
            <a:r>
              <a:rPr dirty="0"/>
              <a:t>Emil's performance may decrease as a result</a:t>
            </a:r>
          </a:p>
          <a:p>
            <a:pPr marL="685800" lvl="1" indent="-228600">
              <a:lnSpc>
                <a:spcPct val="72000"/>
              </a:lnSpc>
              <a:spcBef>
                <a:spcPts val="500"/>
              </a:spcBef>
              <a:defRPr sz="2200"/>
            </a:pPr>
            <a:r>
              <a:rPr dirty="0"/>
              <a:t>VMM can move Emil's software to a different CPU, or migrate it to a different machine</a:t>
            </a:r>
          </a:p>
        </p:txBody>
      </p:sp>
      <p:sp>
        <p:nvSpPr>
          <p:cNvPr id="1025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  <p:pic>
        <p:nvPicPr>
          <p:cNvPr id="1026" name="Picture 56" descr="Picture 5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41139" y="3233035"/>
            <a:ext cx="406390" cy="40643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Picture 51" descr="Picture 5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52479" y="2216759"/>
            <a:ext cx="1243152" cy="12432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38881" y="2632978"/>
            <a:ext cx="377299" cy="3772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9" name="Picture 3" descr="Pictur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7737802" y="2024327"/>
            <a:ext cx="343786" cy="343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0" name="Picture 19" descr="Picture 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27514" y="2757303"/>
            <a:ext cx="435678" cy="435678"/>
          </a:xfrm>
          <a:prstGeom prst="rect">
            <a:avLst/>
          </a:prstGeom>
          <a:ln w="12700">
            <a:miter lim="400000"/>
          </a:ln>
        </p:spPr>
      </p:pic>
      <p:sp>
        <p:nvSpPr>
          <p:cNvPr id="1031" name="TextBox 61"/>
          <p:cNvSpPr txBox="1"/>
          <p:nvPr/>
        </p:nvSpPr>
        <p:spPr>
          <a:xfrm>
            <a:off x="4252215" y="3159467"/>
            <a:ext cx="41586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Alice</a:t>
            </a:r>
          </a:p>
        </p:txBody>
      </p:sp>
      <p:pic>
        <p:nvPicPr>
          <p:cNvPr id="1032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877248" y="2277300"/>
            <a:ext cx="363246" cy="3632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3" name="Picture 63" descr="Picture 6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892580" y="2980970"/>
            <a:ext cx="347914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4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272925" y="2277300"/>
            <a:ext cx="363246" cy="3632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5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883734" y="2627572"/>
            <a:ext cx="363246" cy="3632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6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266439" y="2634058"/>
            <a:ext cx="363246" cy="3632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7" name="Picture 67" descr="Picture 6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294743" y="2980970"/>
            <a:ext cx="347914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8" name="Picture 68" descr="Picture 6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886094" y="3084754"/>
            <a:ext cx="347913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Picture 69" descr="Picture 6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288257" y="3084754"/>
            <a:ext cx="347914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0" name="Picture 70" descr="Picture 7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892580" y="3182053"/>
            <a:ext cx="347914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1" name="Picture 71" descr="Picture 7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294743" y="3182053"/>
            <a:ext cx="347914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2" name="Picture 72" descr="Picture 7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892580" y="3279350"/>
            <a:ext cx="347914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3" name="Picture 73" descr="Picture 7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294743" y="3279350"/>
            <a:ext cx="347914" cy="80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Picture 5" descr="Picture 5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flipH="1">
            <a:off x="7750774" y="3243791"/>
            <a:ext cx="395581" cy="395580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TextBox 75"/>
          <p:cNvSpPr txBox="1"/>
          <p:nvPr/>
        </p:nvSpPr>
        <p:spPr>
          <a:xfrm>
            <a:off x="7743103" y="2316220"/>
            <a:ext cx="36168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Bob</a:t>
            </a:r>
          </a:p>
        </p:txBody>
      </p:sp>
      <p:sp>
        <p:nvSpPr>
          <p:cNvPr id="1046" name="TextBox 76"/>
          <p:cNvSpPr txBox="1"/>
          <p:nvPr/>
        </p:nvSpPr>
        <p:spPr>
          <a:xfrm>
            <a:off x="7654129" y="2964871"/>
            <a:ext cx="5655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Charlie</a:t>
            </a:r>
          </a:p>
        </p:txBody>
      </p:sp>
      <p:sp>
        <p:nvSpPr>
          <p:cNvPr id="1047" name="TextBox 77"/>
          <p:cNvSpPr txBox="1"/>
          <p:nvPr/>
        </p:nvSpPr>
        <p:spPr>
          <a:xfrm>
            <a:off x="7688720" y="3587577"/>
            <a:ext cx="522348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Daniel</a:t>
            </a:r>
          </a:p>
        </p:txBody>
      </p:sp>
      <p:pic>
        <p:nvPicPr>
          <p:cNvPr id="1048" name="Picture 3" descr="Picture 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686985" y="3308656"/>
            <a:ext cx="214056" cy="21405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53" name="Group 79"/>
          <p:cNvGrpSpPr/>
          <p:nvPr/>
        </p:nvGrpSpPr>
        <p:grpSpPr>
          <a:xfrm>
            <a:off x="6940291" y="3305297"/>
            <a:ext cx="239671" cy="256335"/>
            <a:chOff x="0" y="0"/>
            <a:chExt cx="239669" cy="256333"/>
          </a:xfrm>
        </p:grpSpPr>
        <p:pic>
          <p:nvPicPr>
            <p:cNvPr id="1049" name="Picture 80" descr="Picture 80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386" y="-1"/>
              <a:ext cx="235284" cy="545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0" name="Picture 81" descr="Picture 81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0" y="70186"/>
              <a:ext cx="235284" cy="54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1" name="Picture 82" descr="Picture 82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386" y="135986"/>
              <a:ext cx="235284" cy="54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2" name="Picture 83" descr="Picture 83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4386" y="201785"/>
              <a:ext cx="235284" cy="545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054" name="Picture 84" descr="Picture 8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42221" y="2580003"/>
            <a:ext cx="717743" cy="717822"/>
          </a:xfrm>
          <a:prstGeom prst="rect">
            <a:avLst/>
          </a:prstGeom>
          <a:ln w="12700">
            <a:miter lim="400000"/>
          </a:ln>
        </p:spPr>
      </p:pic>
      <p:sp>
        <p:nvSpPr>
          <p:cNvPr id="1055" name="TextBox 85"/>
          <p:cNvSpPr txBox="1"/>
          <p:nvPr/>
        </p:nvSpPr>
        <p:spPr>
          <a:xfrm>
            <a:off x="4641166" y="3399468"/>
            <a:ext cx="124662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Physical machine</a:t>
            </a:r>
          </a:p>
        </p:txBody>
      </p:sp>
      <p:sp>
        <p:nvSpPr>
          <p:cNvPr id="1056" name="TextBox 86"/>
          <p:cNvSpPr txBox="1"/>
          <p:nvPr/>
        </p:nvSpPr>
        <p:spPr>
          <a:xfrm>
            <a:off x="6434512" y="3645956"/>
            <a:ext cx="121454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Virtual machines</a:t>
            </a:r>
          </a:p>
        </p:txBody>
      </p:sp>
      <p:grpSp>
        <p:nvGrpSpPr>
          <p:cNvPr id="1060" name="Group 87"/>
          <p:cNvGrpSpPr/>
          <p:nvPr/>
        </p:nvGrpSpPr>
        <p:grpSpPr>
          <a:xfrm>
            <a:off x="7063203" y="2763790"/>
            <a:ext cx="499009" cy="323790"/>
            <a:chOff x="0" y="0"/>
            <a:chExt cx="499008" cy="323789"/>
          </a:xfrm>
        </p:grpSpPr>
        <p:pic>
          <p:nvPicPr>
            <p:cNvPr id="1057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1" y="-1"/>
              <a:ext cx="238843" cy="2388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8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60166" y="-1"/>
              <a:ext cx="238843" cy="2388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59" name="Picture 90" descr="Picture 90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29502" y="270753"/>
              <a:ext cx="228761" cy="530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061" name="Picture 91" descr="Picture 9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54111" y="2028650"/>
            <a:ext cx="501571" cy="50162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66" name="Group 92"/>
          <p:cNvGrpSpPr/>
          <p:nvPr/>
        </p:nvGrpSpPr>
        <p:grpSpPr>
          <a:xfrm>
            <a:off x="6732390" y="2128110"/>
            <a:ext cx="537572" cy="252975"/>
            <a:chOff x="0" y="0"/>
            <a:chExt cx="537571" cy="252973"/>
          </a:xfrm>
        </p:grpSpPr>
        <p:pic>
          <p:nvPicPr>
            <p:cNvPr id="1062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1" y="0"/>
              <a:ext cx="252976" cy="2529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63" name="Picture 94" descr="Picture 94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295274" y="29282"/>
              <a:ext cx="242298" cy="56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64" name="Picture 95" descr="Picture 95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290756" y="101560"/>
              <a:ext cx="242298" cy="56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65" name="Picture 96" descr="Picture 96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295274" y="169321"/>
              <a:ext cx="242298" cy="56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67" name="TextBox 97"/>
          <p:cNvSpPr txBox="1"/>
          <p:nvPr/>
        </p:nvSpPr>
        <p:spPr>
          <a:xfrm>
            <a:off x="6028297" y="2562706"/>
            <a:ext cx="548046" cy="342266"/>
          </a:xfrm>
          <a:prstGeom prst="rect">
            <a:avLst/>
          </a:prstGeom>
          <a:solidFill>
            <a:srgbClr val="00B0F0"/>
          </a:solidFill>
          <a:ln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6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VMM</a:t>
            </a:r>
          </a:p>
        </p:txBody>
      </p:sp>
      <p:sp>
        <p:nvSpPr>
          <p:cNvPr id="1068" name="Straight Arrow Connector 98"/>
          <p:cNvSpPr/>
          <p:nvPr/>
        </p:nvSpPr>
        <p:spPr>
          <a:xfrm flipV="1">
            <a:off x="5681574" y="2731984"/>
            <a:ext cx="308801" cy="122619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9" name="Straight Arrow Connector 99"/>
          <p:cNvSpPr/>
          <p:nvPr/>
        </p:nvSpPr>
        <p:spPr>
          <a:xfrm flipV="1">
            <a:off x="6628607" y="2452435"/>
            <a:ext cx="285408" cy="278921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0" name="Straight Arrow Connector 100"/>
          <p:cNvSpPr/>
          <p:nvPr/>
        </p:nvSpPr>
        <p:spPr>
          <a:xfrm>
            <a:off x="6614265" y="2731984"/>
            <a:ext cx="422993" cy="13559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1" name="Straight Arrow Connector 101"/>
          <p:cNvSpPr/>
          <p:nvPr/>
        </p:nvSpPr>
        <p:spPr>
          <a:xfrm>
            <a:off x="6633883" y="2868705"/>
            <a:ext cx="310453" cy="36433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2" name="TextBox 103"/>
          <p:cNvSpPr txBox="1"/>
          <p:nvPr/>
        </p:nvSpPr>
        <p:spPr>
          <a:xfrm>
            <a:off x="7717257" y="1777838"/>
            <a:ext cx="38743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2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Emil</a:t>
            </a:r>
          </a:p>
        </p:txBody>
      </p:sp>
      <p:grpSp>
        <p:nvGrpSpPr>
          <p:cNvPr id="1080" name="Group 104"/>
          <p:cNvGrpSpPr/>
          <p:nvPr/>
        </p:nvGrpSpPr>
        <p:grpSpPr>
          <a:xfrm>
            <a:off x="7071951" y="1282700"/>
            <a:ext cx="717743" cy="717822"/>
            <a:chOff x="0" y="0"/>
            <a:chExt cx="717741" cy="717821"/>
          </a:xfrm>
        </p:grpSpPr>
        <p:pic>
          <p:nvPicPr>
            <p:cNvPr id="1073" name="Picture 105" descr="Picture 10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717742" cy="71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74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95035" y="60541"/>
              <a:ext cx="252975" cy="2529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75" name="Picture 107" descr="Picture 10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77336" y="388203"/>
              <a:ext cx="242298" cy="56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76" name="Picture 108" descr="Picture 108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93898" y="479941"/>
              <a:ext cx="242298" cy="56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77" name="Picture 109" descr="Picture 109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91929" y="392026"/>
              <a:ext cx="242298" cy="56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78" name="Picture 110" descr="Picture 110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83822" y="472528"/>
              <a:ext cx="242298" cy="56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79" name="Picture 3" descr="Picture 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73955" y="60541"/>
              <a:ext cx="252976" cy="2529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81" name="Freeform 112"/>
          <p:cNvSpPr/>
          <p:nvPr/>
        </p:nvSpPr>
        <p:spPr>
          <a:xfrm>
            <a:off x="6472930" y="1641622"/>
            <a:ext cx="700545" cy="9210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200" y="5932"/>
                </a:lnTo>
                <a:lnTo>
                  <a:pt x="21600" y="0"/>
                </a:lnTo>
              </a:path>
            </a:pathLst>
          </a:custGeom>
          <a:ln w="19050">
            <a:solidFill>
              <a:srgbClr val="000000"/>
            </a:solidFill>
            <a:tailEnd type="triangle"/>
          </a:ln>
        </p:spPr>
        <p:txBody>
          <a:bodyPr lIns="45719" rIns="45719" anchor="ctr"/>
          <a:lstStyle/>
          <a:p>
            <a:pPr>
              <a:defRPr>
                <a:latin typeface="Tahoma"/>
                <a:ea typeface="Tahoma"/>
                <a:cs typeface="Tahoma"/>
                <a:sym typeface="Tahoma"/>
              </a:defRPr>
            </a:pPr>
            <a:endParaRPr/>
          </a:p>
        </p:txBody>
      </p:sp>
      <p:grpSp>
        <p:nvGrpSpPr>
          <p:cNvPr id="1084" name="Group 117"/>
          <p:cNvGrpSpPr/>
          <p:nvPr/>
        </p:nvGrpSpPr>
        <p:grpSpPr>
          <a:xfrm>
            <a:off x="7773520" y="1416423"/>
            <a:ext cx="278421" cy="384829"/>
            <a:chOff x="0" y="0"/>
            <a:chExt cx="278419" cy="384827"/>
          </a:xfrm>
        </p:grpSpPr>
        <p:pic>
          <p:nvPicPr>
            <p:cNvPr id="1082" name="Picture 3" descr="Picture 3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77684" y="0"/>
              <a:ext cx="181190" cy="157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83" name="Picture 19" descr="Picture 19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 flipH="1">
              <a:off x="0" y="106408"/>
              <a:ext cx="278420" cy="2784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" grpId="1" build="p" bldLvl="5" animBg="1" advAuto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Title 1"/>
          <p:cNvSpPr txBox="1">
            <a:spLocks noGrp="1"/>
          </p:cNvSpPr>
          <p:nvPr>
            <p:ph type="title"/>
          </p:nvPr>
        </p:nvSpPr>
        <p:spPr>
          <a:xfrm>
            <a:off x="958788" y="329899"/>
            <a:ext cx="8827561" cy="1280892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r>
              <a:rPr dirty="0"/>
              <a:t>Recap: Virtualization in the cloud</a:t>
            </a:r>
          </a:p>
        </p:txBody>
      </p:sp>
      <p:sp>
        <p:nvSpPr>
          <p:cNvPr id="108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958788" y="1543050"/>
            <a:ext cx="9328212" cy="46482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rPr dirty="0"/>
              <a:t>Gives cloud provider a lot of flexibility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Can produce VMs with different capabilities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Can migrate VMs if necessary (e.g., for maintenance)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Can increase load by overcommitting resources</a:t>
            </a:r>
            <a:endParaRPr sz="1000" dirty="0"/>
          </a:p>
          <a:p>
            <a:pPr>
              <a:lnSpc>
                <a:spcPct val="81000"/>
              </a:lnSpc>
              <a:defRPr sz="2500"/>
            </a:pPr>
            <a:r>
              <a:rPr dirty="0"/>
              <a:t>Provides security and isolation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Programs in one VM cannot influence programs in another</a:t>
            </a:r>
            <a:endParaRPr sz="1000" dirty="0"/>
          </a:p>
          <a:p>
            <a:pPr>
              <a:lnSpc>
                <a:spcPct val="81000"/>
              </a:lnSpc>
              <a:defRPr sz="2500"/>
            </a:pPr>
            <a:r>
              <a:rPr dirty="0"/>
              <a:t>Convenient for users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Complete control over the virtual 'hardware' (can install own operating system own applications, ...)</a:t>
            </a:r>
            <a:endParaRPr sz="1000" dirty="0"/>
          </a:p>
          <a:p>
            <a:pPr>
              <a:lnSpc>
                <a:spcPct val="81000"/>
              </a:lnSpc>
              <a:defRPr sz="2500"/>
            </a:pPr>
            <a:r>
              <a:rPr dirty="0"/>
              <a:t>But: Performance may be hard to predict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Load changes in other VMs on the same physical machine may affect the performance seen by the customer</a:t>
            </a:r>
          </a:p>
        </p:txBody>
      </p:sp>
      <p:sp>
        <p:nvSpPr>
          <p:cNvPr id="1088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Title 1"/>
          <p:cNvSpPr txBox="1">
            <a:spLocks noGrp="1"/>
          </p:cNvSpPr>
          <p:nvPr>
            <p:ph type="title"/>
          </p:nvPr>
        </p:nvSpPr>
        <p:spPr>
          <a:xfrm>
            <a:off x="567670" y="169818"/>
            <a:ext cx="10515600" cy="66288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10 obstacles and opportunities</a:t>
            </a:r>
          </a:p>
        </p:txBody>
      </p:sp>
      <p:sp>
        <p:nvSpPr>
          <p:cNvPr id="109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567670" y="1758631"/>
            <a:ext cx="5259061" cy="453231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buFontTx/>
              <a:buAutoNum type="arabicPeriod"/>
              <a:defRPr sz="2500"/>
            </a:pPr>
            <a:r>
              <a:rPr dirty="0"/>
              <a:t>Availability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What happens to my business if</a:t>
            </a:r>
            <a:br>
              <a:rPr dirty="0"/>
            </a:br>
            <a:r>
              <a:rPr dirty="0"/>
              <a:t>there is an outage in the cloud?</a:t>
            </a:r>
            <a:br>
              <a:rPr dirty="0"/>
            </a:br>
            <a:endParaRPr dirty="0"/>
          </a:p>
          <a:p>
            <a:pPr>
              <a:lnSpc>
                <a:spcPct val="81000"/>
              </a:lnSpc>
              <a:buFontTx/>
              <a:buAutoNum type="arabicPeriod"/>
              <a:defRPr sz="2500"/>
            </a:pPr>
            <a:r>
              <a:rPr dirty="0"/>
              <a:t>Data lock-in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How do I move my data from</a:t>
            </a:r>
            <a:br>
              <a:rPr dirty="0"/>
            </a:br>
            <a:r>
              <a:rPr dirty="0"/>
              <a:t>one cloud to another?</a:t>
            </a:r>
            <a:br>
              <a:rPr dirty="0"/>
            </a:br>
            <a:endParaRPr dirty="0"/>
          </a:p>
          <a:p>
            <a:pPr>
              <a:lnSpc>
                <a:spcPct val="81000"/>
              </a:lnSpc>
              <a:buFontTx/>
              <a:buAutoNum type="arabicPeriod"/>
              <a:defRPr sz="2500"/>
            </a:pPr>
            <a:r>
              <a:rPr dirty="0"/>
              <a:t>Data confidentiality and auditability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How do I make sure that the cloud doesn't leak my confidential data? 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200"/>
            </a:pPr>
            <a:r>
              <a:rPr dirty="0"/>
              <a:t>Can I comply with regulations like HIPAA and Sarbanes/Oxley?</a:t>
            </a:r>
          </a:p>
        </p:txBody>
      </p:sp>
      <p:sp>
        <p:nvSpPr>
          <p:cNvPr id="109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8D4484-C7F2-044A-BA2C-B9E0B1B069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357" y="832698"/>
            <a:ext cx="6730643" cy="298930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0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0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" grpId="3" build="p" bldLvl="5" animBg="1" advAuto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10 obstacles and opportunities</a:t>
            </a:r>
          </a:p>
        </p:txBody>
      </p:sp>
      <p:sp>
        <p:nvSpPr>
          <p:cNvPr id="110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658938"/>
            <a:ext cx="9448800" cy="47513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buFontTx/>
              <a:buAutoNum type="arabicPeriod" startAt="4"/>
            </a:pPr>
            <a:r>
              <a:rPr dirty="0"/>
              <a:t>Data transfer bottlenecks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How do I copy large amounts of </a:t>
            </a:r>
            <a:br>
              <a:rPr dirty="0"/>
            </a:br>
            <a:r>
              <a:rPr dirty="0"/>
              <a:t>data from/to the cloud?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Example: 10 TB from UC Berkeley</a:t>
            </a:r>
            <a:br>
              <a:rPr dirty="0"/>
            </a:br>
            <a:r>
              <a:rPr dirty="0"/>
              <a:t>to Amazon in Seattle, WA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Motivated Import/Export </a:t>
            </a:r>
            <a:br>
              <a:rPr dirty="0"/>
            </a:br>
            <a:r>
              <a:rPr dirty="0"/>
              <a:t>feature on AWS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buFontTx/>
              <a:buAutoNum type="arabicPeriod"/>
              <a:defRPr sz="2400"/>
            </a:pPr>
            <a:endParaRPr dirty="0"/>
          </a:p>
          <a:p>
            <a:pPr>
              <a:lnSpc>
                <a:spcPct val="81000"/>
              </a:lnSpc>
              <a:buFontTx/>
              <a:buAutoNum type="arabicPeriod" startAt="4"/>
            </a:pPr>
            <a:r>
              <a:rPr dirty="0"/>
              <a:t>Performance unpredictability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Example: VMs sharing the same</a:t>
            </a:r>
            <a:br>
              <a:rPr dirty="0"/>
            </a:br>
            <a:r>
              <a:rPr dirty="0"/>
              <a:t>disk </a:t>
            </a:r>
            <a:r>
              <a:rPr dirty="0">
                <a:latin typeface="Symbol"/>
                <a:ea typeface="Symbol"/>
                <a:cs typeface="Symbol"/>
                <a:sym typeface="Symbol"/>
              </a:rPr>
              <a:t>® </a:t>
            </a:r>
            <a:r>
              <a:rPr dirty="0"/>
              <a:t>I/O interference</a:t>
            </a:r>
          </a:p>
          <a:p>
            <a:pPr marL="685800" lvl="1" indent="-228600">
              <a:lnSpc>
                <a:spcPct val="81000"/>
              </a:lnSpc>
              <a:spcBef>
                <a:spcPts val="500"/>
              </a:spcBef>
              <a:defRPr sz="2400"/>
            </a:pPr>
            <a:r>
              <a:rPr dirty="0"/>
              <a:t>Example: HPC tasks that require</a:t>
            </a:r>
            <a:br>
              <a:rPr dirty="0"/>
            </a:br>
            <a:r>
              <a:rPr dirty="0"/>
              <a:t>coordinated scheduling</a:t>
            </a:r>
          </a:p>
        </p:txBody>
      </p:sp>
      <p:sp>
        <p:nvSpPr>
          <p:cNvPr id="110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  <p:graphicFrame>
        <p:nvGraphicFramePr>
          <p:cNvPr id="1103" name="Table 5"/>
          <p:cNvGraphicFramePr/>
          <p:nvPr/>
        </p:nvGraphicFramePr>
        <p:xfrm>
          <a:off x="6761019" y="1778000"/>
          <a:ext cx="3659331" cy="91440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088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sym typeface="Calibri"/>
                        </a:rPr>
                        <a:t>Method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sym typeface="Calibri"/>
                        </a:rPr>
                        <a:t>Time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Internet (20Mbps)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400"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FedEx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400"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04" name="TextBox 6"/>
          <p:cNvSpPr txBox="1"/>
          <p:nvPr/>
        </p:nvSpPr>
        <p:spPr>
          <a:xfrm>
            <a:off x="7332565" y="2745146"/>
            <a:ext cx="240694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Time to transfer 10TB [AF10]</a:t>
            </a:r>
          </a:p>
        </p:txBody>
      </p:sp>
      <p:graphicFrame>
        <p:nvGraphicFramePr>
          <p:cNvPr id="1105" name="Table 8"/>
          <p:cNvGraphicFramePr/>
          <p:nvPr/>
        </p:nvGraphicFramePr>
        <p:xfrm>
          <a:off x="6761019" y="3586441"/>
          <a:ext cx="3770955" cy="1341120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367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85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sym typeface="Calibri"/>
                        </a:rPr>
                        <a:t>Primitive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sym typeface="Calibri"/>
                        </a:rPr>
                        <a:t>Mean perf.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sym typeface="Calibri"/>
                        </a:rPr>
                        <a:t>Std dev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Memory bandwidth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1.3GB/s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0.05GB/s (4%)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Disk  bandwidth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55MB/s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sz="1400">
                          <a:sym typeface="Calibri"/>
                        </a:rPr>
                        <a:t>9MB/s (16%)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06" name="TextBox 9"/>
          <p:cNvSpPr txBox="1"/>
          <p:nvPr/>
        </p:nvSpPr>
        <p:spPr>
          <a:xfrm>
            <a:off x="7335898" y="5011499"/>
            <a:ext cx="268779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pPr>
            <a:r>
              <a:t>Performance of 75 EC2 instances</a:t>
            </a:r>
            <a:br/>
            <a:r>
              <a:t>in benchmarks</a:t>
            </a:r>
          </a:p>
        </p:txBody>
      </p:sp>
      <p:sp>
        <p:nvSpPr>
          <p:cNvPr id="1107" name="TextBox 10"/>
          <p:cNvSpPr txBox="1"/>
          <p:nvPr/>
        </p:nvSpPr>
        <p:spPr>
          <a:xfrm>
            <a:off x="9203037" y="2088779"/>
            <a:ext cx="71211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45 days</a:t>
            </a:r>
          </a:p>
        </p:txBody>
      </p:sp>
      <p:sp>
        <p:nvSpPr>
          <p:cNvPr id="1108" name="TextBox 11"/>
          <p:cNvSpPr txBox="1"/>
          <p:nvPr/>
        </p:nvSpPr>
        <p:spPr>
          <a:xfrm>
            <a:off x="9210558" y="2384614"/>
            <a:ext cx="53570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300"/>
              </a:spcBef>
              <a:defRPr sz="14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1 day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" grpId="2" build="p" bldLvl="5" animBg="1" advAuto="0"/>
      <p:bldP spid="1103" grpId="1" animBg="1" advAuto="0"/>
      <p:bldP spid="1104" grpId="3" animBg="1" advAuto="0"/>
      <p:bldP spid="1105" grpId="6" animBg="1" advAuto="0"/>
      <p:bldP spid="1106" grpId="7" animBg="1" advAuto="0"/>
      <p:bldP spid="1107" grpId="5" animBg="1" advAuto="0"/>
      <p:bldP spid="1108" grpId="4" animBg="1" advAuto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10 obstacles and opportunities</a:t>
            </a:r>
          </a:p>
        </p:txBody>
      </p:sp>
      <p:sp>
        <p:nvSpPr>
          <p:cNvPr id="111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buFontTx/>
              <a:buAutoNum type="arabicPeriod" startAt="6"/>
            </a:pPr>
            <a:r>
              <a:t>Scalable storage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t>Cloud model (short-term usage, no up-front cost, infinite capacity on demand) does not fit persistent storage well</a:t>
            </a:r>
          </a:p>
          <a:p>
            <a:pPr>
              <a:buFontTx/>
              <a:buAutoNum type="arabicPeriod" startAt="6"/>
            </a:pPr>
            <a:r>
              <a:t>Bugs in large distributed systems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t>Many errors cannot be reproduced in smaller configs</a:t>
            </a:r>
          </a:p>
          <a:p>
            <a:pPr>
              <a:buFontTx/>
              <a:buAutoNum type="arabicPeriod" startAt="6"/>
            </a:pPr>
            <a:r>
              <a:t>Scaling quickly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t>Problem: Boot time; idle power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t>Fine-grain accounting?</a:t>
            </a:r>
          </a:p>
        </p:txBody>
      </p:sp>
      <p:sp>
        <p:nvSpPr>
          <p:cNvPr id="111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10 obstacles and opportunities</a:t>
            </a:r>
          </a:p>
        </p:txBody>
      </p:sp>
      <p:sp>
        <p:nvSpPr>
          <p:cNvPr id="111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514350" indent="-514350">
              <a:buFontTx/>
              <a:buAutoNum type="arabicPeriod" startAt="9"/>
            </a:pPr>
            <a:r>
              <a:rPr dirty="0"/>
              <a:t>Reputation fate sharing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rPr dirty="0"/>
              <a:t>One customer's bad behavior can affect the reputation of others using the same cloud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rPr dirty="0"/>
              <a:t>Example: Spam blacklisting, FBI raid after criminal activity</a:t>
            </a:r>
          </a:p>
          <a:p>
            <a:pPr>
              <a:buFontTx/>
              <a:buAutoNum type="arabicPeriod" startAt="9"/>
            </a:pPr>
            <a:r>
              <a:rPr lang="en-AU"/>
              <a:t> </a:t>
            </a:r>
            <a:r>
              <a:t>Software licensing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rPr dirty="0"/>
              <a:t>What if licenses are for specific computers?</a:t>
            </a:r>
          </a:p>
          <a:p>
            <a:pPr marL="1314450" lvl="2" indent="-228600">
              <a:spcBef>
                <a:spcPts val="500"/>
              </a:spcBef>
              <a:defRPr sz="2000"/>
            </a:pPr>
            <a:r>
              <a:rPr dirty="0"/>
              <a:t>Example: Microsoft Windows</a:t>
            </a:r>
          </a:p>
          <a:p>
            <a:pPr marL="914400" lvl="1" indent="-228600">
              <a:spcBef>
                <a:spcPts val="500"/>
              </a:spcBef>
              <a:defRPr sz="2400"/>
            </a:pPr>
            <a:r>
              <a:rPr dirty="0"/>
              <a:t>How to scale number of licenses up/down?</a:t>
            </a:r>
          </a:p>
          <a:p>
            <a:pPr marL="1314450" lvl="2" indent="-228600">
              <a:spcBef>
                <a:spcPts val="500"/>
              </a:spcBef>
              <a:defRPr sz="2000"/>
            </a:pPr>
            <a:r>
              <a:rPr dirty="0"/>
              <a:t>Need pay-as-you-go model as well</a:t>
            </a:r>
          </a:p>
        </p:txBody>
      </p:sp>
      <p:sp>
        <p:nvSpPr>
          <p:cNvPr id="111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083270" y="6404292"/>
            <a:ext cx="270531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414141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2785</Words>
  <Application>Microsoft Office PowerPoint</Application>
  <PresentationFormat>Widescreen</PresentationFormat>
  <Paragraphs>654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Calibri Light</vt:lpstr>
      <vt:lpstr>Symbol</vt:lpstr>
      <vt:lpstr>Tahoma</vt:lpstr>
      <vt:lpstr>Times New Roman</vt:lpstr>
      <vt:lpstr>Office Theme</vt:lpstr>
      <vt:lpstr>What is Cloud Computing?</vt:lpstr>
      <vt:lpstr>Intro to Cloud Computing: Agenda</vt:lpstr>
      <vt:lpstr>How many users and objects?</vt:lpstr>
      <vt:lpstr>How much data?</vt:lpstr>
      <vt:lpstr>How much computation?</vt:lpstr>
      <vt:lpstr>Why should I care?</vt:lpstr>
      <vt:lpstr>Intro to Cloud Computing: Agenda</vt:lpstr>
      <vt:lpstr>Scaling up</vt:lpstr>
      <vt:lpstr>Clusters</vt:lpstr>
      <vt:lpstr>Power and cooling</vt:lpstr>
      <vt:lpstr>Scaling up</vt:lpstr>
      <vt:lpstr>What does a data center look like?</vt:lpstr>
      <vt:lpstr>What's in a data center?</vt:lpstr>
      <vt:lpstr>What's in a data center?</vt:lpstr>
      <vt:lpstr>What's in a data center?</vt:lpstr>
      <vt:lpstr>What's in a data center?</vt:lpstr>
      <vt:lpstr>Energy matters!</vt:lpstr>
      <vt:lpstr>Energy matters!</vt:lpstr>
      <vt:lpstr>Scaling up</vt:lpstr>
      <vt:lpstr>Global distribution</vt:lpstr>
      <vt:lpstr>Trend: Modular data center</vt:lpstr>
      <vt:lpstr>Plan for today</vt:lpstr>
      <vt:lpstr>Problem #1: Difficult to dimension</vt:lpstr>
      <vt:lpstr>Problem #2: Expensive</vt:lpstr>
      <vt:lpstr>Problem #3: Difficult to scale </vt:lpstr>
      <vt:lpstr>Recap: Computing at scale</vt:lpstr>
      <vt:lpstr>Plan for today</vt:lpstr>
      <vt:lpstr>The power plant analogy</vt:lpstr>
      <vt:lpstr>Scaling the power plant</vt:lpstr>
      <vt:lpstr>Metered usage model</vt:lpstr>
      <vt:lpstr>Why is this a good thing?</vt:lpstr>
      <vt:lpstr>What is cloud computing?</vt:lpstr>
      <vt:lpstr>What is cloud computing?</vt:lpstr>
      <vt:lpstr>So what is it, really?</vt:lpstr>
      <vt:lpstr>Other terms you may have heard</vt:lpstr>
      <vt:lpstr>Plan for today</vt:lpstr>
      <vt:lpstr>Everything as a Service</vt:lpstr>
      <vt:lpstr>Software as a Service (SaaS)</vt:lpstr>
      <vt:lpstr>Platform as a Service (PaaS)</vt:lpstr>
      <vt:lpstr>Infrastructure as a Service (IaaS)</vt:lpstr>
      <vt:lpstr>Private/hybrid/community clouds</vt:lpstr>
      <vt:lpstr>Plan for today</vt:lpstr>
      <vt:lpstr>Examples of cloud applications</vt:lpstr>
      <vt:lpstr>Case study: </vt:lpstr>
      <vt:lpstr>Case study:</vt:lpstr>
      <vt:lpstr>Other examples</vt:lpstr>
      <vt:lpstr>Recap: Utility/cloud computing</vt:lpstr>
      <vt:lpstr>Is the cloud good for everything?</vt:lpstr>
      <vt:lpstr>Recap: Cloud applications</vt:lpstr>
      <vt:lpstr>What is virtualization?</vt:lpstr>
      <vt:lpstr>What is virtualization?</vt:lpstr>
      <vt:lpstr>How does it work?</vt:lpstr>
      <vt:lpstr>Benefit: Migration</vt:lpstr>
      <vt:lpstr>Benefit: Time sharing</vt:lpstr>
      <vt:lpstr>Benefit and challenge: Isolation</vt:lpstr>
      <vt:lpstr>Recap: Virtualization in the cloud</vt:lpstr>
      <vt:lpstr>10 obstacles and opportunities</vt:lpstr>
      <vt:lpstr>10 obstacles and opportunities</vt:lpstr>
      <vt:lpstr>10 obstacles and opportunities</vt:lpstr>
      <vt:lpstr>10 obstacles and opportunities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Cloud Computing?</dc:title>
  <cp:lastModifiedBy>PDS</cp:lastModifiedBy>
  <cp:revision>7</cp:revision>
  <dcterms:modified xsi:type="dcterms:W3CDTF">2026-10-13T07:52:22Z</dcterms:modified>
</cp:coreProperties>
</file>