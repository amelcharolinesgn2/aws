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9144000" cy="5143500" type="screen16x9"/>
  <p:notesSz cx="6858000" cy="9144000"/>
  <p:embeddedFontLst>
    <p:embeddedFont>
      <p:font typeface="Open Sans" panose="020B0604020202020204" charset="0"/>
      <p:regular r:id="rId20"/>
      <p:bold r:id="rId21"/>
      <p:italic r:id="rId22"/>
      <p:boldItalic r:id="rId23"/>
    </p:embeddedFont>
    <p:embeddedFont>
      <p:font typeface="맑은 고딕" panose="020B0503020000020004" pitchFamily="34" charset="-127"/>
      <p:regular r:id="rId24"/>
      <p:bold r:id="rId25"/>
    </p:embeddedFont>
    <p:embeddedFont>
      <p:font typeface="PT Sans Narrow" panose="020B060402020202020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654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Lab Session 01: AWS Compute Foundations – EC2, Networking, and Application Deployment	Lab Session 02: Identity and Access Control with IAM	Lab Session 03: Cloud Storage Solutions – S3, EBS, and EFS	Lab Session 04: Database Services – RDS, </a:t>
            </a:r>
            <a:r>
              <a:rPr lang="en-US" dirty="0" err="1" smtClean="0"/>
              <a:t>DynamoDB</a:t>
            </a:r>
            <a:r>
              <a:rPr lang="en-US" dirty="0" smtClean="0"/>
              <a:t>, and </a:t>
            </a:r>
            <a:r>
              <a:rPr lang="en-US" dirty="0" err="1" smtClean="0"/>
              <a:t>ElastiCache</a:t>
            </a:r>
            <a:r>
              <a:rPr lang="en-US" dirty="0" smtClean="0"/>
              <a:t>	Lab Session 05: Load Balancing and Auto Scaling	Lab Session 06: Container Orchestration with ECS, </a:t>
            </a:r>
            <a:r>
              <a:rPr lang="en-US" dirty="0" err="1" smtClean="0"/>
              <a:t>Fargate</a:t>
            </a:r>
            <a:r>
              <a:rPr lang="en-US" dirty="0" smtClean="0"/>
              <a:t>, and EKS	Lab Session 07: </a:t>
            </a:r>
            <a:r>
              <a:rPr lang="en-US" dirty="0" err="1" smtClean="0"/>
              <a:t>Serverless</a:t>
            </a:r>
            <a:r>
              <a:rPr lang="en-US" dirty="0" smtClean="0"/>
              <a:t> Computing with Lambda	Lab Session 08: Monitoring, Logging, and Security Auditing	Lab Session 09: Infrastructure as Code – </a:t>
            </a:r>
            <a:r>
              <a:rPr lang="en-US" dirty="0" err="1" smtClean="0"/>
              <a:t>CloudFormation</a:t>
            </a:r>
            <a:r>
              <a:rPr lang="en-US" dirty="0" smtClean="0"/>
              <a:t>, CDK, and Terraform	Lab Session 10: CI/CD Pipelines – App Runner, </a:t>
            </a:r>
            <a:r>
              <a:rPr lang="en-US" dirty="0" err="1" smtClean="0"/>
              <a:t>CodePipeline</a:t>
            </a:r>
            <a:r>
              <a:rPr lang="en-US" dirty="0" smtClean="0"/>
              <a:t>, GitHub Actions, and </a:t>
            </a:r>
            <a:r>
              <a:rPr lang="en-US" dirty="0" err="1" smtClean="0"/>
              <a:t>CodeDeploy</a:t>
            </a:r>
            <a:r>
              <a:rPr lang="en-US" dirty="0" smtClean="0"/>
              <a:t>	Lab Session 11: AI/ML Services – </a:t>
            </a:r>
            <a:r>
              <a:rPr lang="en-US" dirty="0" err="1" smtClean="0"/>
              <a:t>Rekognition</a:t>
            </a:r>
            <a:r>
              <a:rPr lang="en-US" dirty="0" smtClean="0"/>
              <a:t>, Comprehend, Translate, and </a:t>
            </a:r>
            <a:r>
              <a:rPr lang="en-US" dirty="0" err="1" smtClean="0"/>
              <a:t>SageMaker</a:t>
            </a:r>
            <a:r>
              <a:rPr lang="en-US" dirty="0" smtClean="0"/>
              <a:t>	Lab Session 12: Hybrid Cloud Networking – VPC Peering, Transit Gateway, VPN, and Direct Connect	Lab Session 13: Security and Compliance – AWS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GuardDuty</a:t>
            </a:r>
            <a:r>
              <a:rPr lang="en-US" dirty="0" smtClean="0"/>
              <a:t>, Security Hub, and KMS	Lab Session 14: Disaster Recovery and Business Continuity – AWS Backup, Multi-Region, and Failover	Lab Session 15: Migration and Modernization – </a:t>
            </a:r>
            <a:r>
              <a:rPr lang="en-US" dirty="0" err="1" smtClean="0"/>
              <a:t>DataSync</a:t>
            </a:r>
            <a:r>
              <a:rPr lang="en-US" dirty="0" smtClean="0"/>
              <a:t>, DMS, MGN, Containers, and </a:t>
            </a:r>
            <a:r>
              <a:rPr lang="en-US" dirty="0" err="1" smtClean="0"/>
              <a:t>Serverless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/>
              <a:t>Lab Session 16: Cost Management and Optimization – Cost Explorer, Trusted Advisor, Budgets, and Well-Architected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https://www.youtube.com/watch?v=SOTamWNgDKc&amp;t=19604s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932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6a37f7e2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6a37f7e2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226a37f7e2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226a37f7e2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26a37f7e2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226a37f7e2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26a37f7e2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226a37f7e2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226a37f7e2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226a37f7e2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226a37f7e2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226a37f7e2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26a37f7e2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226a37f7e2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26a37f7e2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226a37f7e2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26a37f7e2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226a37f7e2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26a37f7e2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226a37f7e2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26a37f7e2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26a37f7e2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226a37f7e2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226a37f7e2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226a37f7e2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226a37f7e2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226a37f7e2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226a37f7e2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833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elcharolinesgn2/AW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  <a:endParaRPr lang="en-US" sz="3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32" name="Rectangle 31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33" name="Rectangle 32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8"/>
              </a:rPr>
              <a:t>https://</a:t>
            </a:r>
            <a:r>
              <a:rPr lang="en-US" sz="600" dirty="0">
                <a:hlinkClick r:id="rId8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  <p:sp>
        <p:nvSpPr>
          <p:cNvPr id="24" name="Google Shape;66;p13"/>
          <p:cNvSpPr txBox="1">
            <a:spLocks/>
          </p:cNvSpPr>
          <p:nvPr/>
        </p:nvSpPr>
        <p:spPr>
          <a:xfrm>
            <a:off x="1260707" y="2044358"/>
            <a:ext cx="7136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/>
            <a:r>
              <a:rPr lang="en-GB" dirty="0"/>
              <a:t>Amazon SQS &amp; SNS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20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Amazon SQS &amp; SNS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Reliable Messaging and Notifications for Modern Applications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Amazon SQS (Simple Queue Service)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609700" cy="3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What is Amazon SQS?</a:t>
            </a:r>
            <a:endParaRPr b="1"/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Fully managed </a:t>
            </a:r>
            <a:r>
              <a:rPr lang="en-GB" b="1"/>
              <a:t>message queuing service</a:t>
            </a:r>
            <a:r>
              <a:rPr lang="en-GB"/>
              <a:t>.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Decouples*  and scales microservices and serverless applications.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Why Use SQS?</a:t>
            </a:r>
            <a:endParaRPr b="1"/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Reliable, scalable, and cost-effective </a:t>
            </a:r>
            <a:r>
              <a:rPr lang="en-GB" b="1"/>
              <a:t>message delivery</a:t>
            </a:r>
            <a:r>
              <a:rPr lang="en-GB"/>
              <a:t>.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Handles </a:t>
            </a:r>
            <a:r>
              <a:rPr lang="en-GB" b="1"/>
              <a:t>large workloads</a:t>
            </a:r>
            <a:r>
              <a:rPr lang="en-GB"/>
              <a:t> and </a:t>
            </a:r>
            <a:r>
              <a:rPr lang="en-GB" b="1"/>
              <a:t>asynchronous communication</a:t>
            </a:r>
            <a:r>
              <a:rPr lang="en-GB"/>
              <a:t>.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67"/>
              <a:t>*Services don’t need to directly talk to each other. One sends a message to the queue, and the other picks it up when ready</a:t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1750" y="1065700"/>
            <a:ext cx="2509850" cy="28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Features of SQS</a:t>
            </a:r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Fully managed and serverless.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Two queue types: </a:t>
            </a:r>
            <a:r>
              <a:rPr lang="en-GB" b="1"/>
              <a:t>Standard</a:t>
            </a:r>
            <a:r>
              <a:rPr lang="en-GB"/>
              <a:t> (high throughput) and </a:t>
            </a:r>
            <a:r>
              <a:rPr lang="en-GB" b="1"/>
              <a:t>FIFO</a:t>
            </a:r>
            <a:r>
              <a:rPr lang="en-GB"/>
              <a:t> (strict order).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Secure with </a:t>
            </a:r>
            <a:r>
              <a:rPr lang="en-GB" b="1"/>
              <a:t>AWS KMS</a:t>
            </a:r>
            <a:r>
              <a:rPr lang="en-GB"/>
              <a:t> encryption.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Supports message retention from 1 minute to 14 days.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Queues</a:t>
            </a:r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Standard Queue: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High throughput.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At-least-once delivery (potential duplication).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Best-effort ordering (not strict).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FIFO Queue: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Limited throughput.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Exactly-once delivery.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Strict message order.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SQS Works</a:t>
            </a:r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Message </a:t>
            </a:r>
            <a:r>
              <a:rPr lang="en-GB" b="1"/>
              <a:t>Producers send messages</a:t>
            </a:r>
            <a:r>
              <a:rPr lang="en-GB"/>
              <a:t> to the queue.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Messages are </a:t>
            </a:r>
            <a:r>
              <a:rPr lang="en-GB" b="1"/>
              <a:t>temporarily stored</a:t>
            </a:r>
            <a:r>
              <a:rPr lang="en-GB"/>
              <a:t> in the SQS Queue.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Message Consumers</a:t>
            </a:r>
            <a:r>
              <a:rPr lang="en-GB" b="1"/>
              <a:t> poll and process</a:t>
            </a:r>
            <a:r>
              <a:rPr lang="en-GB"/>
              <a:t> the messages.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Processed messages are </a:t>
            </a:r>
            <a:r>
              <a:rPr lang="en-GB" b="1"/>
              <a:t>deleted</a:t>
            </a:r>
            <a:r>
              <a:rPr lang="en-GB"/>
              <a:t> explicitly.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311700" y="40677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SQS Use Cases</a:t>
            </a:r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Decoupling microservices.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Asynchronous task execution.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Buffering for burst traffic.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Background jobs.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Security and Monitoring</a:t>
            </a:r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IAM Policies: </a:t>
            </a:r>
            <a:r>
              <a:rPr lang="en-GB"/>
              <a:t>Control access to SQS.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Encryption:</a:t>
            </a:r>
            <a:r>
              <a:rPr lang="en-GB"/>
              <a:t> Server-side with AWS KMS.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Monitoring:</a:t>
            </a:r>
            <a:r>
              <a:rPr lang="en-GB"/>
              <a:t> Amazon </a:t>
            </a:r>
            <a:r>
              <a:rPr lang="en-GB" b="1"/>
              <a:t>CloudWatch</a:t>
            </a:r>
            <a:r>
              <a:rPr lang="en-GB"/>
              <a:t> for metrics like message count and age.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Amazon SNS (Simple Notification Service)</a:t>
            </a:r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925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What is Amazon SNS?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Fully managed </a:t>
            </a:r>
            <a:r>
              <a:rPr lang="en-GB" b="1"/>
              <a:t>publish/subscribe</a:t>
            </a:r>
            <a:r>
              <a:rPr lang="en-GB"/>
              <a:t> messaging service.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Enables </a:t>
            </a:r>
            <a:r>
              <a:rPr lang="en-GB" b="1"/>
              <a:t>event-driven and real-time</a:t>
            </a:r>
            <a:r>
              <a:rPr lang="en-GB"/>
              <a:t> communication.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Why Use SNS?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High</a:t>
            </a:r>
            <a:r>
              <a:rPr lang="en-GB" b="1"/>
              <a:t> fan-out</a:t>
            </a:r>
            <a:r>
              <a:rPr lang="en-GB"/>
              <a:t> for messages.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Supports multiple protocols (HTTP, Lambda, SMS, etc.).</a:t>
            </a: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9700" y="1304825"/>
            <a:ext cx="2601900" cy="3002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Features of SNS</a:t>
            </a:r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Topic-based publish/subscribe model.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Message delivery to multiple subscribers.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Integration with SQS, Lambda, and email/SMS.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Message filtering and attributes.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SNS Works</a:t>
            </a:r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Publishers </a:t>
            </a:r>
            <a:r>
              <a:rPr lang="en-GB" b="1"/>
              <a:t>send messages</a:t>
            </a:r>
            <a:r>
              <a:rPr lang="en-GB"/>
              <a:t> to a topic.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SNS distributes the message to</a:t>
            </a:r>
            <a:r>
              <a:rPr lang="en-GB" b="1"/>
              <a:t> subscribers</a:t>
            </a:r>
            <a:r>
              <a:rPr lang="en-GB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Supports </a:t>
            </a:r>
            <a:r>
              <a:rPr lang="en-GB" b="1"/>
              <a:t>multiple delivery</a:t>
            </a:r>
            <a:r>
              <a:rPr lang="en-GB"/>
              <a:t> protocols (HTTP, SQS, Lambda, SMS, etc.).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SNS Use Cases</a:t>
            </a:r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Real-time event notifications.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Application alerts (e.g., system failures).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Distributing updates to multiple systems.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Security and Monitoring</a:t>
            </a:r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IAM Policies:</a:t>
            </a:r>
            <a:r>
              <a:rPr lang="en-GB"/>
              <a:t> Restrict who can publish/subscribe to topics.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Encryption:</a:t>
            </a:r>
            <a:r>
              <a:rPr lang="en-GB"/>
              <a:t> Data at rest and in transit.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Monitoring:</a:t>
            </a:r>
            <a:r>
              <a:rPr lang="en-GB"/>
              <a:t> CloudWatch metrics for delivery success and failures.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SQS and SNS Together</a:t>
            </a:r>
            <a:endParaRPr/>
          </a:p>
        </p:txBody>
      </p:sp>
      <p:sp>
        <p:nvSpPr>
          <p:cNvPr id="141" name="Google Shape;141;p25"/>
          <p:cNvSpPr txBox="1">
            <a:spLocks noGrp="1"/>
          </p:cNvSpPr>
          <p:nvPr>
            <p:ph type="body" idx="1"/>
          </p:nvPr>
        </p:nvSpPr>
        <p:spPr>
          <a:xfrm>
            <a:off x="311700" y="1304825"/>
            <a:ext cx="4203900" cy="32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SNS can fan-out messages to multiple SQS queues.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Benefits: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Decouple publishers from consumers.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Reliable delivery with SQS buffering.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2" name="Google Shape;14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4950" y="1304825"/>
            <a:ext cx="4566648" cy="3249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Practical Example</a:t>
            </a:r>
            <a:endParaRPr/>
          </a:p>
        </p:txBody>
      </p:sp>
      <p:sp>
        <p:nvSpPr>
          <p:cNvPr id="148" name="Google Shape;148;p2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Scenario: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SNS topic publishes </a:t>
            </a:r>
            <a:r>
              <a:rPr lang="en-GB" b="1"/>
              <a:t>system updates</a:t>
            </a:r>
            <a:r>
              <a:rPr lang="en-GB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Multiple SQS queues</a:t>
            </a:r>
            <a:r>
              <a:rPr lang="en-GB"/>
              <a:t> process updates for different microservices.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Advantages of Integration: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Scalable and fault-tolerant architecture.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Combines the strengths of both services (real-time and reliable messaging).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154" name="Google Shape;154;p2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Amazon SQS:</a:t>
            </a:r>
            <a:r>
              <a:rPr lang="en-GB"/>
              <a:t> Reliable queuing for asynchronous messaging.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Amazon SNS:</a:t>
            </a:r>
            <a:r>
              <a:rPr lang="en-GB"/>
              <a:t> Real-time notifications with publish/subscribe.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Integration allows decoupling and scaling distributed systems.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211" y="1481328"/>
            <a:ext cx="3183323" cy="196784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65BD1-32AA-3181-1C5C-53DBDE46CBB2}"/>
              </a:ext>
            </a:extLst>
          </p:cNvPr>
          <p:cNvSpPr/>
          <p:nvPr/>
        </p:nvSpPr>
        <p:spPr>
          <a:xfrm>
            <a:off x="336177" y="2823883"/>
            <a:ext cx="4141694" cy="1062317"/>
          </a:xfrm>
          <a:prstGeom prst="rect">
            <a:avLst/>
          </a:prstGeom>
          <a:solidFill>
            <a:srgbClr val="FDFAF6"/>
          </a:solidFill>
          <a:ln>
            <a:solidFill>
              <a:srgbClr val="FDFAF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Amel</a:t>
            </a:r>
            <a:r>
              <a:rPr lang="en-IN" sz="2100" dirty="0">
                <a:solidFill>
                  <a:schemeClr val="accent6">
                    <a:lumMod val="50000"/>
                  </a:schemeClr>
                </a:solidFill>
              </a:rPr>
              <a:t> Online &amp; Irene </a:t>
            </a:r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magdalena</a:t>
            </a:r>
            <a:endParaRPr lang="en-IN" sz="2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1EA26-4B72-7D8B-E260-D37DFC59B38C}"/>
              </a:ext>
            </a:extLst>
          </p:cNvPr>
          <p:cNvSpPr/>
          <p:nvPr/>
        </p:nvSpPr>
        <p:spPr>
          <a:xfrm>
            <a:off x="7631206" y="1"/>
            <a:ext cx="1512794" cy="14119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err="1" smtClean="0">
                <a:solidFill>
                  <a:schemeClr val="bg1"/>
                </a:solidFill>
              </a:rPr>
              <a:t>Amel</a:t>
            </a:r>
            <a:r>
              <a:rPr lang="en-US" sz="1050" dirty="0" smtClean="0">
                <a:solidFill>
                  <a:schemeClr val="bg1"/>
                </a:solidFill>
              </a:rPr>
              <a:t> </a:t>
            </a:r>
            <a:r>
              <a:rPr lang="en-US" sz="1050" dirty="0" err="1" smtClean="0">
                <a:solidFill>
                  <a:schemeClr val="bg1"/>
                </a:solidFill>
              </a:rPr>
              <a:t>charoline</a:t>
            </a:r>
            <a:endParaRPr lang="en-US" sz="1050" dirty="0"/>
          </a:p>
        </p:txBody>
      </p:sp>
      <p:sp>
        <p:nvSpPr>
          <p:cNvPr id="5" name="Rectangle 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11" name="Rectangle 10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12" name="Rectangle 11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2"/>
              </a:rPr>
              <a:t>https://</a:t>
            </a:r>
            <a:r>
              <a:rPr lang="en-US" sz="600" dirty="0">
                <a:hlinkClick r:id="rId2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1026377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572</Words>
  <Application>Microsoft Office PowerPoint</Application>
  <PresentationFormat>On-screen Show (16:9)</PresentationFormat>
  <Paragraphs>106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Open Sans</vt:lpstr>
      <vt:lpstr>맑은 고딕</vt:lpstr>
      <vt:lpstr>PT Sans Narrow</vt:lpstr>
      <vt:lpstr>Arial</vt:lpstr>
      <vt:lpstr>Tropic</vt:lpstr>
      <vt:lpstr>PowerPoint Presentation</vt:lpstr>
      <vt:lpstr>Amazon SQS &amp; SNS</vt:lpstr>
      <vt:lpstr>Amazon SQS (Simple Queue Service)</vt:lpstr>
      <vt:lpstr>Key Features of SQS</vt:lpstr>
      <vt:lpstr>Types of Queues</vt:lpstr>
      <vt:lpstr>How SQS Works</vt:lpstr>
      <vt:lpstr>SQS Use Cases</vt:lpstr>
      <vt:lpstr>Security and Monitoring</vt:lpstr>
      <vt:lpstr>Amazon SNS (Simple Notification Service)</vt:lpstr>
      <vt:lpstr>Key Features of SNS</vt:lpstr>
      <vt:lpstr>How SNS Works</vt:lpstr>
      <vt:lpstr>SNS Use Cases</vt:lpstr>
      <vt:lpstr>Security and Monitoring</vt:lpstr>
      <vt:lpstr>Using SQS and SNS Together</vt:lpstr>
      <vt:lpstr>Practical Example</vt:lpstr>
      <vt:lpstr>Summary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PDS</cp:lastModifiedBy>
  <cp:revision>2</cp:revision>
  <dcterms:modified xsi:type="dcterms:W3CDTF">2026-10-05T01:15:25Z</dcterms:modified>
</cp:coreProperties>
</file>