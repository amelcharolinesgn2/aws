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7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1" r:id="rId16"/>
  </p:sldIdLst>
  <p:sldSz cx="9144000" cy="5143500" type="screen16x9"/>
  <p:notesSz cx="6858000" cy="9144000"/>
  <p:embeddedFontLst>
    <p:embeddedFont>
      <p:font typeface="Open Sans" panose="020B0604020202020204" charset="0"/>
      <p:regular r:id="rId18"/>
      <p:bold r:id="rId19"/>
      <p:italic r:id="rId20"/>
      <p:boldItalic r:id="rId21"/>
    </p:embeddedFont>
    <p:embeddedFont>
      <p:font typeface="맑은 고딕" panose="020B0503020000020004" pitchFamily="34" charset="-127"/>
      <p:regular r:id="rId22"/>
      <p:bold r:id="rId23"/>
    </p:embeddedFont>
    <p:embeddedFont>
      <p:font typeface="PT Sans Narrow" panose="020B0604020202020204" charset="0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02" y="57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Lab Session 01: AWS Compute Foundations – EC2, Networking, and Application Deployment	Lab Session 02: Identity and Access Control with IAM	Lab Session 03: Cloud Storage Solutions – S3, EBS, and EFS	Lab Session 04: Database Services – RDS, </a:t>
            </a:r>
            <a:r>
              <a:rPr lang="en-US" dirty="0" err="1" smtClean="0"/>
              <a:t>DynamoDB</a:t>
            </a:r>
            <a:r>
              <a:rPr lang="en-US" dirty="0" smtClean="0"/>
              <a:t>, and </a:t>
            </a:r>
            <a:r>
              <a:rPr lang="en-US" dirty="0" err="1" smtClean="0"/>
              <a:t>ElastiCache</a:t>
            </a:r>
            <a:r>
              <a:rPr lang="en-US" dirty="0" smtClean="0"/>
              <a:t>	Lab Session 05: Load Balancing and Auto Scaling	Lab Session 06: Container Orchestration with ECS, </a:t>
            </a:r>
            <a:r>
              <a:rPr lang="en-US" dirty="0" err="1" smtClean="0"/>
              <a:t>Fargate</a:t>
            </a:r>
            <a:r>
              <a:rPr lang="en-US" dirty="0" smtClean="0"/>
              <a:t>, and EKS	Lab Session 07: </a:t>
            </a:r>
            <a:r>
              <a:rPr lang="en-US" dirty="0" err="1" smtClean="0"/>
              <a:t>Serverless</a:t>
            </a:r>
            <a:r>
              <a:rPr lang="en-US" dirty="0" smtClean="0"/>
              <a:t> Computing with Lambda	Lab Session 08: Monitoring, Logging, and Security Auditing	Lab Session 09: Infrastructure as Code – </a:t>
            </a:r>
            <a:r>
              <a:rPr lang="en-US" dirty="0" err="1" smtClean="0"/>
              <a:t>CloudFormation</a:t>
            </a:r>
            <a:r>
              <a:rPr lang="en-US" dirty="0" smtClean="0"/>
              <a:t>, CDK, and Terraform	Lab Session 10: CI/CD Pipelines – App Runner, </a:t>
            </a:r>
            <a:r>
              <a:rPr lang="en-US" dirty="0" err="1" smtClean="0"/>
              <a:t>CodePipeline</a:t>
            </a:r>
            <a:r>
              <a:rPr lang="en-US" dirty="0" smtClean="0"/>
              <a:t>, GitHub Actions, and </a:t>
            </a:r>
            <a:r>
              <a:rPr lang="en-US" dirty="0" err="1" smtClean="0"/>
              <a:t>CodeDeploy</a:t>
            </a:r>
            <a:r>
              <a:rPr lang="en-US" dirty="0" smtClean="0"/>
              <a:t>	Lab Session 11: AI/ML Services – </a:t>
            </a:r>
            <a:r>
              <a:rPr lang="en-US" dirty="0" err="1" smtClean="0"/>
              <a:t>Rekognition</a:t>
            </a:r>
            <a:r>
              <a:rPr lang="en-US" dirty="0" smtClean="0"/>
              <a:t>, Comprehend, Translate, and </a:t>
            </a:r>
            <a:r>
              <a:rPr lang="en-US" dirty="0" err="1" smtClean="0"/>
              <a:t>SageMaker</a:t>
            </a:r>
            <a:r>
              <a:rPr lang="en-US" dirty="0" smtClean="0"/>
              <a:t>	Lab Session 12: Hybrid Cloud Networking – VPC Peering, Transit Gateway, VPN, and Direct Connect	Lab Session 13: Security and Compliance – AWS </a:t>
            </a:r>
            <a:r>
              <a:rPr lang="en-US" dirty="0" err="1" smtClean="0"/>
              <a:t>Config</a:t>
            </a:r>
            <a:r>
              <a:rPr lang="en-US" dirty="0" smtClean="0"/>
              <a:t>, </a:t>
            </a:r>
            <a:r>
              <a:rPr lang="en-US" dirty="0" err="1" smtClean="0"/>
              <a:t>GuardDuty</a:t>
            </a:r>
            <a:r>
              <a:rPr lang="en-US" dirty="0" smtClean="0"/>
              <a:t>, Security Hub, and KMS	Lab Session 14: Disaster Recovery and Business Continuity – AWS Backup, Multi-Region, and Failover	Lab Session 15: Migration and Modernization – </a:t>
            </a:r>
            <a:r>
              <a:rPr lang="en-US" dirty="0" err="1" smtClean="0"/>
              <a:t>DataSync</a:t>
            </a:r>
            <a:r>
              <a:rPr lang="en-US" dirty="0" smtClean="0"/>
              <a:t>, DMS, MGN, Containers, and </a:t>
            </a:r>
            <a:r>
              <a:rPr lang="en-US" dirty="0" err="1" smtClean="0"/>
              <a:t>Serverless</a:t>
            </a:r>
            <a:r>
              <a:rPr lang="en-US" dirty="0" smtClean="0"/>
              <a:t>	</a:t>
            </a:r>
          </a:p>
          <a:p>
            <a:endParaRPr lang="en-US" dirty="0" smtClean="0"/>
          </a:p>
          <a:p>
            <a:r>
              <a:rPr lang="en-US" dirty="0" smtClean="0"/>
              <a:t>Lab Session 16: Cost Management and Optimization – Cost Explorer, Trusted Advisor, Budgets, and Well-Architected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https://www.youtube.com/watch?v=SOTamWNgDKc&amp;t=19604s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5449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d40fc4ba7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d40fc4ba7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2d40fc4ba7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2d40fc4ba7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2d40fc4ba7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2d40fc4ba7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2d40fc4ba7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2d40fc4ba7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2d40fc4ba7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2d40fc4ba7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2d40fc4ba7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2d40fc4ba7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2d40fc4ba7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2d40fc4ba7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2d40fc4ba7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2d40fc4ba7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2d40fc4ba7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2d40fc4ba7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2d40fc4ba7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2d40fc4ba7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2d40fc4ba7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2d40fc4ba7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2d40fc4ba7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2d40fc4ba7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285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melcharolinesgn2/AWS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melcharolinesgn2/AW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919" y="1"/>
            <a:ext cx="3979069" cy="2536031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277816" y="1346868"/>
            <a:ext cx="3603272" cy="1447266"/>
            <a:chOff x="89638" y="359621"/>
            <a:chExt cx="4804363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8" y="1389204"/>
              <a:ext cx="4804363" cy="900105"/>
            </a:xfrm>
            <a:prstGeom prst="rect">
              <a:avLst/>
            </a:prstGeom>
          </p:spPr>
          <p:txBody>
            <a:bodyPr vert="horz" lIns="68580" tIns="34290" rIns="68580" bIns="3429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3000" dirty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3000" dirty="0">
                  <a:solidFill>
                    <a:srgbClr val="00B0F0"/>
                  </a:solidFill>
                </a:rPr>
                <a:t>Vision</a:t>
              </a:r>
              <a:endParaRPr lang="en-US" sz="3000" dirty="0">
                <a:solidFill>
                  <a:srgbClr val="00B0F0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7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800" dirty="0"/>
              </a:p>
            </p:txBody>
          </p:sp>
          <p:sp>
            <p:nvSpPr>
              <p:cNvPr id="18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7030A0"/>
                  </a:solidFill>
                </a:rPr>
                <a:t>PDS</a:t>
              </a:r>
              <a:endParaRPr lang="en-US" sz="1200" dirty="0">
                <a:solidFill>
                  <a:srgbClr val="7030A0"/>
                </a:solidFill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807" y="1979698"/>
            <a:ext cx="334565" cy="4768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773" y="1991577"/>
            <a:ext cx="460043" cy="4370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784" y="1979697"/>
            <a:ext cx="449747" cy="43316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32" name="Rectangle 31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33" name="Rectangle 32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8"/>
              </a:rPr>
              <a:t>https://</a:t>
            </a:r>
            <a:r>
              <a:rPr lang="en-US" sz="600" dirty="0">
                <a:hlinkClick r:id="rId8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  <p:sp>
        <p:nvSpPr>
          <p:cNvPr id="24" name="Google Shape;66;p13"/>
          <p:cNvSpPr txBox="1">
            <a:spLocks/>
          </p:cNvSpPr>
          <p:nvPr/>
        </p:nvSpPr>
        <p:spPr>
          <a:xfrm>
            <a:off x="1260707" y="2044358"/>
            <a:ext cx="71367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pPr algn="ctr"/>
            <a:r>
              <a:rPr lang="en-GB" dirty="0"/>
              <a:t>AWS Security: KMS, WAF, and Shield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749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4160" dirty="0"/>
              <a:t>AWS Security: KMS, WAF, and Shield</a:t>
            </a:r>
            <a:endParaRPr sz="4160"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Advanced Cloud Security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AWS Security</a:t>
            </a:r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925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</a:pPr>
            <a:r>
              <a:rPr lang="en-GB" sz="1900"/>
              <a:t>AWS Security is based on the </a:t>
            </a:r>
            <a:r>
              <a:rPr lang="en-GB" sz="1900" b="1"/>
              <a:t>Shared Responsibility Model</a:t>
            </a:r>
            <a:r>
              <a:rPr lang="en-GB" sz="1900"/>
              <a:t>.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</a:pPr>
            <a:r>
              <a:rPr lang="en-GB" sz="1900"/>
              <a:t>AWS provides built-in security tools like </a:t>
            </a:r>
            <a:r>
              <a:rPr lang="en-GB" sz="1900" b="1"/>
              <a:t>KMS, WAF, and Shield</a:t>
            </a:r>
            <a:r>
              <a:rPr lang="en-GB" sz="1900"/>
              <a:t> to help protect applications and data.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</a:pPr>
            <a:r>
              <a:rPr lang="en-GB" sz="1900"/>
              <a:t>Security services help in </a:t>
            </a:r>
            <a:endParaRPr sz="190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AutoNum type="alphaLcPeriod"/>
            </a:pPr>
            <a:r>
              <a:rPr lang="en-GB" sz="1900" b="1"/>
              <a:t>encryption, </a:t>
            </a:r>
            <a:endParaRPr sz="1900" b="1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AutoNum type="alphaLcPeriod"/>
            </a:pPr>
            <a:r>
              <a:rPr lang="en-GB" sz="1900" b="1"/>
              <a:t>access control, and </a:t>
            </a:r>
            <a:endParaRPr sz="1900" b="1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AutoNum type="alphaLcPeriod"/>
            </a:pPr>
            <a:r>
              <a:rPr lang="en-GB" sz="1900" b="1"/>
              <a:t>DDoS protection</a:t>
            </a:r>
            <a:r>
              <a:rPr lang="en-GB" sz="1900"/>
              <a:t>.</a:t>
            </a:r>
            <a:endParaRPr sz="19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AWS Key Management Service (KMS)</a:t>
            </a:r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60867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 b="1"/>
              <a:t>AWS KMS</a:t>
            </a:r>
            <a:r>
              <a:rPr lang="en-GB"/>
              <a:t> is a managed service for creating and managing </a:t>
            </a:r>
            <a:r>
              <a:rPr lang="en-GB" b="1"/>
              <a:t>encryption keys</a:t>
            </a:r>
            <a:r>
              <a:rPr lang="en-GB"/>
              <a:t>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/>
              <a:t>It supports </a:t>
            </a:r>
            <a:r>
              <a:rPr lang="en-GB" b="1"/>
              <a:t>AWS services like S3, EBS, and RDS</a:t>
            </a:r>
            <a:r>
              <a:rPr lang="en-GB"/>
              <a:t> for data encryption.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 b="1"/>
              <a:t>Key policies and IAM permissions</a:t>
            </a:r>
            <a:r>
              <a:rPr lang="en-GB"/>
              <a:t> control access to keys.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/>
              <a:t>Integration with </a:t>
            </a:r>
            <a:r>
              <a:rPr lang="en-GB" b="1"/>
              <a:t>CloudTrail</a:t>
            </a:r>
            <a:r>
              <a:rPr lang="en-GB"/>
              <a:t> for logging key usage.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5675" y="1304825"/>
            <a:ext cx="2345925" cy="234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AWS KMS Works</a:t>
            </a:r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/>
              <a:t>Uses </a:t>
            </a:r>
            <a:r>
              <a:rPr lang="en-GB" b="1"/>
              <a:t>Customer Master Keys (CMKs)</a:t>
            </a:r>
            <a:r>
              <a:rPr lang="en-GB"/>
              <a:t> to encrypt and decrypt data.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/>
              <a:t>Supports </a:t>
            </a:r>
            <a:r>
              <a:rPr lang="en-GB" b="1"/>
              <a:t>Automatic Key Rotation</a:t>
            </a:r>
            <a:r>
              <a:rPr lang="en-GB"/>
              <a:t> for security.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 b="1"/>
              <a:t>Envelope Encryption</a:t>
            </a:r>
            <a:r>
              <a:rPr lang="en-GB"/>
              <a:t>: KMS encrypts a data key, which then encrypts the data.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/>
              <a:t>Integrated with AWS services like </a:t>
            </a:r>
            <a:r>
              <a:rPr lang="en-GB" b="1"/>
              <a:t>Lambda, S3, RDS, and CloudTrail</a:t>
            </a:r>
            <a:r>
              <a:rPr lang="en-GB"/>
              <a:t>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729" y="465400"/>
            <a:ext cx="8499570" cy="410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SQL Injection?</a:t>
            </a:r>
            <a:endParaRPr/>
          </a:p>
        </p:txBody>
      </p:sp>
      <p:sp>
        <p:nvSpPr>
          <p:cNvPr id="99" name="Google Shape;99;p1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99543"/>
            <a:ext cx="9144000" cy="3265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244" y="0"/>
            <a:ext cx="837476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4740"/>
            <a:ext cx="9144003" cy="50140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AWS Web Application Firewall (WAF)</a:t>
            </a:r>
            <a:endParaRPr/>
          </a:p>
        </p:txBody>
      </p:sp>
      <p:sp>
        <p:nvSpPr>
          <p:cNvPr id="120" name="Google Shape;120;p2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 b="1"/>
              <a:t>AWS WAF</a:t>
            </a:r>
            <a:r>
              <a:rPr lang="en-GB"/>
              <a:t> protects applications from </a:t>
            </a:r>
            <a:r>
              <a:rPr lang="en-GB" b="1"/>
              <a:t>SQL Injection, XSS, and DDoS attacks</a:t>
            </a:r>
            <a:r>
              <a:rPr lang="en-GB"/>
              <a:t>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/>
              <a:t>Works with </a:t>
            </a:r>
            <a:r>
              <a:rPr lang="en-GB" b="1"/>
              <a:t>ALB, API Gateway, and CloudFront</a:t>
            </a:r>
            <a:r>
              <a:rPr lang="en-GB"/>
              <a:t>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/>
              <a:t>Uses </a:t>
            </a:r>
            <a:r>
              <a:rPr lang="en-GB" b="1"/>
              <a:t>WebACLs</a:t>
            </a:r>
            <a:r>
              <a:rPr lang="en-GB"/>
              <a:t> (Web Access Control Lists) for filtering requests.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/>
              <a:t>Can block, allow, or monitor requests based on rules.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AWS WAF Works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2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 b="1"/>
              <a:t>WebACL Rules</a:t>
            </a:r>
            <a:r>
              <a:rPr lang="en-GB"/>
              <a:t> define what traffic is allowed or blocked.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 b="1"/>
              <a:t>Managed Rules</a:t>
            </a:r>
            <a:r>
              <a:rPr lang="en-GB"/>
              <a:t> help block common threats.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 b="1"/>
              <a:t>Rate-based rules</a:t>
            </a:r>
            <a:r>
              <a:rPr lang="en-GB"/>
              <a:t> protect against </a:t>
            </a:r>
            <a:r>
              <a:rPr lang="en-GB" b="1"/>
              <a:t>brute force and DDoS attacks</a:t>
            </a:r>
            <a:r>
              <a:rPr lang="en-GB"/>
              <a:t>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/>
              <a:t>Works with </a:t>
            </a:r>
            <a:r>
              <a:rPr lang="en-GB" b="1"/>
              <a:t>Shield for enhanced DDoS protection</a:t>
            </a:r>
            <a:r>
              <a:rPr lang="en-GB"/>
              <a:t>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AWS Shield for DDoS Protection</a:t>
            </a:r>
            <a:endParaRPr/>
          </a:p>
        </p:txBody>
      </p:sp>
      <p:sp>
        <p:nvSpPr>
          <p:cNvPr id="132" name="Google Shape;132;p2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 b="1"/>
              <a:t>AWS Shield</a:t>
            </a:r>
            <a:r>
              <a:rPr lang="en-GB"/>
              <a:t> provides </a:t>
            </a:r>
            <a:r>
              <a:rPr lang="en-GB" b="1"/>
              <a:t>DDoS protection</a:t>
            </a:r>
            <a:r>
              <a:rPr lang="en-GB"/>
              <a:t> for applications.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/>
              <a:t>Two types: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AutoNum type="arabicPeriod"/>
            </a:pPr>
            <a:r>
              <a:rPr lang="en-GB" sz="1800" b="1"/>
              <a:t>AWS Shield Standard</a:t>
            </a:r>
            <a:r>
              <a:rPr lang="en-GB" sz="1800"/>
              <a:t> (free, automatic protection)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AutoNum type="arabicPeriod"/>
            </a:pPr>
            <a:r>
              <a:rPr lang="en-GB" sz="1800" b="1"/>
              <a:t>AWS Shield Advanced</a:t>
            </a:r>
            <a:r>
              <a:rPr lang="en-GB" sz="1800"/>
              <a:t> (paid, 24/7 response, insurance)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/>
              <a:t>Integrated with </a:t>
            </a:r>
            <a:r>
              <a:rPr lang="en-GB" b="1"/>
              <a:t>CloudFront, Route 53, and WAF</a:t>
            </a:r>
            <a:r>
              <a:rPr lang="en-GB"/>
              <a:t>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>
            <a:spLocks noGrp="1"/>
          </p:cNvSpPr>
          <p:nvPr>
            <p:ph type="title"/>
          </p:nvPr>
        </p:nvSpPr>
        <p:spPr>
          <a:xfrm>
            <a:off x="377675" y="39557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AWS Security Best Practices</a:t>
            </a:r>
            <a:endParaRPr/>
          </a:p>
        </p:txBody>
      </p:sp>
      <p:sp>
        <p:nvSpPr>
          <p:cNvPr id="138" name="Google Shape;138;p2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lang="en-GB" sz="1600" b="1"/>
              <a:t>Enable AWS Shield and WAF</a:t>
            </a:r>
            <a:r>
              <a:rPr lang="en-GB" sz="1600"/>
              <a:t> for web applications.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lang="en-GB" sz="1600" b="1"/>
              <a:t>Use KMS for encrypting sensitive data</a:t>
            </a:r>
            <a:r>
              <a:rPr lang="en-GB" sz="1600"/>
              <a:t>.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lang="en-GB" sz="1600"/>
              <a:t>Implement </a:t>
            </a:r>
            <a:r>
              <a:rPr lang="en-GB" sz="1600" b="1"/>
              <a:t>IAM policies with least privilege access</a:t>
            </a:r>
            <a:r>
              <a:rPr lang="en-GB" sz="1600"/>
              <a:t>.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lang="en-GB" sz="1600" b="1"/>
              <a:t>Monitor security events</a:t>
            </a:r>
            <a:r>
              <a:rPr lang="en-GB" sz="1600"/>
              <a:t> using CloudWatch and CloudTrail.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lang="en-GB" sz="1600"/>
              <a:t>Regularly update </a:t>
            </a:r>
            <a:r>
              <a:rPr lang="en-GB" sz="1600" b="1"/>
              <a:t>WAF rules</a:t>
            </a:r>
            <a:r>
              <a:rPr lang="en-GB" sz="1600"/>
              <a:t> to prevent new threats.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Summary</a:t>
            </a:r>
            <a:endParaRPr/>
          </a:p>
        </p:txBody>
      </p:sp>
      <p:sp>
        <p:nvSpPr>
          <p:cNvPr id="144" name="Google Shape;144;p2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/>
              <a:t>AWS KMS encrypts and manages keys securely.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/>
              <a:t>AWS WAF protects applications from common web threats.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/>
              <a:t>AWS Shield provides </a:t>
            </a:r>
            <a:r>
              <a:rPr lang="en-GB" b="1"/>
              <a:t>DDoS mitigation</a:t>
            </a:r>
            <a:r>
              <a:rPr lang="en-GB"/>
              <a:t>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/>
              <a:t>Security best practices involve </a:t>
            </a:r>
            <a:r>
              <a:rPr lang="en-GB" b="1"/>
              <a:t>encryption, monitoring, and access control</a:t>
            </a:r>
            <a:r>
              <a:rPr lang="en-GB"/>
              <a:t>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B426-5B7C-607E-D413-5D2C9495C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9211" y="1481328"/>
            <a:ext cx="3183323" cy="1967843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F65BD1-32AA-3181-1C5C-53DBDE46CBB2}"/>
              </a:ext>
            </a:extLst>
          </p:cNvPr>
          <p:cNvSpPr/>
          <p:nvPr/>
        </p:nvSpPr>
        <p:spPr>
          <a:xfrm>
            <a:off x="336177" y="2823883"/>
            <a:ext cx="4141694" cy="1062317"/>
          </a:xfrm>
          <a:prstGeom prst="rect">
            <a:avLst/>
          </a:prstGeom>
          <a:solidFill>
            <a:srgbClr val="FDFAF6"/>
          </a:solidFill>
          <a:ln>
            <a:solidFill>
              <a:srgbClr val="FDFAF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Amel</a:t>
            </a:r>
            <a:r>
              <a:rPr lang="en-IN" sz="2100" dirty="0">
                <a:solidFill>
                  <a:schemeClr val="accent6">
                    <a:lumMod val="50000"/>
                  </a:schemeClr>
                </a:solidFill>
              </a:rPr>
              <a:t> Online &amp; Irene </a:t>
            </a:r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magdalena</a:t>
            </a:r>
            <a:endParaRPr lang="en-IN" sz="2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81EA26-4B72-7D8B-E260-D37DFC59B38C}"/>
              </a:ext>
            </a:extLst>
          </p:cNvPr>
          <p:cNvSpPr/>
          <p:nvPr/>
        </p:nvSpPr>
        <p:spPr>
          <a:xfrm>
            <a:off x="7631206" y="1"/>
            <a:ext cx="1512794" cy="14119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err="1" smtClean="0">
                <a:solidFill>
                  <a:schemeClr val="bg1"/>
                </a:solidFill>
              </a:rPr>
              <a:t>Amel</a:t>
            </a:r>
            <a:r>
              <a:rPr lang="en-US" sz="1050" dirty="0" smtClean="0">
                <a:solidFill>
                  <a:schemeClr val="bg1"/>
                </a:solidFill>
              </a:rPr>
              <a:t> </a:t>
            </a:r>
            <a:r>
              <a:rPr lang="en-US" sz="1050" dirty="0" err="1" smtClean="0">
                <a:solidFill>
                  <a:schemeClr val="bg1"/>
                </a:solidFill>
              </a:rPr>
              <a:t>charoline</a:t>
            </a:r>
            <a:endParaRPr lang="en-US" sz="1050" dirty="0"/>
          </a:p>
        </p:txBody>
      </p:sp>
      <p:sp>
        <p:nvSpPr>
          <p:cNvPr id="5" name="Rectangle 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11" name="Rectangle 10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12" name="Rectangle 11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2"/>
              </a:rPr>
              <a:t>https://</a:t>
            </a:r>
            <a:r>
              <a:rPr lang="en-US" sz="600" dirty="0">
                <a:hlinkClick r:id="rId2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2121460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475</Words>
  <Application>Microsoft Office PowerPoint</Application>
  <PresentationFormat>On-screen Show (16:9)</PresentationFormat>
  <Paragraphs>74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Open Sans</vt:lpstr>
      <vt:lpstr>맑은 고딕</vt:lpstr>
      <vt:lpstr>PT Sans Narrow</vt:lpstr>
      <vt:lpstr>Arial</vt:lpstr>
      <vt:lpstr>Tropic</vt:lpstr>
      <vt:lpstr>PowerPoint Presentation</vt:lpstr>
      <vt:lpstr>AWS Security: KMS, WAF, and Shield</vt:lpstr>
      <vt:lpstr>Introduction to AWS Security</vt:lpstr>
      <vt:lpstr>AWS Key Management Service (KMS)</vt:lpstr>
      <vt:lpstr>How AWS KMS Works</vt:lpstr>
      <vt:lpstr>PowerPoint Presentation</vt:lpstr>
      <vt:lpstr>What is SQL Injection?</vt:lpstr>
      <vt:lpstr>PowerPoint Presentation</vt:lpstr>
      <vt:lpstr>PowerPoint Presentation</vt:lpstr>
      <vt:lpstr>AWS Web Application Firewall (WAF)</vt:lpstr>
      <vt:lpstr>How AWS WAF Works  </vt:lpstr>
      <vt:lpstr>AWS Shield for DDoS Protection</vt:lpstr>
      <vt:lpstr>AWS Security Best Practices</vt:lpstr>
      <vt:lpstr>Summary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PDS</cp:lastModifiedBy>
  <cp:revision>2</cp:revision>
  <dcterms:modified xsi:type="dcterms:W3CDTF">2026-10-05T01:25:45Z</dcterms:modified>
</cp:coreProperties>
</file>