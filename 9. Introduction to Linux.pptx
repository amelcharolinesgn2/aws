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9144000" cy="5143500" type="screen16x9"/>
  <p:notesSz cx="6858000" cy="9144000"/>
  <p:embeddedFontLst>
    <p:embeddedFont>
      <p:font typeface="Open Sans" panose="020B0604020202020204" charset="0"/>
      <p:regular r:id="rId19"/>
      <p:bold r:id="rId20"/>
      <p:italic r:id="rId21"/>
      <p:boldItalic r:id="rId22"/>
    </p:embeddedFont>
    <p:embeddedFont>
      <p:font typeface="맑은 고딕" panose="020B0503020000020004" pitchFamily="34" charset="-127"/>
      <p:regular r:id="rId23"/>
      <p:bold r:id="rId24"/>
    </p:embeddedFont>
    <p:embeddedFont>
      <p:font typeface="PT Sans Narrow" panose="020B0604020202020204" charset="0"/>
      <p:regular r:id="rId25"/>
      <p:bold r:id="rId26"/>
    </p:embeddedFont>
    <p:embeddedFont>
      <p:font typeface="Space Mono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53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0daf1fdab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0daf1fdab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20daf1fdab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20daf1fdab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20daf1fdab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20daf1fdab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20daf1fdab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20daf1fdab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20daf1fdab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20daf1fdab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0daf1fdab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20daf1fdab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0daf1fdab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20daf1fdab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20daf1fdab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20daf1fdab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0daf1fdab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0daf1fdab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20daf1fdab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20daf1fdab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0daf1fdab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0daf1fdab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20daf1fdab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20daf1fdab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20daf1fdab_0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20daf1fdab_0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0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melcharolinesgn2/AW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044358"/>
            <a:ext cx="71367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algn="ctr"/>
            <a:r>
              <a:rPr lang="en-GB" dirty="0"/>
              <a:t>Introduction to Linux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55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Linux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Exploring the Foundation of Open Source Operating Systems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Linux?</a:t>
            </a:r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Linux is an </a:t>
            </a:r>
            <a:r>
              <a:rPr lang="en-GB" b="1"/>
              <a:t>open-source</a:t>
            </a:r>
            <a:r>
              <a:rPr lang="en-GB"/>
              <a:t> and </a:t>
            </a:r>
            <a:r>
              <a:rPr lang="en-GB" b="1"/>
              <a:t>Unix</a:t>
            </a:r>
            <a:r>
              <a:rPr lang="en-GB"/>
              <a:t>*-like operating system.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Created by Linus Torvalds in 1991.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Used in diverse fields: Servers, desktops, embedded systems, and more.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Key Point: Linux powers over </a:t>
            </a:r>
            <a:r>
              <a:rPr lang="en-GB" b="1"/>
              <a:t>90% of servers</a:t>
            </a:r>
            <a:r>
              <a:rPr lang="en-GB"/>
              <a:t> on the internet.</a:t>
            </a:r>
            <a:br>
              <a:rPr lang="en-GB"/>
            </a:br>
            <a:r>
              <a:rPr lang="en-GB"/>
              <a:t/>
            </a:r>
            <a:br>
              <a:rPr lang="en-GB"/>
            </a:br>
            <a:r>
              <a:rPr lang="en-GB"/>
              <a:t/>
            </a:r>
            <a:br>
              <a:rPr lang="en-GB"/>
            </a:br>
            <a:r>
              <a:rPr lang="en-GB"/>
              <a:t>*</a:t>
            </a:r>
            <a:r>
              <a:rPr lang="en-GB" sz="1300"/>
              <a:t>UNIX is a multi-user, multitasking operating system (OS) that was developed in the late 1960s by Bell Laboratories at AT&amp;T</a:t>
            </a:r>
            <a:endParaRPr sz="13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Brief History of Linux</a:t>
            </a:r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Unix (1969): Inspiration for Linux.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GNU Project (1983): Free software foundation started by Richard Stallman.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1991: Linus Torvalds announced Linux Kernel.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Open Source Revolution: Collaboration among developers worldwide.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Core Features of Linux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1018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Open Source</a:t>
            </a:r>
            <a:r>
              <a:rPr lang="en-GB"/>
              <a:t>: Freely available and customizable.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Multiuser Support</a:t>
            </a:r>
            <a:r>
              <a:rPr lang="en-GB"/>
              <a:t>: Many users can work simultaneously.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Portability:</a:t>
            </a:r>
            <a:r>
              <a:rPr lang="en-GB"/>
              <a:t> Runs on a wide range of hardware.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Security:</a:t>
            </a:r>
            <a:r>
              <a:rPr lang="en-GB"/>
              <a:t> Built-in user and process isolation.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Stability:</a:t>
            </a:r>
            <a:r>
              <a:rPr lang="en-GB"/>
              <a:t> Reliable for long-term use.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3500" y="1337200"/>
            <a:ext cx="3519801" cy="330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Linux Architecture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60831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Hardware</a:t>
            </a:r>
            <a:r>
              <a:rPr lang="en-GB"/>
              <a:t>: Physical components of the computer.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Kernel</a:t>
            </a:r>
            <a:r>
              <a:rPr lang="en-GB"/>
              <a:t>: The core that interacts with hardware.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System Libraries</a:t>
            </a:r>
            <a:r>
              <a:rPr lang="en-GB"/>
              <a:t>: Provide essential functionality.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Shell</a:t>
            </a:r>
            <a:r>
              <a:rPr lang="en-GB"/>
              <a:t>: Command-line interface for user interaction.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b="1"/>
              <a:t>Applications</a:t>
            </a:r>
            <a:r>
              <a:rPr lang="en-GB"/>
              <a:t>: Software running on top of the OS.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6900" y="1304825"/>
            <a:ext cx="2664699" cy="245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Linux Distributions</a:t>
            </a:r>
            <a:endParaRPr/>
          </a:p>
        </p:txBody>
      </p:sp>
      <p:sp>
        <p:nvSpPr>
          <p:cNvPr id="99" name="Google Shape;99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7715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What is a Distribution?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 collection of the Linux kernel, software packages, and tools.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Popular Distributions</a:t>
            </a:r>
            <a:r>
              <a:rPr lang="en-GB"/>
              <a:t>:</a:t>
            </a:r>
            <a:endParaRPr/>
          </a:p>
          <a:p>
            <a:pPr marL="457200" lvl="0" indent="-317182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Ubuntu</a:t>
            </a:r>
            <a:r>
              <a:rPr lang="en-GB"/>
              <a:t>: User-friendly.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Fedora</a:t>
            </a:r>
            <a:r>
              <a:rPr lang="en-GB"/>
              <a:t>: Cutting-edge software.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Debian</a:t>
            </a:r>
            <a:r>
              <a:rPr lang="en-GB"/>
              <a:t>: Stability and reliability.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 b="1"/>
              <a:t>Arch Linux</a:t>
            </a:r>
            <a:r>
              <a:rPr lang="en-GB"/>
              <a:t>: Customizable and minimalistic.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Specialized lightweight distros</a:t>
            </a:r>
            <a:r>
              <a:rPr lang="en-GB"/>
              <a:t>:</a:t>
            </a:r>
            <a:endParaRPr/>
          </a:p>
          <a:p>
            <a:pPr marL="457200" lvl="0" indent="-317182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Tiny Core Linux (~16 MB)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Puppy Linux (~300 MB)</a:t>
            </a:r>
            <a:endParaRPr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2500" y="1304825"/>
            <a:ext cx="4009098" cy="3302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Choose Lightweight Linux Distros?</a:t>
            </a: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Designed for systems with low RAM and storage.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Suitable for: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Old computers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Embedded systems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Minimalistic environments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Examples:</a:t>
            </a:r>
            <a:endParaRPr b="1"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Tiny Core Linux: ~16 MB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Damn Small Linux: ~50 MB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AntiX: ~400 MB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Bodhi Linux: ~700 MB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538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Linux Commands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360" b="1"/>
              <a:t>Navigating the File System:</a:t>
            </a:r>
            <a:endParaRPr sz="1360" b="1"/>
          </a:p>
          <a:p>
            <a:pPr marL="457200" lvl="0" indent="-31496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60"/>
              <a:buChar char="●"/>
            </a:pPr>
            <a:r>
              <a:rPr lang="en-GB" sz="1360">
                <a:latin typeface="Space Mono"/>
                <a:ea typeface="Space Mono"/>
                <a:cs typeface="Space Mono"/>
                <a:sym typeface="Space Mono"/>
              </a:rPr>
              <a:t>ls</a:t>
            </a:r>
            <a:r>
              <a:rPr lang="en-GB" sz="1360"/>
              <a:t>: List files.</a:t>
            </a:r>
            <a:endParaRPr sz="1360"/>
          </a:p>
          <a:p>
            <a:pPr marL="457200" lvl="0" indent="-31496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0"/>
              <a:buChar char="●"/>
            </a:pPr>
            <a:r>
              <a:rPr lang="en-GB" sz="1360">
                <a:latin typeface="Space Mono"/>
                <a:ea typeface="Space Mono"/>
                <a:cs typeface="Space Mono"/>
                <a:sym typeface="Space Mono"/>
              </a:rPr>
              <a:t>cd</a:t>
            </a:r>
            <a:r>
              <a:rPr lang="en-GB" sz="1360"/>
              <a:t>: Change directory.</a:t>
            </a:r>
            <a:endParaRPr sz="1360"/>
          </a:p>
          <a:p>
            <a:pPr marL="457200" lvl="0" indent="-31496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0"/>
              <a:buChar char="●"/>
            </a:pPr>
            <a:r>
              <a:rPr lang="en-GB" sz="1360">
                <a:latin typeface="Space Mono"/>
                <a:ea typeface="Space Mono"/>
                <a:cs typeface="Space Mono"/>
                <a:sym typeface="Space Mono"/>
              </a:rPr>
              <a:t>pwd</a:t>
            </a:r>
            <a:r>
              <a:rPr lang="en-GB" sz="1360"/>
              <a:t>: Print working directory.</a:t>
            </a:r>
            <a:endParaRPr sz="136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360" b="1"/>
              <a:t>File Management:</a:t>
            </a:r>
            <a:endParaRPr sz="1360" b="1"/>
          </a:p>
          <a:p>
            <a:pPr marL="457200" lvl="0" indent="-31496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60"/>
              <a:buChar char="●"/>
            </a:pPr>
            <a:r>
              <a:rPr lang="en-GB" sz="1360">
                <a:latin typeface="Space Mono"/>
                <a:ea typeface="Space Mono"/>
                <a:cs typeface="Space Mono"/>
                <a:sym typeface="Space Mono"/>
              </a:rPr>
              <a:t>mkdir</a:t>
            </a:r>
            <a:r>
              <a:rPr lang="en-GB" sz="1360"/>
              <a:t>: Create a directory.</a:t>
            </a:r>
            <a:endParaRPr sz="1360"/>
          </a:p>
          <a:p>
            <a:pPr marL="457200" lvl="0" indent="-31496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0"/>
              <a:buChar char="●"/>
            </a:pPr>
            <a:r>
              <a:rPr lang="en-GB" sz="1360">
                <a:latin typeface="Space Mono"/>
                <a:ea typeface="Space Mono"/>
                <a:cs typeface="Space Mono"/>
                <a:sym typeface="Space Mono"/>
              </a:rPr>
              <a:t>rm</a:t>
            </a:r>
            <a:r>
              <a:rPr lang="en-GB" sz="1360"/>
              <a:t>: Remove a file or directory.</a:t>
            </a:r>
            <a:endParaRPr sz="1360"/>
          </a:p>
          <a:p>
            <a:pPr marL="457200" lvl="0" indent="-31496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0"/>
              <a:buChar char="●"/>
            </a:pPr>
            <a:r>
              <a:rPr lang="en-GB" sz="1360">
                <a:latin typeface="Space Mono"/>
                <a:ea typeface="Space Mono"/>
                <a:cs typeface="Space Mono"/>
                <a:sym typeface="Space Mono"/>
              </a:rPr>
              <a:t>cp</a:t>
            </a:r>
            <a:r>
              <a:rPr lang="en-GB" sz="1360"/>
              <a:t>: Copy files.</a:t>
            </a:r>
            <a:endParaRPr sz="1360"/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en-GB" sz="1360" b="1"/>
              <a:t>System Monitoring:</a:t>
            </a:r>
            <a:endParaRPr sz="1360" b="1"/>
          </a:p>
          <a:p>
            <a:pPr marL="457200" lvl="0" indent="-31496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60"/>
              <a:buChar char="●"/>
            </a:pPr>
            <a:r>
              <a:rPr lang="en-GB" sz="1360">
                <a:latin typeface="Space Mono"/>
                <a:ea typeface="Space Mono"/>
                <a:cs typeface="Space Mono"/>
                <a:sym typeface="Space Mono"/>
              </a:rPr>
              <a:t>top</a:t>
            </a:r>
            <a:r>
              <a:rPr lang="en-GB" sz="1360"/>
              <a:t>: View running processes.</a:t>
            </a:r>
            <a:endParaRPr sz="1360"/>
          </a:p>
          <a:p>
            <a:pPr marL="457200" lvl="0" indent="-31496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0"/>
              <a:buChar char="●"/>
            </a:pPr>
            <a:r>
              <a:rPr lang="en-GB" sz="1360">
                <a:latin typeface="Space Mono"/>
                <a:ea typeface="Space Mono"/>
                <a:cs typeface="Space Mono"/>
                <a:sym typeface="Space Mono"/>
              </a:rPr>
              <a:t>df -h</a:t>
            </a:r>
            <a:r>
              <a:rPr lang="en-GB" sz="1360"/>
              <a:t>: Check disk usage.</a:t>
            </a:r>
            <a:endParaRPr sz="1360"/>
          </a:p>
          <a:p>
            <a:pPr marL="457200" lvl="0" indent="-31496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60"/>
              <a:buChar char="●"/>
            </a:pPr>
            <a:r>
              <a:rPr lang="en-GB" sz="1360">
                <a:latin typeface="Space Mono"/>
                <a:ea typeface="Space Mono"/>
                <a:cs typeface="Space Mono"/>
                <a:sym typeface="Space Mono"/>
              </a:rPr>
              <a:t>free -m</a:t>
            </a:r>
            <a:r>
              <a:rPr lang="en-GB" sz="1360"/>
              <a:t>: Check memory usage.</a:t>
            </a:r>
            <a:endParaRPr sz="136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Real-World Applications of Linux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Web Servers: </a:t>
            </a:r>
            <a:r>
              <a:rPr lang="en-GB"/>
              <a:t>Powering Google, Facebook, and Twitter.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Supercomputers: </a:t>
            </a:r>
            <a:r>
              <a:rPr lang="en-GB"/>
              <a:t>Runs on 100% of the world’s top 500 supercomputers.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IoT Devices:</a:t>
            </a:r>
            <a:r>
              <a:rPr lang="en-GB"/>
              <a:t> Used in smart devices and embedded systems.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Programming:</a:t>
            </a:r>
            <a:r>
              <a:rPr lang="en-GB"/>
              <a:t> Preferred platform for developers due to robust tools.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Gaming:</a:t>
            </a:r>
            <a:r>
              <a:rPr lang="en-GB"/>
              <a:t> Platforms like SteamOS bring gaming to Linux.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Linux Desktop Environments</a:t>
            </a: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GNOME</a:t>
            </a:r>
            <a:r>
              <a:rPr lang="en-GB"/>
              <a:t>: Modern and simple.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KDE Plasma:</a:t>
            </a:r>
            <a:r>
              <a:rPr lang="en-GB"/>
              <a:t> Highly customizable.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XFCE:</a:t>
            </a:r>
            <a:r>
              <a:rPr lang="en-GB"/>
              <a:t> Lightweight and fast.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LXQt:</a:t>
            </a:r>
            <a:r>
              <a:rPr lang="en-GB"/>
              <a:t> Minimal resource usage.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Mate:</a:t>
            </a:r>
            <a:r>
              <a:rPr lang="en-GB"/>
              <a:t> Traditional desktop feel.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Myths and Misconceptions</a:t>
            </a:r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</a:t>
            </a:r>
            <a:r>
              <a:rPr lang="en-GB" b="1"/>
              <a:t>Linux is hard to use</a:t>
            </a:r>
            <a:r>
              <a:rPr lang="en-GB"/>
              <a:t>" → Modern distros are beginner-friendly.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</a:t>
            </a:r>
            <a:r>
              <a:rPr lang="en-GB" b="1"/>
              <a:t>No software is available</a:t>
            </a:r>
            <a:r>
              <a:rPr lang="en-GB"/>
              <a:t>" → Vast libraries of applications.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"</a:t>
            </a:r>
            <a:r>
              <a:rPr lang="en-GB" b="1"/>
              <a:t>Only experts use Linux</a:t>
            </a:r>
            <a:r>
              <a:rPr lang="en-GB"/>
              <a:t>" → Distros like Ubuntu and Linux Mint are for everyone.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of Linux</a:t>
            </a:r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Cost</a:t>
            </a:r>
            <a:r>
              <a:rPr lang="en-GB"/>
              <a:t>: Free to use.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Customizability</a:t>
            </a:r>
            <a:r>
              <a:rPr lang="en-GB"/>
              <a:t>: Tailor it to your needs.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Performance</a:t>
            </a:r>
            <a:r>
              <a:rPr lang="en-GB"/>
              <a:t>: Runs efficiently on all hardware.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Security</a:t>
            </a:r>
            <a:r>
              <a:rPr lang="en-GB"/>
              <a:t>: Resilient against malware and viruses.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Community</a:t>
            </a:r>
            <a:r>
              <a:rPr lang="en-GB"/>
              <a:t>: Active global support.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of Linux</a:t>
            </a:r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Learning curve for beginners.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Software compatibility: Some proprietary software may not run.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Hardware drivers: Rare cases of unsupported hardware.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Linux is a versatile, secure, and open-source OS.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Powers much of today’s technology and infrastructure.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Encouragement: Start small, experiment with a lightweight distro.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“The Linux community is always there to support you.”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B426-5B7C-607E-D413-5D2C9495CC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11" y="1481328"/>
            <a:ext cx="3183323" cy="1967843"/>
          </a:xfrm>
        </p:spPr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8F65BD1-32AA-3181-1C5C-53DBDE46CBB2}"/>
              </a:ext>
            </a:extLst>
          </p:cNvPr>
          <p:cNvSpPr/>
          <p:nvPr/>
        </p:nvSpPr>
        <p:spPr>
          <a:xfrm>
            <a:off x="336177" y="2823883"/>
            <a:ext cx="4141694" cy="1062317"/>
          </a:xfrm>
          <a:prstGeom prst="rect">
            <a:avLst/>
          </a:prstGeom>
          <a:solidFill>
            <a:srgbClr val="FDFAF6"/>
          </a:solidFill>
          <a:ln>
            <a:solidFill>
              <a:srgbClr val="FDFAF6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Amel</a:t>
            </a:r>
            <a:r>
              <a:rPr lang="en-IN" sz="2100" dirty="0">
                <a:solidFill>
                  <a:schemeClr val="accent6">
                    <a:lumMod val="50000"/>
                  </a:schemeClr>
                </a:solidFill>
              </a:rPr>
              <a:t> Online &amp; Irene </a:t>
            </a:r>
            <a:r>
              <a:rPr lang="en-IN" sz="2100" dirty="0" err="1">
                <a:solidFill>
                  <a:schemeClr val="accent6">
                    <a:lumMod val="50000"/>
                  </a:schemeClr>
                </a:solidFill>
              </a:rPr>
              <a:t>magdalena</a:t>
            </a:r>
            <a:endParaRPr lang="en-IN" sz="21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81EA26-4B72-7D8B-E260-D37DFC59B38C}"/>
              </a:ext>
            </a:extLst>
          </p:cNvPr>
          <p:cNvSpPr/>
          <p:nvPr/>
        </p:nvSpPr>
        <p:spPr>
          <a:xfrm>
            <a:off x="7631206" y="1"/>
            <a:ext cx="1512794" cy="141194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50" dirty="0" err="1" smtClean="0">
                <a:solidFill>
                  <a:schemeClr val="bg1"/>
                </a:solidFill>
              </a:rPr>
              <a:t>Amel</a:t>
            </a:r>
            <a:r>
              <a:rPr lang="en-US" sz="1050" dirty="0" smtClean="0">
                <a:solidFill>
                  <a:schemeClr val="bg1"/>
                </a:solidFill>
              </a:rPr>
              <a:t> </a:t>
            </a:r>
            <a:r>
              <a:rPr lang="en-US" sz="1050" dirty="0" err="1" smtClean="0">
                <a:solidFill>
                  <a:schemeClr val="bg1"/>
                </a:solidFill>
              </a:rPr>
              <a:t>charoline</a:t>
            </a:r>
            <a:endParaRPr lang="en-US" sz="1050" dirty="0"/>
          </a:p>
        </p:txBody>
      </p:sp>
      <p:sp>
        <p:nvSpPr>
          <p:cNvPr id="5" name="Rectangle 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8" name="Rectangle 7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11" name="Rectangle 10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12" name="Rectangle 11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2"/>
              </a:rPr>
              <a:t>https://</a:t>
            </a:r>
            <a:r>
              <a:rPr lang="en-US" sz="600" dirty="0">
                <a:hlinkClick r:id="rId2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</p:spTree>
    <p:extLst>
      <p:ext uri="{BB962C8B-B14F-4D97-AF65-F5344CB8AC3E}">
        <p14:creationId xmlns:p14="http://schemas.microsoft.com/office/powerpoint/2010/main" val="90861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704</Words>
  <Application>Microsoft Office PowerPoint</Application>
  <PresentationFormat>On-screen Show (16:9)</PresentationFormat>
  <Paragraphs>117</Paragraphs>
  <Slides>16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Open Sans</vt:lpstr>
      <vt:lpstr>맑은 고딕</vt:lpstr>
      <vt:lpstr>PT Sans Narrow</vt:lpstr>
      <vt:lpstr>Space Mono</vt:lpstr>
      <vt:lpstr>Arial</vt:lpstr>
      <vt:lpstr>Tropic</vt:lpstr>
      <vt:lpstr>PowerPoint Presentation</vt:lpstr>
      <vt:lpstr>Introduction to Linux</vt:lpstr>
      <vt:lpstr>What is Linux?</vt:lpstr>
      <vt:lpstr>Brief History of Linux</vt:lpstr>
      <vt:lpstr>Core Features of Linux</vt:lpstr>
      <vt:lpstr>Linux Architecture</vt:lpstr>
      <vt:lpstr>Linux Distributions</vt:lpstr>
      <vt:lpstr>Why Choose Lightweight Linux Distros?</vt:lpstr>
      <vt:lpstr>Basic Linux Commands</vt:lpstr>
      <vt:lpstr>Real-World Applications of Linux</vt:lpstr>
      <vt:lpstr> Linux Desktop Environments</vt:lpstr>
      <vt:lpstr>Myths and Misconceptions</vt:lpstr>
      <vt:lpstr>Advantages of Linux</vt:lpstr>
      <vt:lpstr>Challenges of Linux</vt:lpstr>
      <vt:lpstr>Conclusion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2026-10-05T01:38:18Z</dcterms:modified>
</cp:coreProperties>
</file>