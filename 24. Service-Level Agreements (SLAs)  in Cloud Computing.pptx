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5143500" type="screen16x9"/>
  <p:notesSz cx="6858000" cy="9144000"/>
  <p:embeddedFontLst>
    <p:embeddedFont>
      <p:font typeface="Open Sans" panose="020B0604020202020204" charset="0"/>
      <p:regular r:id="rId19"/>
      <p:bold r:id="rId20"/>
      <p:italic r:id="rId21"/>
      <p:boldItalic r:id="rId22"/>
    </p:embeddedFont>
    <p:embeddedFont>
      <p:font typeface="맑은 고딕" panose="020B0503020000020004" pitchFamily="34" charset="-127"/>
      <p:regular r:id="rId23"/>
      <p:bold r:id="rId24"/>
    </p:embeddedFont>
    <p:embeddedFont>
      <p:font typeface="PT Sans Narrow" panose="020B0604020202020204" charset="0"/>
      <p:regular r:id="rId25"/>
      <p:bold r:id="rId26"/>
    </p:embeddedFon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l1VR9LF6403/m7iUK303ntUqi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74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6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16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16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16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16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16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16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16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2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23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90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lvl="0" algn="ctr">
              <a:buSzPts val="990"/>
            </a:pPr>
            <a:r>
              <a:rPr lang="en-US" dirty="0"/>
              <a:t>Service-Level Agreements (SLAs) </a:t>
            </a:r>
          </a:p>
          <a:p>
            <a:pPr lvl="0" algn="ctr">
              <a:buSzPts val="990"/>
            </a:pPr>
            <a:r>
              <a:rPr lang="en-US" dirty="0"/>
              <a:t>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84500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>
            <a:spLocks noGrp="1"/>
          </p:cNvSpPr>
          <p:nvPr>
            <p:ph type="ctrTitle"/>
          </p:nvPr>
        </p:nvSpPr>
        <p:spPr>
          <a:xfrm>
            <a:off x="402350" y="1404200"/>
            <a:ext cx="8407200" cy="13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160" dirty="0"/>
              <a:t>Service-Level Agreements (SLAs) </a:t>
            </a:r>
            <a:endParaRPr sz="416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160" dirty="0"/>
              <a:t>in Cloud Computing</a:t>
            </a:r>
            <a:endParaRPr sz="4160" dirty="0"/>
          </a:p>
        </p:txBody>
      </p:sp>
      <p:sp>
        <p:nvSpPr>
          <p:cNvPr id="67" name="Google Shape;67;p1"/>
          <p:cNvSpPr txBox="1">
            <a:spLocks noGrp="1"/>
          </p:cNvSpPr>
          <p:nvPr>
            <p:ph type="subTitle" idx="1"/>
          </p:nvPr>
        </p:nvSpPr>
        <p:spPr>
          <a:xfrm>
            <a:off x="2137225" y="2850050"/>
            <a:ext cx="5168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Ensuring Accountability and Performance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What is an SLA?</a:t>
            </a:r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4054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Formal agreement between a cloud service provider (CSP) and a customer.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-GB">
                <a:highlight>
                  <a:schemeClr val="lt1"/>
                </a:highlight>
              </a:rPr>
              <a:t>Defines measurable metrics like </a:t>
            </a:r>
            <a:r>
              <a:rPr lang="en-GB" b="1">
                <a:highlight>
                  <a:schemeClr val="lt1"/>
                </a:highlight>
              </a:rPr>
              <a:t>uptime</a:t>
            </a:r>
            <a:r>
              <a:rPr lang="en-GB">
                <a:highlight>
                  <a:schemeClr val="lt1"/>
                </a:highlight>
              </a:rPr>
              <a:t>, </a:t>
            </a:r>
            <a:r>
              <a:rPr lang="en-GB" b="1">
                <a:highlight>
                  <a:schemeClr val="lt1"/>
                </a:highlight>
              </a:rPr>
              <a:t>response time</a:t>
            </a:r>
            <a:r>
              <a:rPr lang="en-GB">
                <a:highlight>
                  <a:schemeClr val="lt1"/>
                </a:highlight>
              </a:rPr>
              <a:t>, and </a:t>
            </a:r>
            <a:r>
              <a:rPr lang="en-GB" b="1">
                <a:highlight>
                  <a:schemeClr val="lt1"/>
                </a:highlight>
              </a:rPr>
              <a:t>support</a:t>
            </a:r>
            <a:r>
              <a:rPr lang="en-GB">
                <a:highlight>
                  <a:schemeClr val="lt1"/>
                </a:highlight>
              </a:rPr>
              <a:t>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Legally binding document to ensure accountability.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chemeClr val="lt1"/>
              </a:highlight>
            </a:endParaRPr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6225" y="1062425"/>
            <a:ext cx="3122100" cy="2817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Key Components of an SLA</a:t>
            </a:r>
            <a:endParaRPr/>
          </a:p>
        </p:txBody>
      </p:sp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AutoNum type="arabicPeriod"/>
            </a:pPr>
            <a:r>
              <a:rPr lang="en-GB" b="1">
                <a:highlight>
                  <a:schemeClr val="lt1"/>
                </a:highlight>
              </a:rPr>
              <a:t>Service Scope</a:t>
            </a:r>
            <a:r>
              <a:rPr lang="en-GB">
                <a:highlight>
                  <a:schemeClr val="lt1"/>
                </a:highlight>
              </a:rPr>
              <a:t>: What services are covered?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AutoNum type="arabicPeriod"/>
            </a:pPr>
            <a:r>
              <a:rPr lang="en-GB" b="1">
                <a:highlight>
                  <a:schemeClr val="lt1"/>
                </a:highlight>
              </a:rPr>
              <a:t>Performance Metrics</a:t>
            </a:r>
            <a:r>
              <a:rPr lang="en-GB">
                <a:highlight>
                  <a:schemeClr val="lt1"/>
                </a:highlight>
              </a:rPr>
              <a:t>: Uptime (e.g., 99.9%), latency, etc.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AutoNum type="arabicPeriod"/>
            </a:pPr>
            <a:r>
              <a:rPr lang="en-GB" b="1">
                <a:highlight>
                  <a:schemeClr val="lt1"/>
                </a:highlight>
              </a:rPr>
              <a:t>Responsibilities</a:t>
            </a:r>
            <a:r>
              <a:rPr lang="en-GB">
                <a:highlight>
                  <a:schemeClr val="lt1"/>
                </a:highlight>
              </a:rPr>
              <a:t>: Roles of CSP vs. customer.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AutoNum type="arabicPeriod"/>
            </a:pPr>
            <a:r>
              <a:rPr lang="en-GB" b="1">
                <a:highlight>
                  <a:schemeClr val="lt1"/>
                </a:highlight>
              </a:rPr>
              <a:t>Penalties</a:t>
            </a:r>
            <a:r>
              <a:rPr lang="en-GB">
                <a:highlight>
                  <a:schemeClr val="lt1"/>
                </a:highlight>
              </a:rPr>
              <a:t>: Credits/refunds for unmet metrics.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AutoNum type="arabicPeriod"/>
            </a:pPr>
            <a:r>
              <a:rPr lang="en-GB" b="1">
                <a:highlight>
                  <a:schemeClr val="lt1"/>
                </a:highlight>
              </a:rPr>
              <a:t>Exclusions</a:t>
            </a:r>
            <a:r>
              <a:rPr lang="en-GB">
                <a:highlight>
                  <a:schemeClr val="lt1"/>
                </a:highlight>
              </a:rPr>
              <a:t>: Situations where SLA doesn’t apply (e.g., outages due to customer error).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Types of Cloud SLAs</a:t>
            </a: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Standard SLA</a:t>
            </a:r>
            <a:r>
              <a:rPr lang="en-GB">
                <a:highlight>
                  <a:schemeClr val="lt1"/>
                </a:highlight>
              </a:rPr>
              <a:t>: Predefined terms for all customers (e.g., public cloud providers).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Custom SLA</a:t>
            </a:r>
            <a:r>
              <a:rPr lang="en-GB">
                <a:highlight>
                  <a:schemeClr val="lt1"/>
                </a:highlight>
              </a:rPr>
              <a:t>: Tailored for enterprise clients with specific needs.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Multi-tier SLA</a:t>
            </a:r>
            <a:r>
              <a:rPr lang="en-GB">
                <a:highlight>
                  <a:schemeClr val="lt1"/>
                </a:highlight>
              </a:rPr>
              <a:t>: Different levels for different services (e.g., storage vs. compute).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Importance of SLAs in Cloud Computing</a:t>
            </a:r>
            <a:endParaRPr/>
          </a:p>
        </p:txBody>
      </p:sp>
      <p:sp>
        <p:nvSpPr>
          <p:cNvPr id="92" name="Google Shape;92;p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>
                <a:highlight>
                  <a:schemeClr val="lt1"/>
                </a:highlight>
              </a:rPr>
              <a:t>Ensures </a:t>
            </a:r>
            <a:r>
              <a:rPr lang="en-GB" b="1">
                <a:highlight>
                  <a:schemeClr val="lt1"/>
                </a:highlight>
              </a:rPr>
              <a:t>transparency</a:t>
            </a:r>
            <a:r>
              <a:rPr lang="en-GB">
                <a:highlight>
                  <a:schemeClr val="lt1"/>
                </a:highlight>
              </a:rPr>
              <a:t> between CSP and customer.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Minimizes downtime risks with uptime guarantees.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Provides legal recourse for breaches.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Builds trust in cloud adoption.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Common SLA Metrics</a:t>
            </a:r>
            <a:endParaRPr/>
          </a:p>
        </p:txBody>
      </p:sp>
      <p:sp>
        <p:nvSpPr>
          <p:cNvPr id="98" name="Google Shape;98;p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Uptime</a:t>
            </a:r>
            <a:r>
              <a:rPr lang="en-GB">
                <a:highlight>
                  <a:schemeClr val="lt1"/>
                </a:highlight>
              </a:rPr>
              <a:t>: e.g., 99.9% ("three nines") = ~8.76 hours downtime/year.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Response Time</a:t>
            </a:r>
            <a:r>
              <a:rPr lang="en-GB">
                <a:highlight>
                  <a:schemeClr val="lt1"/>
                </a:highlight>
              </a:rPr>
              <a:t>: Time to address support tickets.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Data Availability</a:t>
            </a:r>
            <a:r>
              <a:rPr lang="en-GB">
                <a:highlight>
                  <a:schemeClr val="lt1"/>
                </a:highlight>
              </a:rPr>
              <a:t>: Redundancy and backup guarantees.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Security</a:t>
            </a:r>
            <a:r>
              <a:rPr lang="en-GB">
                <a:highlight>
                  <a:schemeClr val="lt1"/>
                </a:highlight>
              </a:rPr>
              <a:t>: Compliance certifications (e.g., ISO 27001).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Calculate the allowable downtime</a:t>
            </a:r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>
                <a:highlight>
                  <a:schemeClr val="lt1"/>
                </a:highlight>
              </a:rPr>
              <a:t>Determine Total Time in Desired Period</a:t>
            </a:r>
            <a:br>
              <a:rPr lang="en-GB" b="1">
                <a:highlight>
                  <a:schemeClr val="lt1"/>
                </a:highlight>
              </a:rPr>
            </a:br>
            <a:r>
              <a:rPr lang="en-GB">
                <a:highlight>
                  <a:schemeClr val="lt1"/>
                </a:highlight>
              </a:rPr>
              <a:t>For a year:</a:t>
            </a:r>
            <a:br>
              <a:rPr lang="en-GB">
                <a:highlight>
                  <a:schemeClr val="lt1"/>
                </a:highlight>
              </a:rPr>
            </a:br>
            <a:r>
              <a:rPr lang="en-GB">
                <a:highlight>
                  <a:schemeClr val="lt1"/>
                </a:highlight>
              </a:rPr>
              <a:t>365 days/year×24 hours/day=8760 hours/year.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Convert Uptime Percentage to Downtime Fraction</a:t>
            </a:r>
            <a:br>
              <a:rPr lang="en-GB" b="1">
                <a:highlight>
                  <a:schemeClr val="lt1"/>
                </a:highlight>
              </a:rPr>
            </a:br>
            <a:r>
              <a:rPr lang="en-GB">
                <a:highlight>
                  <a:schemeClr val="lt1"/>
                </a:highlight>
              </a:rPr>
              <a:t>Example for 99.9% uptime:</a:t>
            </a:r>
            <a:endParaRPr>
              <a:highlight>
                <a:schemeClr val="lt1"/>
              </a:highlight>
            </a:endParaRPr>
          </a:p>
          <a:p>
            <a:pPr marL="9144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-GB">
                <a:highlight>
                  <a:schemeClr val="lt1"/>
                </a:highlight>
              </a:rPr>
              <a:t>1−0.999=0.001 (or 0.1%).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Calculate Downtime Duration</a:t>
            </a:r>
            <a:br>
              <a:rPr lang="en-GB" b="1">
                <a:highlight>
                  <a:schemeClr val="lt1"/>
                </a:highlight>
              </a:rPr>
            </a:br>
            <a:r>
              <a:rPr lang="en-GB">
                <a:highlight>
                  <a:schemeClr val="lt1"/>
                </a:highlight>
              </a:rPr>
              <a:t>Multiply downtime fraction by total time:</a:t>
            </a:r>
            <a:endParaRPr>
              <a:highlight>
                <a:schemeClr val="lt1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-GB">
                <a:highlight>
                  <a:schemeClr val="lt1"/>
                </a:highlight>
              </a:rPr>
              <a:t>0.001×8760 hours=8.76 hours/year.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General Formula: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10" name="Google Shape;110;p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-GB" b="1">
                <a:highlight>
                  <a:srgbClr val="FFF2CC"/>
                </a:highlight>
              </a:rPr>
              <a:t>Downtime=(1−Uptime Percentage)×Total Time in Period</a:t>
            </a:r>
            <a:endParaRPr b="1">
              <a:highlight>
                <a:srgbClr val="FFF2CC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-GB" b="1"/>
              <a:t>Examples for Common Uptime SLAs:</a:t>
            </a:r>
            <a:endParaRPr b="1"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>
                <a:highlight>
                  <a:srgbClr val="FCE5CD"/>
                </a:highlight>
              </a:rPr>
              <a:t>Uptime (%)		Downtime per Year	Downtime per Month (30 days)</a:t>
            </a:r>
            <a:endParaRPr>
              <a:highlight>
                <a:srgbClr val="FCE5CD"/>
              </a:highlight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99.9%			~8.76 hours			~43.8 minutes</a:t>
            </a:r>
            <a:endParaRPr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99.99%			~52.56 minutes		~4.38 minutes</a:t>
            </a:r>
            <a:endParaRPr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99.999%			~5.26 minutes		~26.3 seconds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Challenges with SLAs</a:t>
            </a:r>
            <a:endParaRPr/>
          </a:p>
        </p:txBody>
      </p:sp>
      <p:sp>
        <p:nvSpPr>
          <p:cNvPr id="116" name="Google Shape;116;p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Complexity</a:t>
            </a:r>
            <a:r>
              <a:rPr lang="en-GB">
                <a:highlight>
                  <a:schemeClr val="lt1"/>
                </a:highlight>
              </a:rPr>
              <a:t>: Hard to measure metrics like performance.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Vagueness</a:t>
            </a:r>
            <a:r>
              <a:rPr lang="en-GB">
                <a:highlight>
                  <a:schemeClr val="lt1"/>
                </a:highlight>
              </a:rPr>
              <a:t>: Ambiguous terms (e.g., "best effort").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Multi-tenancy</a:t>
            </a:r>
            <a:r>
              <a:rPr lang="en-GB">
                <a:highlight>
                  <a:schemeClr val="lt1"/>
                </a:highlight>
              </a:rPr>
              <a:t>: Shared resources may impact performance.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Enforcement</a:t>
            </a:r>
            <a:r>
              <a:rPr lang="en-GB">
                <a:highlight>
                  <a:schemeClr val="lt1"/>
                </a:highlight>
              </a:rPr>
              <a:t>: Difficulty claiming penalties.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Best Practices for SLAs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22" name="Google Shape;122;p1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Negotiate clear, measurable metrics.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Understand exclusions (e.g., maintenance windows).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Monitor compliance with third-party tools.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Review and update SLAs as needs evolve.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Real-World Example</a:t>
            </a:r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AWS EC2 SLA: 99.99% uptime for Enterprise Support.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Azure: Credits for downtime exceeding SLA thresholds.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Google Cloud: Tiered SLAs for different services.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Sample Question</a:t>
            </a:r>
            <a:endParaRPr/>
          </a:p>
        </p:txBody>
      </p:sp>
      <p:sp>
        <p:nvSpPr>
          <p:cNvPr id="134" name="Google Shape;134;p12"/>
          <p:cNvSpPr txBox="1">
            <a:spLocks noGrp="1"/>
          </p:cNvSpPr>
          <p:nvPr>
            <p:ph type="body" idx="1"/>
          </p:nvPr>
        </p:nvSpPr>
        <p:spPr>
          <a:xfrm>
            <a:off x="311700" y="1235650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Kloud 360, a company uses a cloud provider with a 99.95% uptime SLA. Last year, the service was down for 4 hours due to a server failure and 1 hour during scheduled maintenance.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romanUcPeriod"/>
            </a:pPr>
            <a:r>
              <a:rPr lang="en-GB">
                <a:highlight>
                  <a:schemeClr val="lt1"/>
                </a:highlight>
              </a:rPr>
              <a:t>What is SLA? Difference between a standard SLA and a custom SLA?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UcPeriod"/>
            </a:pPr>
            <a:r>
              <a:rPr lang="en-GB">
                <a:highlight>
                  <a:schemeClr val="lt1"/>
                </a:highlight>
              </a:rPr>
              <a:t>Did the provider breach the SLA?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UcPeriod"/>
            </a:pPr>
            <a:r>
              <a:rPr lang="en-GB">
                <a:highlight>
                  <a:schemeClr val="lt1"/>
                </a:highlight>
              </a:rPr>
              <a:t>What recourse does Company </a:t>
            </a:r>
            <a:r>
              <a:rPr lang="en-GB"/>
              <a:t>Kloud 360</a:t>
            </a:r>
            <a:r>
              <a:rPr lang="en-GB">
                <a:highlight>
                  <a:schemeClr val="lt1"/>
                </a:highlight>
              </a:rPr>
              <a:t> have if the SLA was breached?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pic>
        <p:nvPicPr>
          <p:cNvPr id="141" name="Google Shape;14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SLAs are critical for defining expectations in cloud services.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Focus on metrics, penalties, and clarity.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Always review and monitor SLAs actively.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38856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549</Words>
  <Application>Microsoft Office PowerPoint</Application>
  <PresentationFormat>On-screen Show (16:9)</PresentationFormat>
  <Paragraphs>91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Open Sans</vt:lpstr>
      <vt:lpstr>맑은 고딕</vt:lpstr>
      <vt:lpstr>PT Sans Narrow</vt:lpstr>
      <vt:lpstr>Inter</vt:lpstr>
      <vt:lpstr>Roboto</vt:lpstr>
      <vt:lpstr>Arial</vt:lpstr>
      <vt:lpstr>Tropic</vt:lpstr>
      <vt:lpstr>PowerPoint Presentation</vt:lpstr>
      <vt:lpstr>Service-Level Agreements (SLAs)  in Cloud Computing</vt:lpstr>
      <vt:lpstr>What is an SLA?</vt:lpstr>
      <vt:lpstr>Key Components of an SLA</vt:lpstr>
      <vt:lpstr>Types of Cloud SLAs</vt:lpstr>
      <vt:lpstr>Importance of SLAs in Cloud Computing</vt:lpstr>
      <vt:lpstr>Common SLA Metrics</vt:lpstr>
      <vt:lpstr>Calculate the allowable downtime</vt:lpstr>
      <vt:lpstr>General Formula: </vt:lpstr>
      <vt:lpstr>Challenges with SLAs</vt:lpstr>
      <vt:lpstr>Best Practices for SLAs </vt:lpstr>
      <vt:lpstr>Real-World Example</vt:lpstr>
      <vt:lpstr>Sample Question</vt:lpstr>
      <vt:lpstr>PowerPoint Presentation</vt:lpstr>
      <vt:lpstr>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2026-10-05T01:27:09Z</dcterms:modified>
</cp:coreProperties>
</file>