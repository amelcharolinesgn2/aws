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</p:sldIdLst>
  <p:sldSz cx="9144000" cy="5143500" type="screen16x9"/>
  <p:notesSz cx="6858000" cy="9144000"/>
  <p:embeddedFontLst>
    <p:embeddedFont>
      <p:font typeface="Open Sans" panose="020B0604020202020204" charset="0"/>
      <p:regular r:id="rId19"/>
      <p:bold r:id="rId20"/>
      <p:italic r:id="rId21"/>
      <p:boldItalic r:id="rId22"/>
    </p:embeddedFont>
    <p:embeddedFont>
      <p:font typeface="맑은 고딕" panose="020B0503020000020004" pitchFamily="34" charset="-127"/>
      <p:regular r:id="rId23"/>
      <p:bold r:id="rId24"/>
    </p:embeddedFont>
    <p:embeddedFont>
      <p:font typeface="PT Sans Narrow" panose="020B0604020202020204" charset="0"/>
      <p:regular r:id="rId25"/>
      <p:bold r:id="rId26"/>
    </p:embeddedFont>
    <p:embeddedFont>
      <p:font typeface="Inter" panose="020B0604020202020204" charset="0"/>
      <p:regular r:id="rId27"/>
      <p:bold r:id="rId28"/>
      <p:italic r:id="rId29"/>
      <p:boldItalic r:id="rId30"/>
    </p:embeddedFont>
    <p:embeddedFont>
      <p:font typeface="Roboto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02" y="5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06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12119878f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12119878f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12119878f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312119878f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12119878f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12119878f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12119878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12119878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312119878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312119878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12119878f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12119878f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312119878f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312119878f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312119878f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312119878f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312119878f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312119878f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12119878f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312119878f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12119878f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312119878f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12119878f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12119878f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312119878f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312119878f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56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044358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/>
            <a:r>
              <a:rPr lang="en-GB" dirty="0"/>
              <a:t>CI/CD: Streamlining Software Delivery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919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534925" y="1751775"/>
            <a:ext cx="81075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460" dirty="0"/>
              <a:t>CI/CD: Streamlining Software Delivery</a:t>
            </a:r>
            <a:endParaRPr sz="4460"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Code to Production with Speed and Confidence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575" y="152400"/>
            <a:ext cx="690321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CI/CD? (Overview)</a:t>
            </a:r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5590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-GB">
                <a:highlight>
                  <a:schemeClr val="lt1"/>
                </a:highlight>
              </a:rPr>
              <a:t>CI = </a:t>
            </a:r>
            <a:r>
              <a:rPr lang="en-GB" b="1">
                <a:highlight>
                  <a:schemeClr val="lt1"/>
                </a:highlight>
              </a:rPr>
              <a:t>Continuous Integration</a:t>
            </a:r>
            <a:r>
              <a:rPr lang="en-GB">
                <a:highlight>
                  <a:schemeClr val="lt1"/>
                </a:highlight>
              </a:rPr>
              <a:t>: Frequent code merges + automated testing.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-GB">
                <a:highlight>
                  <a:schemeClr val="lt1"/>
                </a:highlight>
              </a:rPr>
              <a:t>CD = </a:t>
            </a:r>
            <a:r>
              <a:rPr lang="en-GB" b="1">
                <a:highlight>
                  <a:schemeClr val="lt1"/>
                </a:highlight>
              </a:rPr>
              <a:t>Continuous Delivery</a:t>
            </a:r>
            <a:r>
              <a:rPr lang="en-GB">
                <a:highlight>
                  <a:schemeClr val="lt1"/>
                </a:highlight>
              </a:rPr>
              <a:t> (auto-release to staging) </a:t>
            </a:r>
            <a:r>
              <a:rPr lang="en-GB" b="1">
                <a:highlight>
                  <a:schemeClr val="lt1"/>
                </a:highlight>
              </a:rPr>
              <a:t>or Deployment</a:t>
            </a:r>
            <a:r>
              <a:rPr lang="en-GB">
                <a:highlight>
                  <a:schemeClr val="lt1"/>
                </a:highlight>
              </a:rPr>
              <a:t> (auto-release to production).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Goal: Faster, reliable software releases.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highlight>
                <a:schemeClr val="lt1"/>
              </a:highlight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3250" y="1304825"/>
            <a:ext cx="2998351" cy="195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03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311700" y="50975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Continuous Integration (CI)</a:t>
            </a:r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311700" y="1331050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</a:pPr>
            <a:r>
              <a:rPr lang="en-GB">
                <a:highlight>
                  <a:schemeClr val="lt1"/>
                </a:highlight>
              </a:rPr>
              <a:t>Developers merge code to a shared repo </a:t>
            </a:r>
            <a:r>
              <a:rPr lang="en-GB" b="1">
                <a:highlight>
                  <a:schemeClr val="lt1"/>
                </a:highlight>
              </a:rPr>
              <a:t>multiple times a day</a:t>
            </a:r>
            <a:r>
              <a:rPr lang="en-GB">
                <a:highlight>
                  <a:schemeClr val="lt1"/>
                </a:highlight>
              </a:rPr>
              <a:t>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Automated build and test workflows catch bugs early.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Tools: Jenkins, GitLab CI, CircleCI.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Continuous Integration (CI)</a:t>
            </a:r>
            <a:endParaRPr dirty="0"/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437" y="279180"/>
            <a:ext cx="7620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Continuous Delivery vs. Deployment (CD)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</a:pPr>
            <a:r>
              <a:rPr lang="en-GB" b="1">
                <a:highlight>
                  <a:schemeClr val="lt1"/>
                </a:highlight>
              </a:rPr>
              <a:t>Delivery</a:t>
            </a:r>
            <a:r>
              <a:rPr lang="en-GB">
                <a:highlight>
                  <a:schemeClr val="lt1"/>
                </a:highlight>
              </a:rPr>
              <a:t>: Automatically deploys to staging for manual approval.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</a:pPr>
            <a:r>
              <a:rPr lang="en-GB" b="1">
                <a:highlight>
                  <a:schemeClr val="lt1"/>
                </a:highlight>
              </a:rPr>
              <a:t>Deployment</a:t>
            </a:r>
            <a:r>
              <a:rPr lang="en-GB">
                <a:highlight>
                  <a:schemeClr val="lt1"/>
                </a:highlight>
              </a:rPr>
              <a:t>: Automatically deploys to production (no human intervention).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Example: Netflix uses CD to deploy 1,000+ times/day.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Components of CI/CD</a:t>
            </a:r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311700" y="1014175"/>
            <a:ext cx="8650800" cy="197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Source Code Repo (e.g., GitHub).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Build Server (e.g., Jenkins).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Testing Frameworks (e.g., Selenium).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Deployment Tools (e.g., Kubernetes).</a:t>
            </a:r>
            <a:br>
              <a:rPr lang="en-GB"/>
            </a:br>
            <a:r>
              <a:rPr lang="en-GB" sz="1500" b="1"/>
              <a:t>Code commit → 2. Build → 3. Test → 4. Deploy to Staging → 5. Deploy to Production.</a:t>
            </a:r>
            <a:endParaRPr sz="1500" b="1"/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900" y="2786900"/>
            <a:ext cx="7684600" cy="222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Benefits of CI/CD</a:t>
            </a:r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Faster releases.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Fewer bugs in production.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Better team collaboration.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Scalability for large projects.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 &amp; Pitfalls</a:t>
            </a:r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Complexity in setup.</a:t>
            </a:r>
            <a:endParaRPr u="sng"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Cultural resistance to automation.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Security risks in automated pipelines.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Popular CI/CD Tools</a:t>
            </a:r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CI/CD Platforms: GitLab, GitHub Actions.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Automation: Jenkins, Travis CI.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Deployment: Docker, AWS CodeDeploy.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Best Practices</a:t>
            </a:r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Automate everything.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Test in production-like environments.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Monitor pipelines for bottlenecks.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of CI/CD</a:t>
            </a:r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AI-driven test optimization.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GitOps (infrastructure as code).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Serverless CI/CD pipelines.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148" name="Google Shape;148;p2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CI/CD = Faster, safer, collaborative software delivery.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Start small, iterate, and invest in automation.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1EA26-4B72-7D8B-E260-D37DFC59B38C}"/>
              </a:ext>
            </a:extLst>
          </p:cNvPr>
          <p:cNvSpPr/>
          <p:nvPr/>
        </p:nvSpPr>
        <p:spPr>
          <a:xfrm>
            <a:off x="7631206" y="1"/>
            <a:ext cx="1512794" cy="141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err="1" smtClean="0">
                <a:solidFill>
                  <a:schemeClr val="bg1"/>
                </a:solidFill>
              </a:rPr>
              <a:t>Amel</a:t>
            </a:r>
            <a:r>
              <a:rPr lang="en-US" sz="1050" dirty="0" smtClean="0">
                <a:solidFill>
                  <a:schemeClr val="bg1"/>
                </a:solidFill>
              </a:rPr>
              <a:t> </a:t>
            </a:r>
            <a:r>
              <a:rPr lang="en-US" sz="1050" dirty="0" err="1" smtClean="0">
                <a:solidFill>
                  <a:schemeClr val="bg1"/>
                </a:solidFill>
              </a:rPr>
              <a:t>charoline</a:t>
            </a:r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341779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366</Words>
  <Application>Microsoft Office PowerPoint</Application>
  <PresentationFormat>On-screen Show (16:9)</PresentationFormat>
  <Paragraphs>71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Open Sans</vt:lpstr>
      <vt:lpstr>맑은 고딕</vt:lpstr>
      <vt:lpstr>PT Sans Narrow</vt:lpstr>
      <vt:lpstr>Inter</vt:lpstr>
      <vt:lpstr>Roboto</vt:lpstr>
      <vt:lpstr>Arial</vt:lpstr>
      <vt:lpstr>Tropic</vt:lpstr>
      <vt:lpstr>PowerPoint Presentation</vt:lpstr>
      <vt:lpstr>CI/CD: Streamlining Software Delivery</vt:lpstr>
      <vt:lpstr>PowerPoint Presentation</vt:lpstr>
      <vt:lpstr>What is CI/CD? (Overview)</vt:lpstr>
      <vt:lpstr>PowerPoint Presentation</vt:lpstr>
      <vt:lpstr>Continuous Integration (CI)</vt:lpstr>
      <vt:lpstr>Continuous Integration (CI)</vt:lpstr>
      <vt:lpstr>Continuous Delivery vs. Deployment (CD) </vt:lpstr>
      <vt:lpstr>Key Components of CI/CD</vt:lpstr>
      <vt:lpstr>Benefits of CI/CD</vt:lpstr>
      <vt:lpstr>Challenges &amp; Pitfalls</vt:lpstr>
      <vt:lpstr>Popular CI/CD Tools</vt:lpstr>
      <vt:lpstr>Best Practices</vt:lpstr>
      <vt:lpstr>Future of CI/CD</vt:lpstr>
      <vt:lpstr>Conclusion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2</cp:revision>
  <dcterms:modified xsi:type="dcterms:W3CDTF">2026-10-05T01:28:36Z</dcterms:modified>
</cp:coreProperties>
</file>