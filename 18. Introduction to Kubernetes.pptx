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7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</p:sldIdLst>
  <p:sldSz cx="9144000" cy="5143500" type="screen16x9"/>
  <p:notesSz cx="6858000" cy="9144000"/>
  <p:embeddedFontLst>
    <p:embeddedFont>
      <p:font typeface="Open Sans" panose="020B0604020202020204" charset="0"/>
      <p:regular r:id="rId19"/>
      <p:bold r:id="rId20"/>
      <p:italic r:id="rId21"/>
      <p:boldItalic r:id="rId22"/>
    </p:embeddedFont>
    <p:embeddedFont>
      <p:font typeface="맑은 고딕" panose="020B0503020000020004" pitchFamily="34" charset="-127"/>
      <p:regular r:id="rId23"/>
      <p:bold r:id="rId24"/>
    </p:embeddedFont>
    <p:embeddedFont>
      <p:font typeface="PT Sans Narrow" panose="020B0604020202020204" charset="0"/>
      <p:regular r:id="rId25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4" d="100"/>
          <a:sy n="144" d="100"/>
        </p:scale>
        <p:origin x="654" y="1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Lab Session 01: AWS Compute Foundations – EC2, Networking, and Application Deployment	Lab Session 02: Identity and Access Control with IAM	Lab Session 03: Cloud Storage Solutions – S3, EBS, and EFS	Lab Session 04: Database Services – RDS, </a:t>
            </a:r>
            <a:r>
              <a:rPr lang="en-US" dirty="0" err="1" smtClean="0"/>
              <a:t>DynamoDB</a:t>
            </a:r>
            <a:r>
              <a:rPr lang="en-US" dirty="0" smtClean="0"/>
              <a:t>, and </a:t>
            </a:r>
            <a:r>
              <a:rPr lang="en-US" dirty="0" err="1" smtClean="0"/>
              <a:t>ElastiCache</a:t>
            </a:r>
            <a:r>
              <a:rPr lang="en-US" dirty="0" smtClean="0"/>
              <a:t>	Lab Session 05: Load Balancing and Auto Scaling	Lab Session 06: Container Orchestration with ECS, </a:t>
            </a:r>
            <a:r>
              <a:rPr lang="en-US" dirty="0" err="1" smtClean="0"/>
              <a:t>Fargate</a:t>
            </a:r>
            <a:r>
              <a:rPr lang="en-US" dirty="0" smtClean="0"/>
              <a:t>, and EKS	Lab Session 07: </a:t>
            </a:r>
            <a:r>
              <a:rPr lang="en-US" dirty="0" err="1" smtClean="0"/>
              <a:t>Serverless</a:t>
            </a:r>
            <a:r>
              <a:rPr lang="en-US" dirty="0" smtClean="0"/>
              <a:t> Computing with Lambda	Lab Session 08: Monitoring, Logging, and Security Auditing	Lab Session 09: Infrastructure as Code – </a:t>
            </a:r>
            <a:r>
              <a:rPr lang="en-US" dirty="0" err="1" smtClean="0"/>
              <a:t>CloudFormation</a:t>
            </a:r>
            <a:r>
              <a:rPr lang="en-US" dirty="0" smtClean="0"/>
              <a:t>, CDK, and Terraform	Lab Session 10: CI/CD Pipelines – App Runner, </a:t>
            </a:r>
            <a:r>
              <a:rPr lang="en-US" dirty="0" err="1" smtClean="0"/>
              <a:t>CodePipeline</a:t>
            </a:r>
            <a:r>
              <a:rPr lang="en-US" dirty="0" smtClean="0"/>
              <a:t>, GitHub Actions, and </a:t>
            </a:r>
            <a:r>
              <a:rPr lang="en-US" dirty="0" err="1" smtClean="0"/>
              <a:t>CodeDeploy</a:t>
            </a:r>
            <a:r>
              <a:rPr lang="en-US" dirty="0" smtClean="0"/>
              <a:t>	Lab Session 11: AI/ML Services – </a:t>
            </a:r>
            <a:r>
              <a:rPr lang="en-US" dirty="0" err="1" smtClean="0"/>
              <a:t>Rekognition</a:t>
            </a:r>
            <a:r>
              <a:rPr lang="en-US" dirty="0" smtClean="0"/>
              <a:t>, Comprehend, Translate, and </a:t>
            </a:r>
            <a:r>
              <a:rPr lang="en-US" dirty="0" err="1" smtClean="0"/>
              <a:t>SageMaker</a:t>
            </a:r>
            <a:r>
              <a:rPr lang="en-US" dirty="0" smtClean="0"/>
              <a:t>	Lab Session 12: Hybrid Cloud Networking – VPC Peering, Transit Gateway, VPN, and Direct Connect	Lab Session 13: Security and Compliance – AWS </a:t>
            </a:r>
            <a:r>
              <a:rPr lang="en-US" dirty="0" err="1" smtClean="0"/>
              <a:t>Config</a:t>
            </a:r>
            <a:r>
              <a:rPr lang="en-US" dirty="0" smtClean="0"/>
              <a:t>, </a:t>
            </a:r>
            <a:r>
              <a:rPr lang="en-US" dirty="0" err="1" smtClean="0"/>
              <a:t>GuardDuty</a:t>
            </a:r>
            <a:r>
              <a:rPr lang="en-US" dirty="0" smtClean="0"/>
              <a:t>, Security Hub, and KMS	Lab Session 14: Disaster Recovery and Business Continuity – AWS Backup, Multi-Region, and Failover	Lab Session 15: Migration and Modernization – </a:t>
            </a:r>
            <a:r>
              <a:rPr lang="en-US" dirty="0" err="1" smtClean="0"/>
              <a:t>DataSync</a:t>
            </a:r>
            <a:r>
              <a:rPr lang="en-US" dirty="0" smtClean="0"/>
              <a:t>, DMS, MGN, Containers, and </a:t>
            </a:r>
            <a:r>
              <a:rPr lang="en-US" dirty="0" err="1" smtClean="0"/>
              <a:t>Serverless</a:t>
            </a:r>
            <a:r>
              <a:rPr lang="en-US" dirty="0" smtClean="0"/>
              <a:t>	</a:t>
            </a:r>
          </a:p>
          <a:p>
            <a:endParaRPr lang="en-US" dirty="0" smtClean="0"/>
          </a:p>
          <a:p>
            <a:r>
              <a:rPr lang="en-US" dirty="0" smtClean="0"/>
              <a:t>Lab Session 16: Cost Management and Optimization – Cost Explorer, Trusted Advisor, Budgets, and Well-Architected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https://www.youtube.com/watch?v=SOTamWNgDKc&amp;t=19604s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31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e9d7f703f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e9d7f703f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2e9d7f703f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2e9d7f703f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2e9d7f703f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2e9d7f703f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2e9d7f703f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2e9d7f703f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2e9d7f703f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2e9d7f703f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2e9d7f703f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2e9d7f703f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2e9d7f703f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2e9d7f703f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2e9d7f703f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2e9d7f703f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2e9d7f703f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2e9d7f703f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2e9d7f703f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2e9d7f703f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2e9d7f703f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2e9d7f703f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2e9d7f703f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2e9d7f703f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2e9d7f703f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2e9d7f703f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004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melcharolinesgn2/AWS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melcharolinesgn2/AWS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9919" y="1"/>
            <a:ext cx="3979069" cy="2536031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277816" y="1346868"/>
            <a:ext cx="3603272" cy="1447266"/>
            <a:chOff x="89638" y="359621"/>
            <a:chExt cx="4804363" cy="192968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5105" y="1881965"/>
              <a:ext cx="3104181" cy="263526"/>
            </a:xfrm>
            <a:prstGeom prst="rect">
              <a:avLst/>
            </a:prstGeom>
          </p:spPr>
        </p:pic>
        <p:sp>
          <p:nvSpPr>
            <p:cNvPr id="1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89638" y="1389204"/>
              <a:ext cx="4804363" cy="900105"/>
            </a:xfrm>
            <a:prstGeom prst="rect">
              <a:avLst/>
            </a:prstGeom>
          </p:spPr>
          <p:txBody>
            <a:bodyPr vert="horz" lIns="68580" tIns="34290" rIns="68580" bIns="3429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3000" dirty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sz="3000" dirty="0">
                  <a:solidFill>
                    <a:srgbClr val="00B0F0"/>
                  </a:solidFill>
                </a:rPr>
                <a:t>Vision</a:t>
              </a:r>
              <a:endParaRPr lang="en-US" sz="3000" dirty="0">
                <a:solidFill>
                  <a:srgbClr val="00B0F0"/>
                </a:solidFill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176068" y="503243"/>
              <a:ext cx="1334145" cy="620384"/>
              <a:chOff x="7439031" y="1585639"/>
              <a:chExt cx="2143740" cy="996849"/>
            </a:xfrm>
            <a:solidFill>
              <a:schemeClr val="accent6"/>
            </a:solidFill>
          </p:grpSpPr>
          <p:sp>
            <p:nvSpPr>
              <p:cNvPr id="17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439031" y="1585639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800" dirty="0"/>
              </a:p>
            </p:txBody>
          </p:sp>
          <p:sp>
            <p:nvSpPr>
              <p:cNvPr id="18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174174" y="1963600"/>
                <a:ext cx="443936" cy="326799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560697" y="757061"/>
              <a:ext cx="729275" cy="203382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 fontScale="55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7030A0"/>
                  </a:solidFill>
                </a:rPr>
                <a:t>PDS</a:t>
              </a:r>
              <a:endParaRPr lang="en-US" sz="1200" dirty="0">
                <a:solidFill>
                  <a:srgbClr val="7030A0"/>
                </a:solidFill>
              </a:endParaRP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8807" y="1979698"/>
            <a:ext cx="334565" cy="4768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773" y="1991577"/>
            <a:ext cx="460043" cy="4370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784" y="1979697"/>
            <a:ext cx="449747" cy="43316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32" name="Rectangle 31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33" name="Rectangle 32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8"/>
              </a:rPr>
              <a:t>https://</a:t>
            </a:r>
            <a:r>
              <a:rPr lang="en-US" sz="600" dirty="0">
                <a:hlinkClick r:id="rId8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  <p:sp>
        <p:nvSpPr>
          <p:cNvPr id="24" name="Google Shape;66;p13"/>
          <p:cNvSpPr txBox="1">
            <a:spLocks/>
          </p:cNvSpPr>
          <p:nvPr/>
        </p:nvSpPr>
        <p:spPr>
          <a:xfrm>
            <a:off x="1260707" y="2044358"/>
            <a:ext cx="71367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pPr algn="ctr"/>
            <a:r>
              <a:rPr lang="en-GB" dirty="0"/>
              <a:t>Introduction to Kubernetes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62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Introduction to Kubernetes</a:t>
            </a:r>
            <a:endParaRPr dirty="0"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the Basics of Container Orchestration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Kubernetes?</a:t>
            </a:r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311700" y="1195250"/>
            <a:ext cx="5689500" cy="33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Kubernetes (K8s)</a:t>
            </a:r>
            <a:r>
              <a:rPr lang="en-GB"/>
              <a:t> is an open-source platform designed to automate deploying, scaling, and operating containerized applications.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Originally developed by Google, now maintained by the Cloud Native Computing Foundation (CNCF).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Helps manage clusters of containers.</a:t>
            </a:r>
            <a:endParaRPr/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3150" y="1309976"/>
            <a:ext cx="2901726" cy="252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Use Kubernetes?</a:t>
            </a:r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Automates container deployment and scaling.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Ensures application availability and fault tolerance.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Simplifies resource management.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25" y="0"/>
            <a:ext cx="9051650" cy="502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Kubernetes Architecture</a:t>
            </a:r>
            <a:endParaRPr/>
          </a:p>
        </p:txBody>
      </p:sp>
      <p:sp>
        <p:nvSpPr>
          <p:cNvPr id="87" name="Google Shape;87;p1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Master node and worker nodes architecture.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Control Plane:</a:t>
            </a:r>
            <a:r>
              <a:rPr lang="en-GB"/>
              <a:t> API Server, Scheduler, Controller Manager.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Worker Plane:</a:t>
            </a:r>
            <a:r>
              <a:rPr lang="en-GB"/>
              <a:t> Kubelet, Kube Proxy.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Etcd as a distributed key-value store.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Architecture Details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Control Plane:</a:t>
            </a:r>
            <a:r>
              <a:rPr lang="en-GB"/>
              <a:t> Manages the cluster's overall operations through components like API Server, Scheduler, and Controller Manager.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/>
              <a:t>API Server: </a:t>
            </a:r>
            <a:r>
              <a:rPr lang="en-GB"/>
              <a:t>Central communication hub for the Kubernetes cluster, handling REST API requests.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/>
              <a:t>Scheduler:</a:t>
            </a:r>
            <a:r>
              <a:rPr lang="en-GB"/>
              <a:t> Assigns Pods to nodes based on resource availability and constraints.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/>
              <a:t>Controller Manager:</a:t>
            </a:r>
            <a:r>
              <a:rPr lang="en-GB"/>
              <a:t> Ensures the cluster's desired state by running controllers like Node and Replication Controllers.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/>
              <a:t>etcd</a:t>
            </a:r>
            <a:r>
              <a:rPr lang="en-GB"/>
              <a:t>: A distributed, highly available key-value store used by Kubernetes to store all cluster data, including configuration, state, and metadata. It ensures consistency across the cluster.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Worker Plane:</a:t>
            </a:r>
            <a:r>
              <a:rPr lang="en-GB"/>
              <a:t> Executes workloads on nodes using Kubelet (container management) and Kube Proxy (networking).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/>
              <a:t>Kubelet:</a:t>
            </a:r>
            <a:r>
              <a:rPr lang="en-GB"/>
              <a:t> Manages containers on a worker node, ensuring they are running as instructed.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/>
              <a:t>Kube Proxy: </a:t>
            </a:r>
            <a:r>
              <a:rPr lang="en-GB"/>
              <a:t>Handles networking, enabling communication between Pods and Services.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Cluster</a:t>
            </a: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07" name="Google Shape;1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52425"/>
            <a:ext cx="8788476" cy="373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Kubernetes Works</a:t>
            </a:r>
            <a:endParaRPr/>
          </a:p>
        </p:txBody>
      </p:sp>
      <p:sp>
        <p:nvSpPr>
          <p:cNvPr id="113" name="Google Shape;113;p2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Uses declarative configuration and desired state.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Schedules workloads on worker nodes.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Monitors application health.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Self-heals by restarting failed containers.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Kubernetes Objects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Pod</a:t>
            </a:r>
            <a:r>
              <a:rPr lang="en-GB"/>
              <a:t>: Group of containers.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Service</a:t>
            </a:r>
            <a:r>
              <a:rPr lang="en-GB"/>
              <a:t>: Exposes application as a network service.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ConfigMap</a:t>
            </a:r>
            <a:r>
              <a:rPr lang="en-GB"/>
              <a:t>: External configuration for Pods.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Ingress</a:t>
            </a:r>
            <a:r>
              <a:rPr lang="en-GB"/>
              <a:t>: HTTP and HTTPS routing.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b="1"/>
              <a:t>Deployment</a:t>
            </a:r>
            <a:r>
              <a:rPr lang="en-GB"/>
              <a:t>: Manages replicas of Pods.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Benefits of Kubernetes</a:t>
            </a:r>
            <a:endParaRPr/>
          </a:p>
        </p:txBody>
      </p:sp>
      <p:sp>
        <p:nvSpPr>
          <p:cNvPr id="125" name="Google Shape;125;p2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High availability.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Scalability and performance.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Portability across environments.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Cost optimization with resource management.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Popular Use Cases</a:t>
            </a:r>
            <a:endParaRPr/>
          </a:p>
        </p:txBody>
      </p:sp>
      <p:sp>
        <p:nvSpPr>
          <p:cNvPr id="131" name="Google Shape;131;p2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Microservices architecture.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Batch processing and CI/CD pipelines.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Edge computing and IoT.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Hybrid and multi-cloud setups.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Getting Started with Kubernetes</a:t>
            </a:r>
            <a:endParaRPr/>
          </a:p>
        </p:txBody>
      </p:sp>
      <p:sp>
        <p:nvSpPr>
          <p:cNvPr id="137" name="Google Shape;137;p2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Install Minikube or use a managed Kubernetes service (e.g., GKE, EKS, AKS).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Write configuration files in YAML.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Use </a:t>
            </a:r>
            <a:r>
              <a:rPr lang="en-GB" b="1"/>
              <a:t>kubectl</a:t>
            </a:r>
            <a:r>
              <a:rPr lang="en-GB"/>
              <a:t> for cluster management.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Challenges of Kubernetes</a:t>
            </a:r>
            <a:endParaRPr/>
          </a:p>
        </p:txBody>
      </p:sp>
      <p:sp>
        <p:nvSpPr>
          <p:cNvPr id="143" name="Google Shape;143;p2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Complexity in setup and management.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Steep learning curve.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Security and monitoring concerns.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Resource overhead.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</a:t>
            </a:r>
            <a:endParaRPr/>
          </a:p>
        </p:txBody>
      </p:sp>
      <p:sp>
        <p:nvSpPr>
          <p:cNvPr id="149" name="Google Shape;149;p2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Kubernetes is a powerful tool for managing containerized applications.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Its robust features and scalability make it ideal for modern application deployment.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Embrace Kubernetes to simplify and optimize your infrastructure.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AB426-5B7C-607E-D413-5D2C9495C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9211" y="1481328"/>
            <a:ext cx="3183323" cy="1967843"/>
          </a:xfrm>
        </p:spPr>
        <p:txBody>
          <a:bodyPr/>
          <a:lstStyle/>
          <a:p>
            <a:r>
              <a:rPr lang="en-US" dirty="0"/>
              <a:t>THANK YOU</a:t>
            </a:r>
            <a:br>
              <a:rPr lang="en-US" dirty="0"/>
            </a:b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F65BD1-32AA-3181-1C5C-53DBDE46CBB2}"/>
              </a:ext>
            </a:extLst>
          </p:cNvPr>
          <p:cNvSpPr/>
          <p:nvPr/>
        </p:nvSpPr>
        <p:spPr>
          <a:xfrm>
            <a:off x="336177" y="2823883"/>
            <a:ext cx="4141694" cy="1062317"/>
          </a:xfrm>
          <a:prstGeom prst="rect">
            <a:avLst/>
          </a:prstGeom>
          <a:solidFill>
            <a:srgbClr val="FDFAF6"/>
          </a:solidFill>
          <a:ln>
            <a:solidFill>
              <a:srgbClr val="FDFAF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Amel</a:t>
            </a:r>
            <a:r>
              <a:rPr lang="en-IN" sz="2100" dirty="0">
                <a:solidFill>
                  <a:schemeClr val="accent6">
                    <a:lumMod val="50000"/>
                  </a:schemeClr>
                </a:solidFill>
              </a:rPr>
              <a:t> Online &amp; Irene </a:t>
            </a:r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magdalena</a:t>
            </a:r>
            <a:endParaRPr lang="en-IN" sz="21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81EA26-4B72-7D8B-E260-D37DFC59B38C}"/>
              </a:ext>
            </a:extLst>
          </p:cNvPr>
          <p:cNvSpPr/>
          <p:nvPr/>
        </p:nvSpPr>
        <p:spPr>
          <a:xfrm>
            <a:off x="7631206" y="1"/>
            <a:ext cx="1512794" cy="14119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err="1" smtClean="0">
                <a:solidFill>
                  <a:schemeClr val="bg1"/>
                </a:solidFill>
              </a:rPr>
              <a:t>Amel</a:t>
            </a:r>
            <a:r>
              <a:rPr lang="en-US" sz="1050" dirty="0" smtClean="0">
                <a:solidFill>
                  <a:schemeClr val="bg1"/>
                </a:solidFill>
              </a:rPr>
              <a:t> </a:t>
            </a:r>
            <a:r>
              <a:rPr lang="en-US" sz="1050" dirty="0" err="1" smtClean="0">
                <a:solidFill>
                  <a:schemeClr val="bg1"/>
                </a:solidFill>
              </a:rPr>
              <a:t>charoline</a:t>
            </a:r>
            <a:endParaRPr lang="en-US" sz="1050" dirty="0"/>
          </a:p>
        </p:txBody>
      </p:sp>
      <p:sp>
        <p:nvSpPr>
          <p:cNvPr id="5" name="Rectangle 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8" name="Rectangle 7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11" name="Rectangle 10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12" name="Rectangle 11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2"/>
              </a:rPr>
              <a:t>https://</a:t>
            </a:r>
            <a:r>
              <a:rPr lang="en-US" sz="600" dirty="0">
                <a:hlinkClick r:id="rId2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3342107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534</Words>
  <Application>Microsoft Office PowerPoint</Application>
  <PresentationFormat>On-screen Show (16:9)</PresentationFormat>
  <Paragraphs>86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Open Sans</vt:lpstr>
      <vt:lpstr>맑은 고딕</vt:lpstr>
      <vt:lpstr>PT Sans Narrow</vt:lpstr>
      <vt:lpstr>Arial</vt:lpstr>
      <vt:lpstr>Tropic</vt:lpstr>
      <vt:lpstr>PowerPoint Presentation</vt:lpstr>
      <vt:lpstr>Introduction to Kubernetes</vt:lpstr>
      <vt:lpstr>What is Kubernetes?</vt:lpstr>
      <vt:lpstr>Why Use Kubernetes?</vt:lpstr>
      <vt:lpstr>Kubernetes Architecture</vt:lpstr>
      <vt:lpstr>PowerPoint Presentation</vt:lpstr>
      <vt:lpstr>Architecture Details </vt:lpstr>
      <vt:lpstr>Cluster</vt:lpstr>
      <vt:lpstr>How Kubernetes Works</vt:lpstr>
      <vt:lpstr>Key Kubernetes Objects  </vt:lpstr>
      <vt:lpstr>Benefits of Kubernetes</vt:lpstr>
      <vt:lpstr>Popular Use Cases</vt:lpstr>
      <vt:lpstr>Getting Started with Kubernetes</vt:lpstr>
      <vt:lpstr>Challenges of Kubernetes</vt:lpstr>
      <vt:lpstr>Conclusion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PDS</cp:lastModifiedBy>
  <cp:revision>2</cp:revision>
  <dcterms:modified xsi:type="dcterms:W3CDTF">2026-10-05T01:17:12Z</dcterms:modified>
</cp:coreProperties>
</file>