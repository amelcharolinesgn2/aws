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5"/>
  </p:notesMasterIdLst>
  <p:sldIdLst>
    <p:sldId id="28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</p:sldIdLst>
  <p:sldSz cx="9144000" cy="5143500" type="screen16x9"/>
  <p:notesSz cx="6858000" cy="9144000"/>
  <p:embeddedFontLst>
    <p:embeddedFont>
      <p:font typeface="Open Sans" panose="020B0604020202020204" charset="0"/>
      <p:regular r:id="rId36"/>
      <p:bold r:id="rId37"/>
      <p:italic r:id="rId38"/>
      <p:boldItalic r:id="rId39"/>
    </p:embeddedFont>
    <p:embeddedFont>
      <p:font typeface="맑은 고딕" panose="020B0503020000020004" pitchFamily="34" charset="-127"/>
      <p:regular r:id="rId40"/>
      <p:bold r:id="rId41"/>
    </p:embeddedFont>
    <p:embeddedFont>
      <p:font typeface="PT Sans Narrow" panose="020B0604020202020204" charset="0"/>
      <p:regular r:id="rId42"/>
      <p:bold r:id="rId43"/>
    </p:embeddedFont>
    <p:embeddedFont>
      <p:font typeface="Inter" panose="020B060402020202020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73666790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73666790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joining instructions will appear when you get to this slide.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SLIDES_API74457222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SLIDES_API74457222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SLIDES_API134952372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SLIDES_API134952372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SLIDES_API2297735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SLIDES_API2297735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f309408d7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f309408d7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f309408d7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f309408d7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f309408d7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f309408d7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f309408d7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f309408d7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f309408d7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f309408d7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SLIDES_API184676760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SLIDES_API184676760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f309408d7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f309408d7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f309408d7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f309408d7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SLIDES_API52642036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SLIDES_API52642036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f309408d7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3f309408d7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f309408d7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f309408d7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SLIDES_API3969482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SLIDES_API3969482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f309408d7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3f309408d7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SLIDES_API69170974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SLIDES_API69170974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f309408d7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3f309408d7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SLIDES_API64351323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SLIDES_API64351323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3f309408d7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3f309408d7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SLIDES_API185951315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SLIDES_API185951315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3f309408d7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3f309408d7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SLIDES_API177473788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SLIDES_API177473788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3f309408d7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3f309408d7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SLIDES_API136212426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SLIDES_API136212426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f309408d7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f309408d7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3f309408d7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3f309408d7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3f309408d7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3f309408d7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SLIDES_API100615062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SLIDES_API100615062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35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cmVzZW50YXRpb25JZCI6IjFCcE1uQ1pVY0RjQUhGRHRoZHdoWXJZM1JPME9CMEJQRVVaSTM3NXFQbzNjIiwic2xpZGVJZCI6IlNMSURFU19BUEk3MzY2Njc5MDlfMCIsInR5cGUiOiJTbGlkb0pvaW5pbmc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www.sli.do/features-google-slides?interaction-type=Sm9pbg%3D%3D" TargetMode="Externa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V29yZENsb3Vk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VXVpZCI6ImJlMTYyNzllLTBiNDYtNGIwMy04YjQ4LWI5Y2IxMTY0YzJhZSIsInByZXNlbnRhdGlvbklkIjoiMUJwTW5DWlVjRGNBSEZEdGhkd2hZclkzUk8wT0IwQlBFVVpJMzc1cVBvM2MiLCJzbGlkZUlkIjoiU0xJREVTX0FQSTc0NDU3MjIyMl8wIiwidGltZWxpbmUiOlt7InNob3dSZXN1bHRzIjp0cnVlLCJwb2xsUXVlc3Rpb25VdWlkIjoiMmJiMmM2Y2MtMzVlZC00ODQzLTkwMzgtMzk5MDI4Zjk2YTI5In1dLCJ0eXBlIjoiU2xpZG9Qb2xsIn0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NhN2RkNDM4LTBlNDctNDhmZS1hNzU1LTI4NThlMDI2YzBhMSIsInByZXNlbnRhdGlvbklkIjoiMUJwTW5DWlVjRGNBSEZEdGhkd2hZclkzUk8wT0IwQlBFVVpJMzc1cVBvM2MiLCJzbGlkZUlkIjoiU0xJREVTX0FQSTEzNDk1MjM3MjlfMCIsInRpbWVsaW5lIjpbeyJzaG93UmVzdWx0cyI6dHJ1ZSwicG9sbFF1ZXN0aW9uVXVpZCI6Ijg2NWI2MWU4LWJlMTEtNDYwYy04MDI0LTU5OGJiMTFkNGE2MSJ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www.sli.do/features-google-slides?interaction-type=V29yZENsb3Vk" TargetMode="Externa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RiMmZhYmE0LWZhMWUtNDY1MS1hOGI1LTE1ZTMyNzhmYzM5NCIsInByZXNlbnRhdGlvbklkIjoiMUJwTW5DWlVjRGNBSEZEdGhkd2hZclkzUk8wT0IwQlBFVVpJMzc1cVBvM2MiLCJzbGlkZUlkIjoiU0xJREVTX0FQSTIyOTc3MzU3XzAiLCJ0aW1lbGluZSI6W3sic2hvd1Jlc3VsdHMiOnRydWUsInBvbGxRdWVzdGlvblV1aWQiOiI5YzEyNzk1MS0zZjdhLTQxZGUtODcyMy01M2VlZDM4ODJjOTYifV0sInR5cGUiOiJTbGlkb1BvbGw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www.sli.do/features-google-slides?interaction-type=V29yZENsb3Vk" TargetMode="Externa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OGNlNjhkZDQtNjkzOC00OTU0LTlhYjgtZTA1MzhlYjNlNDRmIiwicG9sbFV1aWQiOiJhODI0YzU4Yy04ZTBmLTRiYjgtOWU1YS00ZGIwMzVlYTNjMjUiLCJwcmVzZW50YXRpb25JZCI6IjFCcE1uQ1pVY0RjQUhGRHRoZHdoWXJZM1JPME9CMEJQRVVaSTM3NXFQbzNjIiwic2xpZGVJZCI6IlNMSURFU19BUEkxODQ2NzY3NjAxXzAiLCJ0aW1lbGluZSI6W3sic2NyZWVuIjoiUXVpekpvaW5pbmcifSx7InBvbGxRdWVzdGlvblV1aWQiOiI4Y2U2OGRkNC02OTM4LTQ5NTQtOWFiOC1lMDUzOGViM2U0NGYiLCJzaG93Q29ycmVjdEFuc3dlcnMiOmZhbHNlLCJzaG93UmVzdWx0cyI6ZmFsc2UsInZvdGluZ0xvY2tlZCI6ZmFsc2V9LHsicG9sbFF1ZXN0aW9uVXVpZCI6IjhjZTY4ZGQ0LTY5MzgtNDk1NC05YWI4LWUwNTM4ZWIzZTQ0ZiIsInNob3dDb3JyZWN0QW5zd2VycyI6ZmFsc2UsInNob3dSZXN1bHRzIjp0cnVlLCJ2b3RpbmdMb2NrZWQiOnRydWV9LHsicG9sbFF1ZXN0aW9uVXVpZCI6IjhjZTY4ZGQ0LTY5MzgtNDk1NC05YWI4LWUwNTM4ZWIzZTQ0ZiIsInNob3dDb3JyZWN0QW5zd2VycyI6dHJ1ZSwic2hvd1Jlc3VsdHMiOnRydWUsInZvdGluZ0xvY2tlZCI6dHJ1ZX0seyJwb2xsUXVlc3Rpb25VdWlkIjoiOGNlNjhkZDQtNjkzOC00OTU0LTlhYjgtZTA1MzhlYjNlNDRmIiwic2NyZWVuIjoiUXVpekludGVyaW1MZWFkZXJib2FyZCJ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YmFiNWUwMTQtMTQ3Ny00MmJhLWJkMGQtZDlmMTU0OWZmYWU5IiwicG9sbFV1aWQiOiJhODI0YzU4Yy04ZTBmLTRiYjgtOWU1YS00ZGIwMzVlYTNjMjUiLCJwcmVzZW50YXRpb25JZCI6IjFCcE1uQ1pVY0RjQUhGRHRoZHdoWXJZM1JPME9CMEJQRVVaSTM3NXFQbzNjIiwic2xpZGVJZCI6IlNMSURFU19BUEk1MjY0MjAzNjBfMCIsInRpbWVsaW5lIjpbeyJzY3JlZW4iOiJRdWl6R2V0UmVhZHkifSx7InBvbGxRdWVzdGlvblV1aWQiOiJiYWI1ZTAxNC0xNDc3LTQyYmEtYmQwZC1kOWYxNTQ5ZmZhZTkiLCJzaG93Q29ycmVjdEFuc3dlcnMiOmZhbHNlLCJzaG93UmVzdWx0cyI6ZmFsc2UsInZvdGluZ0xvY2tlZCI6ZmFsc2V9LHsicG9sbFF1ZXN0aW9uVXVpZCI6ImJhYjVlMDE0LTE0NzctNDJiYS1iZDBkLWQ5ZjE1NDlmZmFlOSIsInNob3dDb3JyZWN0QW5zd2VycyI6ZmFsc2UsInNob3dSZXN1bHRzIjp0cnVlLCJ2b3RpbmdMb2NrZWQiOnRydWV9LHsicG9sbFF1ZXN0aW9uVXVpZCI6ImJhYjVlMDE0LTE0NzctNDJiYS1iZDBkLWQ5ZjE1NDlmZmFlOSIsInNob3dDb3JyZWN0QW5zd2VycyI6dHJ1ZSwic2hvd1Jlc3VsdHMiOnRydWUsInZvdGluZ0xvY2tlZCI6dHJ1ZX0seyJwb2xsUXVlc3Rpb25VdWlkIjoiYmFiNWUwMTQtMTQ3Ny00MmJhLWJkMGQtZDlmMTU0OWZmYWU5Iiwic2NyZWVuIjoiUXVpekludGVyaW1MZWFkZXJib2FyZCJ9XSwidHlwZSI6IlNsaWRvUG9sbCJ9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ZmRiZDA5YWUtMzJiOS00YjUxLWIzOGQtNzNkNDY4OTI4MDJhIiwicG9sbFV1aWQiOiJhODI0YzU4Yy04ZTBmLTRiYjgtOWU1YS00ZGIwMzVlYTNjMjUiLCJwcmVzZW50YXRpb25JZCI6IjFCcE1uQ1pVY0RjQUhGRHRoZHdoWXJZM1JPME9CMEJQRVVaSTM3NXFQbzNjIiwic2xpZGVJZCI6IlNMSURFU19BUEkzOTY5NDgyNF8wIiwidGltZWxpbmUiOlt7InNjcmVlbiI6IlF1aXpHZXRSZWFkeSJ9LHsicG9sbFF1ZXN0aW9uVXVpZCI6ImZkYmQwOWFlLTMyYjktNGI1MS1iMzhkLTczZDQ2ODkyODAyYSIsInNob3dDb3JyZWN0QW5zd2VycyI6ZmFsc2UsInNob3dSZXN1bHRzIjpmYWxzZSwidm90aW5nTG9ja2VkIjpmYWxzZX0seyJwb2xsUXVlc3Rpb25VdWlkIjoiZmRiZDA5YWUtMzJiOS00YjUxLWIzOGQtNzNkNDY4OTI4MDJhIiwic2hvd0NvcnJlY3RBbnN3ZXJzIjpmYWxzZSwic2hvd1Jlc3VsdHMiOnRydWUsInZvdGluZ0xvY2tlZCI6dHJ1ZX0seyJwb2xsUXVlc3Rpb25VdWlkIjoiZmRiZDA5YWUtMzJiOS00YjUxLWIzOGQtNzNkNDY4OTI4MDJhIiwic2hvd0NvcnJlY3RBbnN3ZXJzIjp0cnVlLCJzaG93UmVzdWx0cyI6dHJ1ZSwidm90aW5nTG9ja2VkIjp0cnVlfSx7InBvbGxRdWVzdGlvblV1aWQiOiJmZGJkMDlhZS0zMmI5LTRiNTEtYjM4ZC03M2Q0Njg5MjgwMmEiLCJzY3JlZW4iOiJRdWl6SW50ZXJpbUxlYWRlcmJvYXJkIn1dLCJ0eXBlIjoiU2xpZG9Qb2xsIn0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ODczZWFiYTctZjkyMC00MDZiLTg0NGUtNjY4NDYwZDhkZjc2IiwicG9sbFV1aWQiOiJhODI0YzU4Yy04ZTBmLTRiYjgtOWU1YS00ZGIwMzVlYTNjMjUiLCJwcmVzZW50YXRpb25JZCI6IjFCcE1uQ1pVY0RjQUhGRHRoZHdoWXJZM1JPME9CMEJQRVVaSTM3NXFQbzNjIiwic2xpZGVJZCI6IlNMSURFU19BUEk2OTE3MDk3NDdfMCIsInRpbWVsaW5lIjpbeyJzY3JlZW4iOiJRdWl6R2V0UmVhZHkifSx7InBvbGxRdWVzdGlvblV1aWQiOiI4NzNlYWJhNy1mOTIwLTQwNmItODQ0ZS02Njg0NjBkOGRmNzYiLCJzaG93Q29ycmVjdEFuc3dlcnMiOmZhbHNlLCJzaG93UmVzdWx0cyI6ZmFsc2UsInZvdGluZ0xvY2tlZCI6ZmFsc2V9LHsicG9sbFF1ZXN0aW9uVXVpZCI6Ijg3M2VhYmE3LWY5MjAtNDA2Yi04NDRlLTY2ODQ2MGQ4ZGY3NiIsInNob3dDb3JyZWN0QW5zd2VycyI6ZmFsc2UsInNob3dSZXN1bHRzIjp0cnVlLCJ2b3RpbmdMb2NrZWQiOnRydWV9LHsicG9sbFF1ZXN0aW9uVXVpZCI6Ijg3M2VhYmE3LWY5MjAtNDA2Yi04NDRlLTY2ODQ2MGQ4ZGY3NiIsInNob3dDb3JyZWN0QW5zd2VycyI6dHJ1ZSwic2hvd1Jlc3VsdHMiOnRydWUsInZvdGluZ0xvY2tlZCI6dHJ1ZX0seyJwb2xsUXVlc3Rpb25VdWlkIjoiODczZWFiYTctZjkyMC00MDZiLTg0NGUtNjY4NDYwZDhkZjc2Iiwic2NyZWVuIjoiUXVpekludGVyaW1MZWFkZXJib2FyZCJ9XSwidHlwZSI6IlNsaWRvUG9sbCJ9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OTJmNmQxNjktYTQxZS00M2QzLTg4ZTQtZjIwYWFiZDE5MjYxIiwicG9sbFV1aWQiOiJhODI0YzU4Yy04ZTBmLTRiYjgtOWU1YS00ZGIwMzVlYTNjMjUiLCJwcmVzZW50YXRpb25JZCI6IjFCcE1uQ1pVY0RjQUhGRHRoZHdoWXJZM1JPME9CMEJQRVVaSTM3NXFQbzNjIiwic2xpZGVJZCI6IlNMSURFU19BUEk2NDM1MTMyMzVfMCIsInRpbWVsaW5lIjpbeyJzY3JlZW4iOiJRdWl6R2V0UmVhZHkifSx7InBvbGxRdWVzdGlvblV1aWQiOiI5MmY2ZDE2OS1hNDFlLTQzZDMtODhlNC1mMjBhYWJkMTkyNjEiLCJzaG93Q29ycmVjdEFuc3dlcnMiOmZhbHNlLCJzaG93UmVzdWx0cyI6ZmFsc2UsInZvdGluZ0xvY2tlZCI6ZmFsc2V9LHsicG9sbFF1ZXN0aW9uVXVpZCI6IjkyZjZkMTY5LWE0MWUtNDNkMy04OGU0LWYyMGFhYmQxOTI2MSIsInNob3dDb3JyZWN0QW5zd2VycyI6ZmFsc2UsInNob3dSZXN1bHRzIjp0cnVlLCJ2b3RpbmdMb2NrZWQiOnRydWV9LHsicG9sbFF1ZXN0aW9uVXVpZCI6IjkyZjZkMTY5LWE0MWUtNDNkMy04OGU0LWYyMGFhYmQxOTI2MSIsInNob3dDb3JyZWN0QW5zd2VycyI6dHJ1ZSwic2hvd1Jlc3VsdHMiOnRydWUsInZvdGluZ0xvY2tlZCI6dHJ1ZX0seyJwb2xsUXVlc3Rpb25VdWlkIjoiOTJmNmQxNjktYTQxZS00M2QzLTg4ZTQtZjIwYWFiZDE5MjYxIiwic2NyZWVuIjoiUXVpekludGVyaW1MZWFkZXJib2FyZCJ9XSwidHlwZSI6IlNsaWRvUG9sbCJ9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mRiNjlmOGYtMWE2My00MGIwLWEzODAtMzc5NWRlMzkyYTA4IiwicG9sbFV1aWQiOiJhODI0YzU4Yy04ZTBmLTRiYjgtOWU1YS00ZGIwMzVlYTNjMjUiLCJwcmVzZW50YXRpb25JZCI6IjFCcE1uQ1pVY0RjQUhGRHRoZHdoWXJZM1JPME9CMEJQRVVaSTM3NXFQbzNjIiwic2xpZGVJZCI6IlNMSURFU19BUEkxODU5NTEzMTUzXzAiLCJ0aW1lbGluZSI6W3sic2NyZWVuIjoiUXVpekdldFJlYWR5In0seyJwb2xsUXVlc3Rpb25VdWlkIjoiMmRiNjlmOGYtMWE2My00MGIwLWEzODAtMzc5NWRlMzkyYTA4Iiwic2hvd0NvcnJlY3RBbnN3ZXJzIjpmYWxzZSwic2hvd1Jlc3VsdHMiOmZhbHNlLCJ2b3RpbmdMb2NrZWQiOmZhbHNlfSx7InBvbGxRdWVzdGlvblV1aWQiOiIyZGI2OWY4Zi0xYTYzLTQwYjAtYTM4MC0zNzk1ZGUzOTJhMDgiLCJzaG93Q29ycmVjdEFuc3dlcnMiOmZhbHNlLCJzaG93UmVzdWx0cyI6dHJ1ZSwidm90aW5nTG9ja2VkIjp0cnVlfSx7InBvbGxRdWVzdGlvblV1aWQiOiIyZGI2OWY4Zi0xYTYzLTQwYjAtYTM4MC0zNzk1ZGUzOTJhMDgiLCJzaG93Q29ycmVjdEFuc3dlcnMiOnRydWUsInNob3dSZXN1bHRzIjp0cnVlLCJ2b3RpbmdMb2NrZWQiOnRydWV9LHsicG9sbFF1ZXN0aW9uVXVpZCI6IjJkYjY5ZjhmLTFhNjMtNDBiMC1hMzgwLTM3OTVkZTM5MmEwOC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ZTYwODMxMGEtZjM5Mi00NWY3LWI0MDctNTg5ZDgxMzQ1ZmI4IiwicG9sbFV1aWQiOiJhODI0YzU4Yy04ZTBmLTRiYjgtOWU1YS00ZGIwMzVlYTNjMjUiLCJwcmVzZW50YXRpb25JZCI6IjFCcE1uQ1pVY0RjQUhGRHRoZHdoWXJZM1JPME9CMEJQRVVaSTM3NXFQbzNjIiwic2xpZGVJZCI6IlNMSURFU19BUEkxNzc0NzM3ODgwXzAiLCJ0aW1lbGluZSI6W3sic2NyZWVuIjoiUXVpekdldFJlYWR5In0seyJwb2xsUXVlc3Rpb25VdWlkIjoiZTYwODMxMGEtZjM5Mi00NWY3LWI0MDctNTg5ZDgxMzQ1ZmI4Iiwic2hvd0NvcnJlY3RBbnN3ZXJzIjpmYWxzZSwic2hvd1Jlc3VsdHMiOmZhbHNlLCJ2b3RpbmdMb2NrZWQiOmZhbHNlfSx7InBvbGxRdWVzdGlvblV1aWQiOiJlNjA4MzEwYS1mMzkyLTQ1ZjctYjQwNy01ODlkODEzNDVmYjgiLCJzaG93Q29ycmVjdEFuc3dlcnMiOmZhbHNlLCJzaG93UmVzdWx0cyI6dHJ1ZSwidm90aW5nTG9ja2VkIjp0cnVlfSx7InBvbGxRdWVzdGlvblV1aWQiOiJlNjA4MzEwYS1mMzkyLTQ1ZjctYjQwNy01ODlkODEzNDVmYjgiLCJzaG93Q29ycmVjdEFuc3dlcnMiOnRydWUsInNob3dSZXN1bHRzIjp0cnVlLCJ2b3RpbmdMb2NrZWQiOnRydWV9LHsicG9sbFF1ZXN0aW9uVXVpZCI6ImU2MDgzMTBhLWYzOTItNDVmNy1iNDA3LTU4OWQ4MTM0NWZiOC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NWY5YWRhOTAtZWY0Yy00YzE1LTlhNDctZmQ2YmM4ZDk4YjAzIiwicG9sbFV1aWQiOiJhODI0YzU4Yy04ZTBmLTRiYjgtOWU1YS00ZGIwMzVlYTNjMjUiLCJwcmVzZW50YXRpb25JZCI6IjFCcE1uQ1pVY0RjQUhGRHRoZHdoWXJZM1JPME9CMEJQRVVaSTM3NXFQbzNjIiwic2xpZGVJZCI6IlNMSURFU19BUEkxMzYyMTI0MjYyXzAiLCJ0aW1lbGluZSI6W3sic2NyZWVuIjoiUXVpekdldFJlYWR5In0seyJwb2xsUXVlc3Rpb25VdWlkIjoiNWY5YWRhOTAtZWY0Yy00YzE1LTlhNDctZmQ2YmM4ZDk4YjAzIiwic2hvd0NvcnJlY3RBbnN3ZXJzIjpmYWxzZSwic2hvd1Jlc3VsdHMiOmZhbHNlLCJ2b3RpbmdMb2NrZWQiOmZhbHNlfSx7InBvbGxRdWVzdGlvblV1aWQiOiI1ZjlhZGE5MC1lZjRjLTRjMTUtOWE0Ny1mZDZiYzhkOThiMDMiLCJzaG93Q29ycmVjdEFuc3dlcnMiOmZhbHNlLCJzaG93UmVzdWx0cyI6dHJ1ZSwidm90aW5nTG9ja2VkIjp0cnVlfSx7InBvbGxRdWVzdGlvblV1aWQiOiI1ZjlhZGE5MC1lZjRjLTRjMTUtOWE0Ny1mZDZiYzhkOThiMDMiLCJzaG93Q29ycmVjdEFuc3dlcnMiOnRydWUsInNob3dSZXN1bHRzIjp0cnVlLCJ2b3RpbmdMb2NrZWQiOnRydWV9LHsicG9sbFF1ZXN0aW9uVXVpZCI6IjVmOWFkYTkwLWVmNGMtNGMxNS05YTQ3LWZkNmJjOGQ5OGIwMy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DgzODQyYjItYWU0Yi00NDBiLThlZjgtODMyMmFkN2M1NzYyIiwicG9sbFV1aWQiOiJhODI0YzU4Yy04ZTBmLTRiYjgtOWU1YS00ZGIwMzVlYTNjMjUiLCJwcmVzZW50YXRpb25JZCI6IjFCcE1uQ1pVY0RjQUhGRHRoZHdoWXJZM1JPME9CMEJQRVVaSTM3NXFQbzNjIiwic2xpZGVJZCI6IlNMSURFU19BUEkxMDA2MTUwNjI0XzAiLCJ0aW1lbGluZSI6W3sic2NyZWVuIjoiUXVpekdldFJlYWR5In0seyJwb2xsUXVlc3Rpb25VdWlkIjoiMDgzODQyYjItYWU0Yi00NDBiLThlZjgtODMyMmFkN2M1NzYyIiwic2hvd0NvcnJlY3RBbnN3ZXJzIjpmYWxzZSwic2hvd1Jlc3VsdHMiOmZhbHNlLCJ2b3RpbmdMb2NrZWQiOmZhbHNlfSx7InBvbGxRdWVzdGlvblV1aWQiOiIwODM4NDJiMi1hZTRiLTQ0MGItOGVmOC04MzIyYWQ3YzU3NjIiLCJzaG93Q29ycmVjdEFuc3dlcnMiOmZhbHNlLCJzaG93UmVzdWx0cyI6dHJ1ZSwidm90aW5nTG9ja2VkIjp0cnVlfSx7InBvbGxRdWVzdGlvblV1aWQiOiIwODM4NDJiMi1hZTRiLTQ0MGItOGVmOC04MzIyYWQ3YzU3NjIiLCJzaG93Q29ycmVjdEFuc3dlcnMiOnRydWUsInNob3dSZXN1bHRzIjp0cnVlLCJ2b3RpbmdMb2NrZWQiOnRydWV9LHsicG9sbFF1ZXN0aW9uVXVpZCI6IjA4Mzg0MmIyLWFlNGItNDQwYi04ZWY4LTgzMjJhZDdjNTc2MiIsInNjcmVlbiI6IlF1aXpMZWFkZXJib2FyZCIsInNob3dDb3JyZWN0QW5zd2VycyI6dHJ1ZSwic2hvd1Jlc3VsdHMiOnRydWUsInZvdGluZ0xvY2tlZCI6dHJ1ZX1dLCJ0eXBlIjoiU2xpZG9Qb2xsIn0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lvl="0"/>
            <a:r>
              <a:rPr lang="en-GB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slido.com</a:t>
            </a:r>
            <a:br>
              <a:rPr lang="en-GB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GB" dirty="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613169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8" name="Google Shape;68;p13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 smtClean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slido.com</a:t>
            </a:r>
            <a:r>
              <a:rPr lang="en-GB" sz="3600" b="1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GB" sz="3600" b="1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endParaRPr sz="3600" b="1" dirty="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4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4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How was your experience at AUST?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2" name="Google Shape;92;p15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would you do if you got the chance to be readmitted in the first semester?</a:t>
            </a:r>
            <a:endParaRPr sz="33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4" name="Google Shape;104;p16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If you were on the management committee, what changes would you make?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REVISION CLASS</a:t>
            </a:r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Cloud </a:t>
            </a:r>
            <a:r>
              <a:rPr lang="en-GB" dirty="0"/>
              <a:t>Computing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43434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What is Cloud Computing ?</a:t>
            </a:r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4202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Cloud computing</a:t>
            </a:r>
            <a:r>
              <a:rPr lang="en-GB"/>
              <a:t> is the delivery of </a:t>
            </a:r>
            <a:r>
              <a:rPr lang="en-GB" b="1"/>
              <a:t>on-demand</a:t>
            </a:r>
            <a:r>
              <a:rPr lang="en-GB"/>
              <a:t> computing services—such as </a:t>
            </a:r>
            <a:r>
              <a:rPr lang="en-GB" b="1"/>
              <a:t>servers</a:t>
            </a:r>
            <a:r>
              <a:rPr lang="en-GB"/>
              <a:t>, </a:t>
            </a:r>
            <a:r>
              <a:rPr lang="en-GB" b="1"/>
              <a:t>storage</a:t>
            </a:r>
            <a:r>
              <a:rPr lang="en-GB"/>
              <a:t>, </a:t>
            </a:r>
            <a:r>
              <a:rPr lang="en-GB" b="1"/>
              <a:t>databases</a:t>
            </a:r>
            <a:r>
              <a:rPr lang="en-GB"/>
              <a:t>, </a:t>
            </a:r>
            <a:r>
              <a:rPr lang="en-GB" b="1"/>
              <a:t>networking</a:t>
            </a:r>
            <a:r>
              <a:rPr lang="en-GB"/>
              <a:t> and more—over the internet ('the cloud').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Compare cloud computing to utility services like electricity or water on-demand, scalable, and pay-as-you-go</a:t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5000" y="1304825"/>
            <a:ext cx="3936601" cy="27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Deployment vs Service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913" y="1952625"/>
            <a:ext cx="368617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00" y="1219200"/>
            <a:ext cx="891540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Service Models</a:t>
            </a:r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4871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On Premise</a:t>
            </a:r>
            <a:r>
              <a:rPr lang="en-GB"/>
              <a:t> = you buy everything and make the pizza at home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IaaS</a:t>
            </a:r>
            <a:r>
              <a:rPr lang="en-GB"/>
              <a:t> = take and bake (pick up the pizza, you cook it at home)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PaaS</a:t>
            </a:r>
            <a:r>
              <a:rPr lang="en-GB"/>
              <a:t> = pizza delivered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SaaS</a:t>
            </a:r>
            <a:r>
              <a:rPr lang="en-GB"/>
              <a:t> = dining in the restaurant</a:t>
            </a:r>
            <a:endParaRPr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200" y="1304825"/>
            <a:ext cx="4040400" cy="227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00" y="140225"/>
            <a:ext cx="8107749" cy="486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Providers Model</a:t>
            </a:r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00" y="1038237"/>
            <a:ext cx="8580549" cy="4067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9" name="Google Shape;159;p23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cloud model provides platforms for development?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Cloud Deployment Models</a:t>
            </a:r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Public Cloud</a:t>
            </a:r>
            <a:r>
              <a:rPr lang="en-GB"/>
              <a:t>: Services offered over the internet (e.g., AWS, Azure, GCP).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Private Cloud</a:t>
            </a:r>
            <a:r>
              <a:rPr lang="en-GB"/>
              <a:t>: Cloud infrastructure dedicated to a single organization.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Hybrid Cloud</a:t>
            </a:r>
            <a:r>
              <a:rPr lang="en-GB"/>
              <a:t>: Combination of public and private clouds.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Community Cloud</a:t>
            </a:r>
            <a:r>
              <a:rPr lang="en-GB"/>
              <a:t>: Shared by organizations with a common goal.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190500"/>
            <a:ext cx="857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of Cloud Computing</a:t>
            </a:r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Cost Efficiency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Scalability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Flexibility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High Availability and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Disaster Recovery</a:t>
            </a:r>
            <a:endParaRPr/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4"/>
            <a:ext cx="9144003" cy="4786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26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How does cloud computing improve scalability?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6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Recap</a:t>
            </a:r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Virtualization &amp; Containerization (Docker)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Serverless Computing &amp; API Gateways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Cloud Storage &amp; Databases (Amazon S3, RDS)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Networking (VPC)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CDN (Amazon CloudFront)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Security &amp; Compliance in the Cloud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Queue &amp; Pub-Sub (Amazon SQS, SNS)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Virtualization &amp; Containerization (Docker)</a:t>
            </a:r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Virtualization:</a:t>
            </a:r>
            <a:r>
              <a:rPr lang="en-GB"/>
              <a:t> Running multiple OS instances on a single physical machine (e.g., VMware, Hyper-V).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Containerization: </a:t>
            </a:r>
            <a:r>
              <a:rPr lang="en-GB"/>
              <a:t>Lightweight, portable environments for applications (e.g., Docker, Kubernetes).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Use Cases: </a:t>
            </a:r>
            <a:r>
              <a:rPr lang="en-GB"/>
              <a:t>Microservices, DevOps, efficient resource utilization.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29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 following is a containerization tool?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3" name="Google Shape;21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Serverless Computing &amp; API Gateways</a:t>
            </a:r>
            <a:endParaRPr/>
          </a:p>
        </p:txBody>
      </p:sp>
      <p:sp>
        <p:nvSpPr>
          <p:cNvPr id="221" name="Google Shape;221;p3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Serverless Computing: </a:t>
            </a:r>
            <a:r>
              <a:rPr lang="en-GB"/>
              <a:t>No need to manage servers (AWS Lambda, Azure Functions).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API Gateway:</a:t>
            </a:r>
            <a:r>
              <a:rPr lang="en-GB"/>
              <a:t> Manages and secures API requests (AWS API Gateway).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Use Cases:</a:t>
            </a:r>
            <a:r>
              <a:rPr lang="en-GB"/>
              <a:t> Scalable applications, event-driven architectures.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31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AWS service is used to manage API requests?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1" name="Google Shape;2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1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1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Storage &amp; Databases (Amazon S3, RDS)</a:t>
            </a:r>
            <a:endParaRPr/>
          </a:p>
        </p:txBody>
      </p:sp>
      <p:sp>
        <p:nvSpPr>
          <p:cNvPr id="239" name="Google Shape;239;p3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Amazon S3: </a:t>
            </a:r>
            <a:r>
              <a:rPr lang="en-GB"/>
              <a:t>Scalable object storage for files, backups, and static content.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Amazon RDS: </a:t>
            </a:r>
            <a:r>
              <a:rPr lang="en-GB"/>
              <a:t>Managed relational databases (MySQL, PostgreSQL, etc.).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Use Cases:</a:t>
            </a:r>
            <a:r>
              <a:rPr lang="en-GB"/>
              <a:t> Web applications, data analytics, disaster recovery.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3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AWS service is an object storage solution?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3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3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9" name="Google Shape;24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3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3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CDN (Amazon CloudFront)</a:t>
            </a:r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Content Delivery Network (CDN)</a:t>
            </a:r>
            <a:r>
              <a:rPr lang="en-GB"/>
              <a:t>: Speeds up content delivery using global edge locations.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Amazon CloudFront</a:t>
            </a:r>
            <a:r>
              <a:rPr lang="en-GB"/>
              <a:t>: Integrates with S3, EC2, and other AWS services.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Use Cases:</a:t>
            </a:r>
            <a:r>
              <a:rPr lang="en-GB"/>
              <a:t> Website acceleration, video streaming, DDoS protection.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3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35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the main purpose of a CDN?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3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7" name="Google Shape;26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5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5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&amp; Compliance in the Cloud</a:t>
            </a:r>
            <a:endParaRPr/>
          </a:p>
        </p:txBody>
      </p:sp>
      <p:sp>
        <p:nvSpPr>
          <p:cNvPr id="275" name="Google Shape;275;p3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Identity &amp; Access Management (IAM):</a:t>
            </a:r>
            <a:r>
              <a:rPr lang="en-GB"/>
              <a:t> Controls user permissions.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Encryption:</a:t>
            </a:r>
            <a:r>
              <a:rPr lang="en-GB"/>
              <a:t> Data encryption at rest and in transit (AWS KMS, SSL/TLS).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Compliance:</a:t>
            </a:r>
            <a:r>
              <a:rPr lang="en-GB"/>
              <a:t> GDPR, ISO, HIPAA, SOC 2 for regulated industries.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37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AWS service is used for managing user access?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37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5" name="Google Shape;28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7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7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Queue &amp; Pub-Sub (Amazon SQS, SNS)</a:t>
            </a:r>
            <a:endParaRPr/>
          </a:p>
        </p:txBody>
      </p:sp>
      <p:sp>
        <p:nvSpPr>
          <p:cNvPr id="293" name="Google Shape;293;p3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Amazon SQS:</a:t>
            </a:r>
            <a:r>
              <a:rPr lang="en-GB"/>
              <a:t> Message queue for decoupling applications.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Amazon SNS: </a:t>
            </a:r>
            <a:r>
              <a:rPr lang="en-GB"/>
              <a:t>Pub-sub messaging for real-time notifications.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Use Cases:</a:t>
            </a:r>
            <a:r>
              <a:rPr lang="en-GB"/>
              <a:t> Event-driven architectures, microservices communication.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3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" name="Google Shape;300;p39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AWS service is used for a message queue?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3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3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3" name="Google Shape;303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9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9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Trends in Cloud Computing</a:t>
            </a:r>
            <a:endParaRPr/>
          </a:p>
        </p:txBody>
      </p:sp>
      <p:sp>
        <p:nvSpPr>
          <p:cNvPr id="311" name="Google Shape;311;p4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AI &amp; Machine Learning in the Cloud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Edge Computing &amp; IoT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Multi-Cloud &amp; Hybrid Cloud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Quantum Computing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Career Paths:</a:t>
            </a:r>
            <a:endParaRPr/>
          </a:p>
        </p:txBody>
      </p:sp>
      <p:sp>
        <p:nvSpPr>
          <p:cNvPr id="317" name="Google Shape;317;p4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Cloud Engineer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DevOps Engineer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Solutions Architect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Security Specialist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Certifications </a:t>
            </a:r>
            <a:endParaRPr/>
          </a:p>
        </p:txBody>
      </p:sp>
      <p:sp>
        <p:nvSpPr>
          <p:cNvPr id="323" name="Google Shape;323;p4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AWS Certified Cloud Practitioner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AWS Certified Solutions Architect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Microsoft Azure Administrator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Google Cloud Associate Engineer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Kubernetes &amp; DevOps Certifications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4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0" name="Google Shape;330;p4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If the election were held in 2025 in Bangladesh, which party would you vote for?</a:t>
            </a:r>
            <a:endParaRPr sz="32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1" name="Google Shape;331;p4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4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3" name="Google Shape;33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3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3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417673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1172</Words>
  <Application>Microsoft Office PowerPoint</Application>
  <PresentationFormat>On-screen Show (16:9)</PresentationFormat>
  <Paragraphs>165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Open Sans</vt:lpstr>
      <vt:lpstr>맑은 고딕</vt:lpstr>
      <vt:lpstr>PT Sans Narrow</vt:lpstr>
      <vt:lpstr>Inter</vt:lpstr>
      <vt:lpstr>Arial</vt:lpstr>
      <vt:lpstr>Tropic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REVISION CLASS</vt:lpstr>
      <vt:lpstr>What is Cloud Computing ?</vt:lpstr>
      <vt:lpstr>Deployment vs Service Model </vt:lpstr>
      <vt:lpstr>Cloud Service Models</vt:lpstr>
      <vt:lpstr>PowerPoint Presentation</vt:lpstr>
      <vt:lpstr>Cloud Providers Model</vt:lpstr>
      <vt:lpstr>PowerPoint Presentation</vt:lpstr>
      <vt:lpstr>5. Cloud Deployment Models</vt:lpstr>
      <vt:lpstr>Advantages of Cloud Computing</vt:lpstr>
      <vt:lpstr>PowerPoint Presentation</vt:lpstr>
      <vt:lpstr>Course Recap</vt:lpstr>
      <vt:lpstr>Virtualization &amp; Containerization (Docker)</vt:lpstr>
      <vt:lpstr>PowerPoint Presentation</vt:lpstr>
      <vt:lpstr>Serverless Computing &amp; API Gateways</vt:lpstr>
      <vt:lpstr>PowerPoint Presentation</vt:lpstr>
      <vt:lpstr>Cloud Storage &amp; Databases (Amazon S3, RDS)</vt:lpstr>
      <vt:lpstr>PowerPoint Presentation</vt:lpstr>
      <vt:lpstr>CDN (Amazon CloudFront)</vt:lpstr>
      <vt:lpstr>PowerPoint Presentation</vt:lpstr>
      <vt:lpstr>Security &amp; Compliance in the Cloud</vt:lpstr>
      <vt:lpstr>PowerPoint Presentation</vt:lpstr>
      <vt:lpstr>Queue &amp; Pub-Sub (Amazon SQS, SNS)</vt:lpstr>
      <vt:lpstr>PowerPoint Presentation</vt:lpstr>
      <vt:lpstr>Future Trends in Cloud Computing</vt:lpstr>
      <vt:lpstr>Career Paths:</vt:lpstr>
      <vt:lpstr>Certifications 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2026-10-05T01:37:40Z</dcterms:modified>
</cp:coreProperties>
</file>