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embeddedFontLst>
    <p:embeddedFont>
      <p:font typeface="Open Sans" panose="020B0604020202020204" charset="0"/>
      <p:regular r:id="rId16"/>
      <p:bold r:id="rId17"/>
      <p:italic r:id="rId18"/>
      <p:boldItalic r:id="rId19"/>
    </p:embeddedFont>
    <p:embeddedFont>
      <p:font typeface="맑은 고딕" panose="020B0503020000020004" pitchFamily="34" charset="-127"/>
      <p:regular r:id="rId20"/>
      <p:bold r:id="rId21"/>
    </p:embeddedFont>
    <p:embeddedFont>
      <p:font typeface="PT Sans Narrow" panose="020B060402020202020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4FAB64-D5E0-4846-AC01-3D69C8902AB1}">
  <a:tblStyle styleId="{914FAB64-D5E0-4846-AC01-3D69C8902AB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02" y="5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311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f3f456525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1f3f456525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f3f456525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1f3f456525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f3f456525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1f3f456525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f3f456525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1f3f456525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f3f456525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1f3f456525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1f3f456525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1f3f456525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f3f456525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1f3f456525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f3f456525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f3f456525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f3f456525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1f3f456525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1f3f456525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1f3f456525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192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  <p:sp>
        <p:nvSpPr>
          <p:cNvPr id="24" name="Google Shape;66;p13"/>
          <p:cNvSpPr txBox="1">
            <a:spLocks/>
          </p:cNvSpPr>
          <p:nvPr/>
        </p:nvSpPr>
        <p:spPr>
          <a:xfrm>
            <a:off x="1239531" y="2873525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/>
            <a:r>
              <a:rPr lang="en-GB" smtClean="0"/>
              <a:t>Cloud Service Models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1747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Cloud Service Models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1886075" y="2850050"/>
            <a:ext cx="5121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IaaS, PaaS, and SaaS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Cloud Service Models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Definition: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Service models define how cloud services are delivered to users, based on the level of </a:t>
            </a:r>
            <a:r>
              <a:rPr lang="en-GB" b="1"/>
              <a:t>control and management</a:t>
            </a:r>
            <a:r>
              <a:rPr lang="en-GB"/>
              <a:t> responsibility.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Key Service Models: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Infrastructure as a Service (IaaS)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Platform as a Service (PaaS)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Software as a Service (SaaS)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1. Infrastructure as a Service (IaaS)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235925"/>
            <a:ext cx="8619600" cy="33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Provides virtualized computing resources over the internet.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Users manage operating systems, applications, and data while the </a:t>
            </a:r>
            <a:r>
              <a:rPr lang="en-GB" b="1"/>
              <a:t>cloud provider manages hardware and virtualization.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Examples:</a:t>
            </a:r>
            <a:endParaRPr b="1"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Amazon Web Services (AWS) EC2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Google Compute Engine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Microsoft Azure Virtual Machines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Key Features:</a:t>
            </a:r>
            <a:endParaRPr b="1"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Virtual machines, storage, and networks.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High flexibility and scalability.</a:t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l="29569" r="30161" b="7183"/>
          <a:stretch/>
        </p:blipFill>
        <p:spPr>
          <a:xfrm>
            <a:off x="6443350" y="2253706"/>
            <a:ext cx="1739649" cy="1890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2. Platform as a Service (PaaS)</a:t>
            </a:r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Provides a platform that allows developers to build, test, deploy, and manage applications without worrying about the underlying infrastructure.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The cloud provider manages OS, runtime, and middleware.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Examples:</a:t>
            </a:r>
            <a:endParaRPr b="1"/>
          </a:p>
          <a:p>
            <a:pPr marL="457200" lvl="0" indent="-317182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Google App Engine</a:t>
            </a:r>
            <a:endParaRPr/>
          </a:p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Microsoft Azure App Service</a:t>
            </a:r>
            <a:endParaRPr/>
          </a:p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AWS Elastic Beanstalk</a:t>
            </a:r>
            <a:endParaRPr/>
          </a:p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Heroku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Key Features:</a:t>
            </a:r>
            <a:endParaRPr b="1"/>
          </a:p>
          <a:p>
            <a:pPr marL="457200" lvl="0" indent="-317182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Simplifies development and deployment.</a:t>
            </a:r>
            <a:endParaRPr/>
          </a:p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Ideal for application development without infrastructure management.</a:t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3">
            <a:alphaModFix/>
          </a:blip>
          <a:srcRect l="16683" t="17031" r="9591" b="16620"/>
          <a:stretch/>
        </p:blipFill>
        <p:spPr>
          <a:xfrm>
            <a:off x="5779200" y="2395425"/>
            <a:ext cx="2750250" cy="123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 Software as a Service (SaaS)</a:t>
            </a:r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1152425"/>
            <a:ext cx="8619600" cy="34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Delivers software applications over the internet on a subscription basis.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Users access applications via a web browser while </a:t>
            </a:r>
            <a:r>
              <a:rPr lang="en-GB" b="1"/>
              <a:t>the cloud provider manages everything</a:t>
            </a:r>
            <a:r>
              <a:rPr lang="en-GB"/>
              <a:t>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Examples</a:t>
            </a:r>
            <a:r>
              <a:rPr lang="en-GB"/>
              <a:t>:</a:t>
            </a:r>
            <a:endParaRPr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Gmail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Microsoft Office 365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Salesforce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Key Features:</a:t>
            </a:r>
            <a:endParaRPr b="1"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No installation required.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Accessible from anywhere with an internet connection.</a:t>
            </a:r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6850" y="2179701"/>
            <a:ext cx="2790902" cy="156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140"/>
              <a:t>Key Differences Between Service Models</a:t>
            </a:r>
            <a:endParaRPr sz="3140"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700"/>
          </a:p>
        </p:txBody>
      </p:sp>
      <p:graphicFrame>
        <p:nvGraphicFramePr>
          <p:cNvPr id="101" name="Google Shape;101;p18"/>
          <p:cNvGraphicFramePr/>
          <p:nvPr/>
        </p:nvGraphicFramePr>
        <p:xfrm>
          <a:off x="437975" y="1104575"/>
          <a:ext cx="8355400" cy="3839975"/>
        </p:xfrm>
        <a:graphic>
          <a:graphicData uri="http://schemas.openxmlformats.org/drawingml/2006/table">
            <a:tbl>
              <a:tblPr>
                <a:noFill/>
                <a:tableStyleId>{914FAB64-D5E0-4846-AC01-3D69C8902AB1}</a:tableStyleId>
              </a:tblPr>
              <a:tblGrid>
                <a:gridCol w="208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900" b="1"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Aspect</a:t>
                      </a:r>
                      <a:endParaRPr sz="2900" b="1"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900" b="1"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IaaS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900" b="1"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PaaS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900" b="1"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SaaS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 b="1"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User Responsibility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/>
                        <a:t>Apps, data, OS</a:t>
                      </a:r>
                      <a:endParaRPr sz="2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/>
                        <a:t>Apps, data	</a:t>
                      </a:r>
                      <a:endParaRPr sz="21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/>
                        <a:t>Only usage</a:t>
                      </a:r>
                      <a:endParaRPr sz="21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 b="1"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Provider Responsibility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/>
                        <a:t>Hardware, virtualization</a:t>
                      </a:r>
                      <a:endParaRPr sz="2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/>
                        <a:t>Hardware, OS, runtime</a:t>
                      </a:r>
                      <a:endParaRPr sz="2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/>
                        <a:t>Everything</a:t>
                      </a:r>
                      <a:endParaRPr sz="2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900" b="1"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Use Case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/>
                        <a:t>Full Controll and flexibility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/>
                        <a:t>Development platforms	</a:t>
                      </a:r>
                      <a:endParaRPr sz="2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/>
                        <a:t>End-user applications</a:t>
                      </a:r>
                      <a:endParaRPr sz="2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Advantages and Disadvantages</a:t>
            </a:r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IaaS: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Advantages: High control and scalability.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Disadvantages: Complex management required.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PaaS: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Advantages: Simplifies app development.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Disadvantages: Limited control over the environment.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SaaS: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Advantages: Easy to use and maintain.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Disadvantages: Limited customization.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Case Study – Comparing Real-World Examples</a:t>
            </a:r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8860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IaaS Example: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 AWS EC2 to host a website where you manage the server, storage, and OS.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PaaS Example: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 Heroku to develop and deploy a web application.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SaaS Example: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 Gmail for email management.</a:t>
            </a:r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 rotWithShape="1">
          <a:blip r:embed="rId3">
            <a:alphaModFix/>
          </a:blip>
          <a:srcRect l="29569" r="30161" b="7183"/>
          <a:stretch/>
        </p:blipFill>
        <p:spPr>
          <a:xfrm>
            <a:off x="6557450" y="1222450"/>
            <a:ext cx="1193700" cy="129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7450" y="2444100"/>
            <a:ext cx="1193700" cy="1297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 rotWithShape="1">
          <a:blip r:embed="rId5">
            <a:alphaModFix/>
          </a:blip>
          <a:srcRect l="10785" t="32993" r="7568" b="32429"/>
          <a:stretch/>
        </p:blipFill>
        <p:spPr>
          <a:xfrm>
            <a:off x="6557450" y="3846925"/>
            <a:ext cx="1708525" cy="8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 the Service Model</a:t>
            </a:r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1: Hosting a virtual machine on Azure.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Example 2: Building a web app on AWS Elastic Beanstalk.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Example 3: Using Dropbox to store files.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 the Service Model</a:t>
            </a:r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1: Hosting a virtual machine on Azure. </a:t>
            </a:r>
            <a:r>
              <a:rPr lang="en-GB" b="1"/>
              <a:t>(Answer: IaaS)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Example 2: Building a web app on AWS Elastic Beanstalk. </a:t>
            </a:r>
            <a:r>
              <a:rPr lang="en-GB" b="1"/>
              <a:t>(Answer: PaaS)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Example 3: Using Dropbox to store files. </a:t>
            </a:r>
            <a:r>
              <a:rPr lang="en-GB" b="1"/>
              <a:t>(Answer: SaaS)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Cloud service models offer varying levels of control and abstraction.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IaaS: High control over infrastructure.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PaaS: Simplifies app development.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SaaS: End-user applications delivered over the internet.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11" y="1481328"/>
            <a:ext cx="3183323" cy="196784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65BD1-32AA-3181-1C5C-53DBDE46CBB2}"/>
              </a:ext>
            </a:extLst>
          </p:cNvPr>
          <p:cNvSpPr/>
          <p:nvPr/>
        </p:nvSpPr>
        <p:spPr>
          <a:xfrm>
            <a:off x="1188231" y="2918012"/>
            <a:ext cx="4141694" cy="1062317"/>
          </a:xfrm>
          <a:prstGeom prst="rect">
            <a:avLst/>
          </a:prstGeom>
          <a:solidFill>
            <a:srgbClr val="FDFAF6"/>
          </a:solidFill>
          <a:ln>
            <a:solidFill>
              <a:srgbClr val="FDFAF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Amel</a:t>
            </a:r>
            <a:r>
              <a:rPr lang="en-IN" sz="2100" dirty="0">
                <a:solidFill>
                  <a:schemeClr val="accent6">
                    <a:lumMod val="50000"/>
                  </a:schemeClr>
                </a:solidFill>
              </a:rPr>
              <a:t> Online &amp; Irene </a:t>
            </a:r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magdalena</a:t>
            </a:r>
            <a:endParaRPr lang="en-IN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2"/>
              </a:rPr>
              <a:t>https://</a:t>
            </a:r>
            <a:r>
              <a:rPr lang="en-US" sz="600" dirty="0">
                <a:hlinkClick r:id="rId2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1453903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3885</TotalTime>
  <Words>594</Words>
  <Application>Microsoft Office PowerPoint</Application>
  <PresentationFormat>On-screen Show (16:9)</PresentationFormat>
  <Paragraphs>113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Open Sans</vt:lpstr>
      <vt:lpstr>맑은 고딕</vt:lpstr>
      <vt:lpstr>PT Sans Narrow</vt:lpstr>
      <vt:lpstr>Arial</vt:lpstr>
      <vt:lpstr>Tropic</vt:lpstr>
      <vt:lpstr>PowerPoint Presentation</vt:lpstr>
      <vt:lpstr>Cloud Service Models</vt:lpstr>
      <vt:lpstr>Introduction to Cloud Service Models</vt:lpstr>
      <vt:lpstr>1. Infrastructure as a Service (IaaS)</vt:lpstr>
      <vt:lpstr>2. Platform as a Service (PaaS)</vt:lpstr>
      <vt:lpstr>3. Software as a Service (SaaS)</vt:lpstr>
      <vt:lpstr>Key Differences Between Service Models</vt:lpstr>
      <vt:lpstr>Advantages and Disadvantages</vt:lpstr>
      <vt:lpstr>Case Study – Comparing Real-World Examples</vt:lpstr>
      <vt:lpstr>Identify the Service Model</vt:lpstr>
      <vt:lpstr>Identify the Service Model</vt:lpstr>
      <vt:lpstr>Summary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1</cp:revision>
  <dcterms:modified xsi:type="dcterms:W3CDTF">2026-10-05T01:41:22Z</dcterms:modified>
</cp:coreProperties>
</file>