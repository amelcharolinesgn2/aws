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2"/>
  </p:notesMasterIdLst>
  <p:sldIdLst>
    <p:sldId id="257" r:id="rId2"/>
    <p:sldId id="262" r:id="rId3"/>
    <p:sldId id="342" r:id="rId4"/>
    <p:sldId id="343" r:id="rId5"/>
    <p:sldId id="345" r:id="rId6"/>
    <p:sldId id="263" r:id="rId7"/>
    <p:sldId id="339" r:id="rId8"/>
    <p:sldId id="340" r:id="rId9"/>
    <p:sldId id="341" r:id="rId10"/>
    <p:sldId id="344" r:id="rId11"/>
  </p:sldIdLst>
  <p:sldSz cx="9144000" cy="5143500" type="screen16x9"/>
  <p:notesSz cx="6858000" cy="9144000"/>
  <p:embeddedFontLst>
    <p:embeddedFont>
      <p:font typeface="Roboto" panose="020B0604020202020204" charset="0"/>
      <p:regular r:id="rId13"/>
      <p:bold r:id="rId14"/>
      <p:italic r:id="rId15"/>
      <p:boldItalic r:id="rId16"/>
    </p:embeddedFont>
    <p:embeddedFont>
      <p:font typeface="Calibri Light" panose="020F0302020204030204" pitchFamily="34" charset="0"/>
      <p:regular r:id="rId17"/>
      <p:italic r:id="rId18"/>
    </p:embeddedFont>
    <p:embeddedFont>
      <p:font typeface="Roboto Condensed" panose="020B0604020202020204" charset="0"/>
      <p:regular r:id="rId19"/>
      <p:bold r:id="rId20"/>
      <p:italic r:id="rId21"/>
      <p:boldItalic r:id="rId22"/>
    </p:embeddedFont>
    <p:embeddedFont>
      <p:font typeface="Calibri" panose="020F050202020403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FD5D87-92B5-46CA-8A73-A5F56FFAE8DB}">
  <a:tblStyle styleId="{F7FD5D87-92B5-46CA-8A73-A5F56FFAE8DB}"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372" autoAdjust="0"/>
  </p:normalViewPr>
  <p:slideViewPr>
    <p:cSldViewPr snapToGrid="0">
      <p:cViewPr varScale="1">
        <p:scale>
          <a:sx n="75" d="100"/>
          <a:sy n="75" d="100"/>
        </p:scale>
        <p:origin x="58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192.168.100.51/horizon"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4" name="Shape 25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I’m an Application developer at heart, so I’ll start with Computing and Storage. If you got questions, here’s your best opportunity for coherent answers from me. I’ll talk about Big Data here, but it’s not my area of focus, so expect C+ answers here. </a:t>
            </a:r>
          </a:p>
          <a:p>
            <a:pPr lvl="0" rtl="0">
              <a:spcBef>
                <a:spcPts val="0"/>
              </a:spcBef>
              <a:buNone/>
            </a:pPr>
            <a:endParaRPr/>
          </a:p>
          <a:p>
            <a:pPr lvl="0" rtl="0">
              <a:spcBef>
                <a:spcPts val="0"/>
              </a:spcBef>
              <a:buNone/>
            </a:pPr>
            <a:r>
              <a:rPr lang="en"/>
              <a:t>Then I’ll talk about Networking, Operations. Answers to questions here: eh. </a:t>
            </a:r>
          </a:p>
          <a:p>
            <a:pPr lvl="0" rtl="0">
              <a:spcBef>
                <a:spcPts val="0"/>
              </a:spcBef>
              <a:buNone/>
            </a:pPr>
            <a:endParaRPr/>
          </a:p>
          <a:p>
            <a:pPr lvl="0" rtl="0">
              <a:spcBef>
                <a:spcPts val="0"/>
              </a:spcBef>
              <a:buNone/>
            </a:pPr>
            <a:r>
              <a:rPr lang="en"/>
              <a:t>I’ll finish in Development, with a brief sojourn into Machine learning. </a:t>
            </a:r>
          </a:p>
          <a:p>
            <a:pPr lvl="0" rtl="0">
              <a:spcBef>
                <a:spcPts val="0"/>
              </a:spcBef>
              <a:buNone/>
            </a:pPr>
            <a:endParaRPr/>
          </a:p>
          <a:p>
            <a:pPr lvl="0" rtl="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dirty="0"/>
              <a:t>I’m an Application developer at heart, so I’ll start with Computing and Storage. If you got questions, here’s your best opportunity for coherent answers from me. I’ll talk about Big Data here, but it’s not my area of focus, so expect C+ answers here. </a:t>
            </a:r>
          </a:p>
          <a:p>
            <a:pPr lvl="0" rtl="0">
              <a:spcBef>
                <a:spcPts val="0"/>
              </a:spcBef>
              <a:buNone/>
            </a:pPr>
            <a:endParaRPr dirty="0"/>
          </a:p>
          <a:p>
            <a:pPr lvl="0" rtl="0">
              <a:spcBef>
                <a:spcPts val="0"/>
              </a:spcBef>
              <a:buNone/>
            </a:pPr>
            <a:r>
              <a:rPr lang="en" dirty="0"/>
              <a:t>Then I’ll talk about Networking, Operations. Answers to questions here: eh. </a:t>
            </a:r>
          </a:p>
          <a:p>
            <a:pPr lvl="0" rtl="0">
              <a:spcBef>
                <a:spcPts val="0"/>
              </a:spcBef>
              <a:buNone/>
            </a:pPr>
            <a:endParaRPr dirty="0"/>
          </a:p>
          <a:p>
            <a:pPr lvl="0" rtl="0">
              <a:spcBef>
                <a:spcPts val="0"/>
              </a:spcBef>
              <a:buNone/>
            </a:pPr>
            <a:r>
              <a:rPr lang="en" dirty="0"/>
              <a:t>I’ll finish in Development, with a brief sojourn into Machine learning. </a:t>
            </a:r>
          </a:p>
          <a:p>
            <a:pPr lvl="0" rtl="0">
              <a:spcBef>
                <a:spcPts val="0"/>
              </a:spcBef>
              <a:buNone/>
            </a:pPr>
            <a:endParaRPr lang="en-US" dirty="0" smtClean="0"/>
          </a:p>
          <a:p>
            <a:pPr lvl="0" rtl="0">
              <a:spcBef>
                <a:spcPts val="0"/>
              </a:spcBef>
              <a:buNone/>
            </a:pPr>
            <a:r>
              <a:rPr lang="en-US" dirty="0" smtClean="0"/>
              <a:t>- **AWS Core Services** → EC2, VPC, RDS, EBS, S3, IAM, </a:t>
            </a:r>
            <a:r>
              <a:rPr lang="en-US" dirty="0" err="1" smtClean="0"/>
              <a:t>CloudFormation</a:t>
            </a:r>
            <a:r>
              <a:rPr lang="en-US" dirty="0" smtClean="0"/>
              <a:t>, </a:t>
            </a:r>
            <a:r>
              <a:rPr lang="en-US" dirty="0" err="1" smtClean="0"/>
              <a:t>CloudWatch</a:t>
            </a:r>
            <a:r>
              <a:rPr lang="en-US" dirty="0" smtClean="0"/>
              <a:t>- **</a:t>
            </a:r>
            <a:r>
              <a:rPr lang="en-US" dirty="0" err="1" smtClean="0"/>
              <a:t>Serverless</a:t>
            </a:r>
            <a:r>
              <a:rPr lang="en-US" dirty="0" smtClean="0"/>
              <a:t>** → Lambda, SQS, SNS, </a:t>
            </a:r>
            <a:r>
              <a:rPr lang="en-US" dirty="0" err="1" smtClean="0"/>
              <a:t>Cognito</a:t>
            </a:r>
            <a:r>
              <a:rPr lang="en-US" dirty="0" smtClean="0"/>
              <a:t>- **Containers** → ECS- **Networking** → ALB, NAT, Multi-AZ, VPC- **Automation** → </a:t>
            </a:r>
            <a:r>
              <a:rPr lang="en-US" dirty="0" err="1" smtClean="0"/>
              <a:t>IaC</a:t>
            </a:r>
            <a:r>
              <a:rPr lang="en-US" dirty="0" smtClean="0"/>
              <a:t> with </a:t>
            </a:r>
            <a:r>
              <a:rPr lang="en-US" dirty="0" err="1" smtClean="0"/>
              <a:t>CloudFormation</a:t>
            </a:r>
            <a:r>
              <a:rPr lang="en-US" dirty="0" smtClean="0"/>
              <a:t>- **Monitoring &amp; Cost Optimization**---</a:t>
            </a:r>
          </a:p>
          <a:p>
            <a:pPr lvl="0" rtl="0">
              <a:spcBef>
                <a:spcPts val="0"/>
              </a:spcBef>
              <a:buNone/>
            </a:pPr>
            <a:endParaRPr lang="en-US" dirty="0" smtClean="0"/>
          </a:p>
          <a:p>
            <a:pPr lvl="0" rtl="0">
              <a:spcBef>
                <a:spcPts val="0"/>
              </a:spcBef>
              <a:buNone/>
            </a:pPr>
            <a:endParaRPr lang="en-US" dirty="0" smtClean="0"/>
          </a:p>
          <a:p>
            <a:r>
              <a:rPr lang="en-US" sz="1100" b="1" i="0" kern="1200" dirty="0" smtClean="0">
                <a:solidFill>
                  <a:schemeClr val="tx1"/>
                </a:solidFill>
                <a:effectLst/>
                <a:latin typeface="+mn-lt"/>
                <a:ea typeface="+mn-ea"/>
                <a:cs typeface="+mn-cs"/>
              </a:rPr>
              <a:t>AWS Core Services</a:t>
            </a:r>
            <a:r>
              <a:rPr lang="en-US" sz="1100" b="0" i="0" kern="1200" dirty="0" smtClean="0">
                <a:solidFill>
                  <a:schemeClr val="tx1"/>
                </a:solidFill>
                <a:effectLst/>
                <a:latin typeface="+mn-lt"/>
                <a:ea typeface="+mn-ea"/>
                <a:cs typeface="+mn-cs"/>
              </a:rPr>
              <a:t> → EC2, VPC, RDS, EBS, S3, IAM, </a:t>
            </a:r>
            <a:r>
              <a:rPr lang="en-US" sz="1100" b="0" i="0" kern="1200" dirty="0" err="1" smtClean="0">
                <a:solidFill>
                  <a:schemeClr val="tx1"/>
                </a:solidFill>
                <a:effectLst/>
                <a:latin typeface="+mn-lt"/>
                <a:ea typeface="+mn-ea"/>
                <a:cs typeface="+mn-cs"/>
              </a:rPr>
              <a:t>CloudFormation</a:t>
            </a:r>
            <a:r>
              <a:rPr lang="en-US" sz="1100" b="0" i="0" kern="1200" dirty="0" smtClean="0">
                <a:solidFill>
                  <a:schemeClr val="tx1"/>
                </a:solidFill>
                <a:effectLst/>
                <a:latin typeface="+mn-lt"/>
                <a:ea typeface="+mn-ea"/>
                <a:cs typeface="+mn-cs"/>
              </a:rPr>
              <a:t>, </a:t>
            </a:r>
            <a:r>
              <a:rPr lang="en-US" sz="1100" b="0" i="0" kern="1200" dirty="0" err="1" smtClean="0">
                <a:solidFill>
                  <a:schemeClr val="tx1"/>
                </a:solidFill>
                <a:effectLst/>
                <a:latin typeface="+mn-lt"/>
                <a:ea typeface="+mn-ea"/>
                <a:cs typeface="+mn-cs"/>
              </a:rPr>
              <a:t>CloudWatch</a:t>
            </a:r>
            <a:endParaRPr lang="en-US" sz="1100" b="0" i="0" kern="1200" dirty="0" smtClean="0">
              <a:solidFill>
                <a:schemeClr val="tx1"/>
              </a:solidFill>
              <a:effectLst/>
              <a:latin typeface="+mn-lt"/>
              <a:ea typeface="+mn-ea"/>
              <a:cs typeface="+mn-cs"/>
            </a:endParaRPr>
          </a:p>
          <a:p>
            <a:r>
              <a:rPr lang="en-US" sz="1100" b="1" i="0" kern="1200" dirty="0" err="1" smtClean="0">
                <a:solidFill>
                  <a:schemeClr val="tx1"/>
                </a:solidFill>
                <a:effectLst/>
                <a:latin typeface="+mn-lt"/>
                <a:ea typeface="+mn-ea"/>
                <a:cs typeface="+mn-cs"/>
              </a:rPr>
              <a:t>Serverless</a:t>
            </a:r>
            <a:r>
              <a:rPr lang="en-US" sz="1100" b="0" i="0" kern="1200" dirty="0" smtClean="0">
                <a:solidFill>
                  <a:schemeClr val="tx1"/>
                </a:solidFill>
                <a:effectLst/>
                <a:latin typeface="+mn-lt"/>
                <a:ea typeface="+mn-ea"/>
                <a:cs typeface="+mn-cs"/>
              </a:rPr>
              <a:t> → Lambda, SQS, SNS, </a:t>
            </a:r>
            <a:r>
              <a:rPr lang="en-US" sz="1100" b="0" i="0" kern="1200" dirty="0" err="1" smtClean="0">
                <a:solidFill>
                  <a:schemeClr val="tx1"/>
                </a:solidFill>
                <a:effectLst/>
                <a:latin typeface="+mn-lt"/>
                <a:ea typeface="+mn-ea"/>
                <a:cs typeface="+mn-cs"/>
              </a:rPr>
              <a:t>Cognito</a:t>
            </a:r>
            <a:endParaRPr lang="en-US" sz="1100" b="0" i="0" kern="1200" dirty="0" smtClean="0">
              <a:solidFill>
                <a:schemeClr val="tx1"/>
              </a:solidFill>
              <a:effectLst/>
              <a:latin typeface="+mn-lt"/>
              <a:ea typeface="+mn-ea"/>
              <a:cs typeface="+mn-cs"/>
            </a:endParaRPr>
          </a:p>
          <a:p>
            <a:r>
              <a:rPr lang="en-US" sz="1100" b="1" i="0" kern="1200" dirty="0" smtClean="0">
                <a:solidFill>
                  <a:schemeClr val="tx1"/>
                </a:solidFill>
                <a:effectLst/>
                <a:latin typeface="+mn-lt"/>
                <a:ea typeface="+mn-ea"/>
                <a:cs typeface="+mn-cs"/>
              </a:rPr>
              <a:t>Containers</a:t>
            </a:r>
            <a:r>
              <a:rPr lang="en-US" sz="1100" b="0" i="0" kern="1200" dirty="0" smtClean="0">
                <a:solidFill>
                  <a:schemeClr val="tx1"/>
                </a:solidFill>
                <a:effectLst/>
                <a:latin typeface="+mn-lt"/>
                <a:ea typeface="+mn-ea"/>
                <a:cs typeface="+mn-cs"/>
              </a:rPr>
              <a:t> → ECS</a:t>
            </a:r>
          </a:p>
          <a:p>
            <a:r>
              <a:rPr lang="en-US" sz="1100" b="1" i="0" kern="1200" dirty="0" smtClean="0">
                <a:solidFill>
                  <a:schemeClr val="tx1"/>
                </a:solidFill>
                <a:effectLst/>
                <a:latin typeface="+mn-lt"/>
                <a:ea typeface="+mn-ea"/>
                <a:cs typeface="+mn-cs"/>
              </a:rPr>
              <a:t>Networking</a:t>
            </a:r>
            <a:r>
              <a:rPr lang="en-US" sz="1100" b="0" i="0" kern="1200" dirty="0" smtClean="0">
                <a:solidFill>
                  <a:schemeClr val="tx1"/>
                </a:solidFill>
                <a:effectLst/>
                <a:latin typeface="+mn-lt"/>
                <a:ea typeface="+mn-ea"/>
                <a:cs typeface="+mn-cs"/>
              </a:rPr>
              <a:t> → ALB, NAT, Multi-AZ, VPC</a:t>
            </a:r>
          </a:p>
          <a:p>
            <a:r>
              <a:rPr lang="en-US" sz="1100" b="1" i="0" kern="1200" dirty="0" smtClean="0">
                <a:solidFill>
                  <a:schemeClr val="tx1"/>
                </a:solidFill>
                <a:effectLst/>
                <a:latin typeface="+mn-lt"/>
                <a:ea typeface="+mn-ea"/>
                <a:cs typeface="+mn-cs"/>
              </a:rPr>
              <a:t>Automation</a:t>
            </a:r>
            <a:r>
              <a:rPr lang="en-US" sz="1100" b="0" i="0" kern="1200" dirty="0" smtClean="0">
                <a:solidFill>
                  <a:schemeClr val="tx1"/>
                </a:solidFill>
                <a:effectLst/>
                <a:latin typeface="+mn-lt"/>
                <a:ea typeface="+mn-ea"/>
                <a:cs typeface="+mn-cs"/>
              </a:rPr>
              <a:t> → </a:t>
            </a:r>
            <a:r>
              <a:rPr lang="en-US" sz="1100" b="0" i="0" kern="1200" dirty="0" err="1" smtClean="0">
                <a:solidFill>
                  <a:schemeClr val="tx1"/>
                </a:solidFill>
                <a:effectLst/>
                <a:latin typeface="+mn-lt"/>
                <a:ea typeface="+mn-ea"/>
                <a:cs typeface="+mn-cs"/>
              </a:rPr>
              <a:t>IaC</a:t>
            </a:r>
            <a:r>
              <a:rPr lang="en-US" sz="1100" b="0" i="0" kern="1200" dirty="0" smtClean="0">
                <a:solidFill>
                  <a:schemeClr val="tx1"/>
                </a:solidFill>
                <a:effectLst/>
                <a:latin typeface="+mn-lt"/>
                <a:ea typeface="+mn-ea"/>
                <a:cs typeface="+mn-cs"/>
              </a:rPr>
              <a:t> with </a:t>
            </a:r>
            <a:r>
              <a:rPr lang="en-US" sz="1100" b="0" i="0" kern="1200" dirty="0" err="1" smtClean="0">
                <a:solidFill>
                  <a:schemeClr val="tx1"/>
                </a:solidFill>
                <a:effectLst/>
                <a:latin typeface="+mn-lt"/>
                <a:ea typeface="+mn-ea"/>
                <a:cs typeface="+mn-cs"/>
              </a:rPr>
              <a:t>CloudFormation</a:t>
            </a:r>
            <a:endParaRPr lang="en-US" sz="1100" b="0" i="0" kern="1200" dirty="0" smtClean="0">
              <a:solidFill>
                <a:schemeClr val="tx1"/>
              </a:solidFill>
              <a:effectLst/>
              <a:latin typeface="+mn-lt"/>
              <a:ea typeface="+mn-ea"/>
              <a:cs typeface="+mn-cs"/>
            </a:endParaRPr>
          </a:p>
          <a:p>
            <a:r>
              <a:rPr lang="en-US" sz="1100" b="1" i="0" kern="1200" dirty="0" smtClean="0">
                <a:solidFill>
                  <a:schemeClr val="tx1"/>
                </a:solidFill>
                <a:effectLst/>
                <a:latin typeface="+mn-lt"/>
                <a:ea typeface="+mn-ea"/>
                <a:cs typeface="+mn-cs"/>
              </a:rPr>
              <a:t>Monitoring &amp; Cost Optimization</a:t>
            </a:r>
            <a:endParaRPr lang="en-US" sz="1100" b="0" i="0" kern="1200" dirty="0" smtClean="0">
              <a:solidFill>
                <a:schemeClr val="tx1"/>
              </a:solidFill>
              <a:effectLst/>
              <a:latin typeface="+mn-lt"/>
              <a:ea typeface="+mn-ea"/>
              <a:cs typeface="+mn-cs"/>
            </a:endParaRPr>
          </a:p>
          <a:p>
            <a:pPr lvl="0" rtl="0">
              <a:spcBef>
                <a:spcPts val="0"/>
              </a:spcBef>
              <a:buNone/>
            </a:pPr>
            <a:endParaRPr lang="en-US" dirty="0" smtClean="0"/>
          </a:p>
          <a:p>
            <a:pPr lvl="0" rtl="0">
              <a:spcBef>
                <a:spcPts val="0"/>
              </a:spcBef>
              <a:buNone/>
            </a:pPr>
            <a:endParaRPr lang="en-US" dirty="0" smtClean="0"/>
          </a:p>
          <a:p>
            <a:pPr lvl="0" rtl="0">
              <a:spcBef>
                <a:spcPts val="0"/>
              </a:spcBef>
              <a:buNone/>
            </a:pPr>
            <a:endParaRPr lang="en-US" dirty="0" smtClean="0"/>
          </a:p>
          <a:p>
            <a:pPr lvl="0" rtl="0">
              <a:spcBef>
                <a:spcPts val="0"/>
              </a:spcBef>
              <a:buNone/>
            </a:pPr>
            <a:endParaRPr lang="en-US" dirty="0" smtClean="0"/>
          </a:p>
          <a:p>
            <a:pPr lvl="0" rtl="0">
              <a:spcBef>
                <a:spcPts val="0"/>
              </a:spcBef>
              <a:buNone/>
            </a:pPr>
            <a:r>
              <a:rPr lang="en-US" dirty="0" smtClean="0"/>
              <a:t>https://github.com/saravana0702/aws-lab</a:t>
            </a:r>
            <a:endParaRPr dirty="0"/>
          </a:p>
          <a:p>
            <a:pPr lvl="0" rtl="0">
              <a:spcBef>
                <a:spcPts val="0"/>
              </a:spcBef>
              <a:buNone/>
            </a:pPr>
            <a:endParaRPr dirty="0"/>
          </a:p>
        </p:txBody>
      </p:sp>
    </p:spTree>
    <p:extLst>
      <p:ext uri="{BB962C8B-B14F-4D97-AF65-F5344CB8AC3E}">
        <p14:creationId xmlns:p14="http://schemas.microsoft.com/office/powerpoint/2010/main" val="3152994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https://github.com/openstack</a:t>
            </a:r>
          </a:p>
          <a:p>
            <a:pPr lvl="0" rtl="0">
              <a:spcBef>
                <a:spcPts val="0"/>
              </a:spcBef>
              <a:buNone/>
            </a:pPr>
            <a:r>
              <a:rPr lang="en-US" dirty="0" smtClean="0"/>
              <a:t>https://people.redhat.com/mlessard/mtl/presentations/oct2013/OpenstackOverview.pdf</a:t>
            </a:r>
          </a:p>
          <a:p>
            <a:pPr lvl="0" rtl="0">
              <a:spcBef>
                <a:spcPts val="0"/>
              </a:spcBef>
              <a:buNone/>
            </a:pPr>
            <a:r>
              <a:rPr lang="en-US" dirty="0" smtClean="0"/>
              <a:t>https://github.com/mikeroyal/OpenStack-Guide</a:t>
            </a:r>
          </a:p>
          <a:p>
            <a:pPr lvl="0" rtl="0">
              <a:spcBef>
                <a:spcPts val="0"/>
              </a:spcBef>
              <a:buNone/>
            </a:pPr>
            <a:endParaRPr lang="en-US" dirty="0" smtClean="0"/>
          </a:p>
          <a:p>
            <a:pPr lvl="0" rtl="0">
              <a:spcBef>
                <a:spcPts val="0"/>
              </a:spcBef>
              <a:buNone/>
            </a:pPr>
            <a:r>
              <a:rPr lang="en-US" dirty="0" smtClean="0"/>
              <a:t>https://github.com/citil/sample-labs/tree/master</a:t>
            </a:r>
          </a:p>
          <a:p>
            <a:pPr lvl="0" rtl="0">
              <a:spcBef>
                <a:spcPts val="0"/>
              </a:spcBef>
              <a:buNone/>
            </a:pPr>
            <a:r>
              <a:rPr lang="en-US" dirty="0" smtClean="0"/>
              <a:t>https://github.com/nexus-lab/openstack_labs/tree/main/lab2</a:t>
            </a:r>
          </a:p>
          <a:p>
            <a:pPr lvl="0" rtl="0">
              <a:spcBef>
                <a:spcPts val="0"/>
              </a:spcBef>
              <a:buNone/>
            </a:pPr>
            <a:r>
              <a:rPr lang="en-US" dirty="0" smtClean="0"/>
              <a:t>https://github.com/nexus-lab/openstack_labs/blob/main/lab7/OpenStack_Lab_07.pdf</a:t>
            </a:r>
          </a:p>
          <a:p>
            <a:pPr lvl="0" rtl="0">
              <a:spcBef>
                <a:spcPts val="0"/>
              </a:spcBef>
              <a:buNone/>
            </a:pPr>
            <a:endParaRPr lang="en-US" dirty="0" smtClean="0"/>
          </a:p>
          <a:p>
            <a:pPr lvl="0" rtl="0">
              <a:spcBef>
                <a:spcPts val="0"/>
              </a:spcBef>
              <a:buNone/>
            </a:pPr>
            <a:endParaRPr lang="en-US" dirty="0" smtClean="0"/>
          </a:p>
          <a:p>
            <a:r>
              <a:rPr lang="en-US" sz="1100" b="1" i="0" kern="1200" dirty="0" smtClean="0">
                <a:solidFill>
                  <a:schemeClr val="tx1"/>
                </a:solidFill>
                <a:effectLst/>
                <a:latin typeface="+mn-lt"/>
                <a:ea typeface="+mn-ea"/>
                <a:cs typeface="+mn-cs"/>
              </a:rPr>
              <a:t>OpenStack services installed on Controller node:</a:t>
            </a:r>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Keystone</a:t>
            </a:r>
          </a:p>
          <a:p>
            <a:r>
              <a:rPr lang="en-US" sz="1100" b="0" i="0" kern="1200" dirty="0" smtClean="0">
                <a:solidFill>
                  <a:schemeClr val="tx1"/>
                </a:solidFill>
                <a:effectLst/>
                <a:latin typeface="+mn-lt"/>
                <a:ea typeface="+mn-ea"/>
                <a:cs typeface="+mn-cs"/>
              </a:rPr>
              <a:t>Horizon</a:t>
            </a:r>
          </a:p>
          <a:p>
            <a:r>
              <a:rPr lang="en-US" sz="1100" b="0" i="0" kern="1200" dirty="0" smtClean="0">
                <a:solidFill>
                  <a:schemeClr val="tx1"/>
                </a:solidFill>
                <a:effectLst/>
                <a:latin typeface="+mn-lt"/>
                <a:ea typeface="+mn-ea"/>
                <a:cs typeface="+mn-cs"/>
              </a:rPr>
              <a:t>Glance</a:t>
            </a:r>
          </a:p>
          <a:p>
            <a:r>
              <a:rPr lang="en-US" sz="1100" b="0" i="0" kern="1200" dirty="0" smtClean="0">
                <a:solidFill>
                  <a:schemeClr val="tx1"/>
                </a:solidFill>
                <a:effectLst/>
                <a:latin typeface="+mn-lt"/>
                <a:ea typeface="+mn-ea"/>
                <a:cs typeface="+mn-cs"/>
              </a:rPr>
              <a:t>Nova</a:t>
            </a:r>
          </a:p>
          <a:p>
            <a:pPr lvl="1"/>
            <a:r>
              <a:rPr lang="en-US" sz="1100" b="0" i="0" kern="1200" dirty="0" smtClean="0">
                <a:solidFill>
                  <a:schemeClr val="tx1"/>
                </a:solidFill>
                <a:effectLst/>
                <a:latin typeface="+mn-lt"/>
                <a:ea typeface="+mn-ea"/>
                <a:cs typeface="+mn-cs"/>
              </a:rPr>
              <a:t>nova-</a:t>
            </a:r>
            <a:r>
              <a:rPr lang="en-US" sz="1100" b="0" i="0" kern="1200" dirty="0" err="1" smtClean="0">
                <a:solidFill>
                  <a:schemeClr val="tx1"/>
                </a:solidFill>
                <a:effectLst/>
                <a:latin typeface="+mn-lt"/>
                <a:ea typeface="+mn-ea"/>
                <a:cs typeface="+mn-cs"/>
              </a:rPr>
              <a:t>api</a:t>
            </a:r>
            <a:endParaRPr lang="en-US" sz="1100" b="0" i="0" kern="1200" dirty="0" smtClean="0">
              <a:solidFill>
                <a:schemeClr val="tx1"/>
              </a:solidFill>
              <a:effectLst/>
              <a:latin typeface="+mn-lt"/>
              <a:ea typeface="+mn-ea"/>
              <a:cs typeface="+mn-cs"/>
            </a:endParaRPr>
          </a:p>
          <a:p>
            <a:pPr lvl="1"/>
            <a:r>
              <a:rPr lang="en-US" sz="1100" b="0" i="0" kern="1200" dirty="0" smtClean="0">
                <a:solidFill>
                  <a:schemeClr val="tx1"/>
                </a:solidFill>
                <a:effectLst/>
                <a:latin typeface="+mn-lt"/>
                <a:ea typeface="+mn-ea"/>
                <a:cs typeface="+mn-cs"/>
              </a:rPr>
              <a:t>nova-scheduler</a:t>
            </a:r>
          </a:p>
          <a:p>
            <a:pPr lvl="1"/>
            <a:r>
              <a:rPr lang="en-US" sz="1100" b="0" i="0" kern="1200" dirty="0" smtClean="0">
                <a:solidFill>
                  <a:schemeClr val="tx1"/>
                </a:solidFill>
                <a:effectLst/>
                <a:latin typeface="+mn-lt"/>
                <a:ea typeface="+mn-ea"/>
                <a:cs typeface="+mn-cs"/>
              </a:rPr>
              <a:t>nova-</a:t>
            </a:r>
            <a:r>
              <a:rPr lang="en-US" sz="1100" b="0" i="0" kern="1200" dirty="0" err="1" smtClean="0">
                <a:solidFill>
                  <a:schemeClr val="tx1"/>
                </a:solidFill>
                <a:effectLst/>
                <a:latin typeface="+mn-lt"/>
                <a:ea typeface="+mn-ea"/>
                <a:cs typeface="+mn-cs"/>
              </a:rPr>
              <a:t>consoleauth</a:t>
            </a:r>
            <a:endParaRPr lang="en-US" sz="1100" b="0" i="0" kern="1200" dirty="0" smtClean="0">
              <a:solidFill>
                <a:schemeClr val="tx1"/>
              </a:solidFill>
              <a:effectLst/>
              <a:latin typeface="+mn-lt"/>
              <a:ea typeface="+mn-ea"/>
              <a:cs typeface="+mn-cs"/>
            </a:endParaRPr>
          </a:p>
          <a:p>
            <a:pPr lvl="1"/>
            <a:r>
              <a:rPr lang="en-US" sz="1100" b="0" i="0" kern="1200" dirty="0" smtClean="0">
                <a:solidFill>
                  <a:schemeClr val="tx1"/>
                </a:solidFill>
                <a:effectLst/>
                <a:latin typeface="+mn-lt"/>
                <a:ea typeface="+mn-ea"/>
                <a:cs typeface="+mn-cs"/>
              </a:rPr>
              <a:t>nova-cert</a:t>
            </a:r>
          </a:p>
          <a:p>
            <a:pPr lvl="1"/>
            <a:r>
              <a:rPr lang="en-US" sz="1100" b="0" i="0" kern="1200" dirty="0" smtClean="0">
                <a:solidFill>
                  <a:schemeClr val="tx1"/>
                </a:solidFill>
                <a:effectLst/>
                <a:latin typeface="+mn-lt"/>
                <a:ea typeface="+mn-ea"/>
                <a:cs typeface="+mn-cs"/>
              </a:rPr>
              <a:t>nova-</a:t>
            </a:r>
            <a:r>
              <a:rPr lang="en-US" sz="1100" b="0" i="0" kern="1200" dirty="0" err="1" smtClean="0">
                <a:solidFill>
                  <a:schemeClr val="tx1"/>
                </a:solidFill>
                <a:effectLst/>
                <a:latin typeface="+mn-lt"/>
                <a:ea typeface="+mn-ea"/>
                <a:cs typeface="+mn-cs"/>
              </a:rPr>
              <a:t>novncproxy</a:t>
            </a:r>
            <a:endParaRPr lang="en-US" sz="1100" b="0" i="0" kern="1200" dirty="0" smtClean="0">
              <a:solidFill>
                <a:schemeClr val="tx1"/>
              </a:solidFill>
              <a:effectLst/>
              <a:latin typeface="+mn-lt"/>
              <a:ea typeface="+mn-ea"/>
              <a:cs typeface="+mn-cs"/>
            </a:endParaRPr>
          </a:p>
          <a:p>
            <a:pPr lvl="1"/>
            <a:r>
              <a:rPr lang="en-US" sz="1100" b="0" i="0" kern="1200" dirty="0" smtClean="0">
                <a:solidFill>
                  <a:schemeClr val="tx1"/>
                </a:solidFill>
                <a:effectLst/>
                <a:latin typeface="+mn-lt"/>
                <a:ea typeface="+mn-ea"/>
                <a:cs typeface="+mn-cs"/>
              </a:rPr>
              <a:t>python-</a:t>
            </a:r>
            <a:r>
              <a:rPr lang="en-US" sz="1100" b="0" i="0" kern="1200" dirty="0" err="1" smtClean="0">
                <a:solidFill>
                  <a:schemeClr val="tx1"/>
                </a:solidFill>
                <a:effectLst/>
                <a:latin typeface="+mn-lt"/>
                <a:ea typeface="+mn-ea"/>
                <a:cs typeface="+mn-cs"/>
              </a:rPr>
              <a:t>novaclient</a:t>
            </a:r>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Neutron</a:t>
            </a:r>
          </a:p>
          <a:p>
            <a:pPr lvl="1"/>
            <a:r>
              <a:rPr lang="en-US" sz="1100" b="0" i="0" kern="1200" dirty="0" smtClean="0">
                <a:solidFill>
                  <a:schemeClr val="tx1"/>
                </a:solidFill>
                <a:effectLst/>
                <a:latin typeface="+mn-lt"/>
                <a:ea typeface="+mn-ea"/>
                <a:cs typeface="+mn-cs"/>
              </a:rPr>
              <a:t>neutron-server</a:t>
            </a:r>
          </a:p>
          <a:p>
            <a:r>
              <a:rPr lang="en-US" sz="1100" b="0" i="0" kern="1200" dirty="0" smtClean="0">
                <a:solidFill>
                  <a:schemeClr val="tx1"/>
                </a:solidFill>
                <a:effectLst/>
                <a:latin typeface="+mn-lt"/>
                <a:ea typeface="+mn-ea"/>
                <a:cs typeface="+mn-cs"/>
              </a:rPr>
              <a:t>Cinder</a:t>
            </a:r>
          </a:p>
          <a:p>
            <a:r>
              <a:rPr lang="en-US" sz="1100" b="1" i="0" kern="1200" dirty="0" err="1" smtClean="0">
                <a:solidFill>
                  <a:schemeClr val="tx1"/>
                </a:solidFill>
                <a:effectLst/>
                <a:latin typeface="+mn-lt"/>
                <a:ea typeface="+mn-ea"/>
                <a:cs typeface="+mn-cs"/>
              </a:rPr>
              <a:t>Openstack</a:t>
            </a:r>
            <a:r>
              <a:rPr lang="en-US" sz="1100" b="1" i="0" kern="1200" dirty="0" smtClean="0">
                <a:solidFill>
                  <a:schemeClr val="tx1"/>
                </a:solidFill>
                <a:effectLst/>
                <a:latin typeface="+mn-lt"/>
                <a:ea typeface="+mn-ea"/>
                <a:cs typeface="+mn-cs"/>
              </a:rPr>
              <a:t> services installed on Network node:</a:t>
            </a:r>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Neutron</a:t>
            </a:r>
          </a:p>
          <a:p>
            <a:pPr lvl="1"/>
            <a:r>
              <a:rPr lang="en-US" sz="1100" b="0" i="0" kern="1200" dirty="0" smtClean="0">
                <a:solidFill>
                  <a:schemeClr val="tx1"/>
                </a:solidFill>
                <a:effectLst/>
                <a:latin typeface="+mn-lt"/>
                <a:ea typeface="+mn-ea"/>
                <a:cs typeface="+mn-cs"/>
              </a:rPr>
              <a:t>neutron-plugin-</a:t>
            </a:r>
            <a:r>
              <a:rPr lang="en-US" sz="1100" b="0" i="0" kern="1200" dirty="0" err="1" smtClean="0">
                <a:solidFill>
                  <a:schemeClr val="tx1"/>
                </a:solidFill>
                <a:effectLst/>
                <a:latin typeface="+mn-lt"/>
                <a:ea typeface="+mn-ea"/>
                <a:cs typeface="+mn-cs"/>
              </a:rPr>
              <a:t>openvswitch</a:t>
            </a:r>
            <a:r>
              <a:rPr lang="en-US" sz="1100" b="0" i="0" kern="1200" dirty="0" smtClean="0">
                <a:solidFill>
                  <a:schemeClr val="tx1"/>
                </a:solidFill>
                <a:effectLst/>
                <a:latin typeface="+mn-lt"/>
                <a:ea typeface="+mn-ea"/>
                <a:cs typeface="+mn-cs"/>
              </a:rPr>
              <a:t>-agent</a:t>
            </a:r>
          </a:p>
          <a:p>
            <a:pPr lvl="1"/>
            <a:r>
              <a:rPr lang="en-US" sz="1100" b="0" i="0" kern="1200" dirty="0" smtClean="0">
                <a:solidFill>
                  <a:schemeClr val="tx1"/>
                </a:solidFill>
                <a:effectLst/>
                <a:latin typeface="+mn-lt"/>
                <a:ea typeface="+mn-ea"/>
                <a:cs typeface="+mn-cs"/>
              </a:rPr>
              <a:t>neutron-l3-agent</a:t>
            </a:r>
          </a:p>
          <a:p>
            <a:pPr lvl="1"/>
            <a:r>
              <a:rPr lang="en-US" sz="1100" b="0" i="0" kern="1200" dirty="0" smtClean="0">
                <a:solidFill>
                  <a:schemeClr val="tx1"/>
                </a:solidFill>
                <a:effectLst/>
                <a:latin typeface="+mn-lt"/>
                <a:ea typeface="+mn-ea"/>
                <a:cs typeface="+mn-cs"/>
              </a:rPr>
              <a:t>neutron-</a:t>
            </a:r>
            <a:r>
              <a:rPr lang="en-US" sz="1100" b="0" i="0" kern="1200" dirty="0" err="1" smtClean="0">
                <a:solidFill>
                  <a:schemeClr val="tx1"/>
                </a:solidFill>
                <a:effectLst/>
                <a:latin typeface="+mn-lt"/>
                <a:ea typeface="+mn-ea"/>
                <a:cs typeface="+mn-cs"/>
              </a:rPr>
              <a:t>dhcp</a:t>
            </a:r>
            <a:r>
              <a:rPr lang="en-US" sz="1100" b="0" i="0" kern="1200" dirty="0" smtClean="0">
                <a:solidFill>
                  <a:schemeClr val="tx1"/>
                </a:solidFill>
                <a:effectLst/>
                <a:latin typeface="+mn-lt"/>
                <a:ea typeface="+mn-ea"/>
                <a:cs typeface="+mn-cs"/>
              </a:rPr>
              <a:t>-agent</a:t>
            </a:r>
          </a:p>
          <a:p>
            <a:pPr lvl="1"/>
            <a:r>
              <a:rPr lang="en-US" sz="1100" b="0" i="0" kern="1200" dirty="0" smtClean="0">
                <a:solidFill>
                  <a:schemeClr val="tx1"/>
                </a:solidFill>
                <a:effectLst/>
                <a:latin typeface="+mn-lt"/>
                <a:ea typeface="+mn-ea"/>
                <a:cs typeface="+mn-cs"/>
              </a:rPr>
              <a:t>neutron-metadata-agent</a:t>
            </a:r>
          </a:p>
          <a:p>
            <a:r>
              <a:rPr lang="en-US" sz="1100" b="1" i="0" kern="1200" dirty="0" err="1" smtClean="0">
                <a:solidFill>
                  <a:schemeClr val="tx1"/>
                </a:solidFill>
                <a:effectLst/>
                <a:latin typeface="+mn-lt"/>
                <a:ea typeface="+mn-ea"/>
                <a:cs typeface="+mn-cs"/>
              </a:rPr>
              <a:t>Openstack</a:t>
            </a:r>
            <a:r>
              <a:rPr lang="en-US" sz="1100" b="1" i="0" kern="1200" dirty="0" smtClean="0">
                <a:solidFill>
                  <a:schemeClr val="tx1"/>
                </a:solidFill>
                <a:effectLst/>
                <a:latin typeface="+mn-lt"/>
                <a:ea typeface="+mn-ea"/>
                <a:cs typeface="+mn-cs"/>
              </a:rPr>
              <a:t> Services installed on Compute node:</a:t>
            </a:r>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Nova</a:t>
            </a:r>
          </a:p>
          <a:p>
            <a:pPr lvl="1"/>
            <a:r>
              <a:rPr lang="en-US" sz="1100" b="0" i="0" kern="1200" dirty="0" smtClean="0">
                <a:solidFill>
                  <a:schemeClr val="tx1"/>
                </a:solidFill>
                <a:effectLst/>
                <a:latin typeface="+mn-lt"/>
                <a:ea typeface="+mn-ea"/>
                <a:cs typeface="+mn-cs"/>
              </a:rPr>
              <a:t>nova-compute</a:t>
            </a:r>
          </a:p>
          <a:p>
            <a:r>
              <a:rPr lang="en-US" sz="1100" b="0" i="0" kern="1200" dirty="0" smtClean="0">
                <a:solidFill>
                  <a:schemeClr val="tx1"/>
                </a:solidFill>
                <a:effectLst/>
                <a:latin typeface="+mn-lt"/>
                <a:ea typeface="+mn-ea"/>
                <a:cs typeface="+mn-cs"/>
              </a:rPr>
              <a:t>Neutron</a:t>
            </a:r>
          </a:p>
          <a:p>
            <a:pPr lvl="1"/>
            <a:r>
              <a:rPr lang="en-US" sz="1100" b="0" i="0" kern="1200" dirty="0" smtClean="0">
                <a:solidFill>
                  <a:schemeClr val="tx1"/>
                </a:solidFill>
                <a:effectLst/>
                <a:latin typeface="+mn-lt"/>
                <a:ea typeface="+mn-ea"/>
                <a:cs typeface="+mn-cs"/>
              </a:rPr>
              <a:t>neutron-plugin-</a:t>
            </a:r>
            <a:r>
              <a:rPr lang="en-US" sz="1100" b="0" i="0" kern="1200" dirty="0" err="1" smtClean="0">
                <a:solidFill>
                  <a:schemeClr val="tx1"/>
                </a:solidFill>
                <a:effectLst/>
                <a:latin typeface="+mn-lt"/>
                <a:ea typeface="+mn-ea"/>
                <a:cs typeface="+mn-cs"/>
              </a:rPr>
              <a:t>openvswitch</a:t>
            </a:r>
            <a:r>
              <a:rPr lang="en-US" sz="1100" b="0" i="0" kern="1200" dirty="0" smtClean="0">
                <a:solidFill>
                  <a:schemeClr val="tx1"/>
                </a:solidFill>
                <a:effectLst/>
                <a:latin typeface="+mn-lt"/>
                <a:ea typeface="+mn-ea"/>
                <a:cs typeface="+mn-cs"/>
              </a:rPr>
              <a:t>-agent</a:t>
            </a:r>
          </a:p>
          <a:p>
            <a:r>
              <a:rPr lang="en-US" sz="1100" b="1" i="0" kern="1200" dirty="0" smtClean="0">
                <a:solidFill>
                  <a:schemeClr val="tx1"/>
                </a:solidFill>
                <a:effectLst/>
                <a:latin typeface="+mn-lt"/>
                <a:ea typeface="+mn-ea"/>
                <a:cs typeface="+mn-cs"/>
              </a:rPr>
              <a:t>How to access the services</a:t>
            </a:r>
          </a:p>
          <a:p>
            <a:r>
              <a:rPr lang="en-US" sz="1100" b="0" i="0" kern="1200" dirty="0" smtClean="0">
                <a:solidFill>
                  <a:schemeClr val="tx1"/>
                </a:solidFill>
                <a:effectLst/>
                <a:latin typeface="+mn-lt"/>
                <a:ea typeface="+mn-ea"/>
                <a:cs typeface="+mn-cs"/>
              </a:rPr>
              <a:t>There are two ways to access the services:</a:t>
            </a:r>
          </a:p>
          <a:p>
            <a:r>
              <a:rPr lang="en-US" sz="1100" b="0" i="0" kern="1200" dirty="0" smtClean="0">
                <a:solidFill>
                  <a:schemeClr val="tx1"/>
                </a:solidFill>
                <a:effectLst/>
                <a:latin typeface="+mn-lt"/>
                <a:ea typeface="+mn-ea"/>
                <a:cs typeface="+mn-cs"/>
              </a:rPr>
              <a:t>OpenStack Dashboard (horizon)</a:t>
            </a:r>
          </a:p>
          <a:p>
            <a:r>
              <a:rPr lang="en-US" sz="1100" b="0" i="0" kern="1200" dirty="0" smtClean="0">
                <a:solidFill>
                  <a:schemeClr val="tx1"/>
                </a:solidFill>
                <a:effectLst/>
                <a:latin typeface="+mn-lt"/>
                <a:ea typeface="+mn-ea"/>
                <a:cs typeface="+mn-cs"/>
              </a:rPr>
              <a:t>You can access the dashboard at: </a:t>
            </a:r>
            <a:r>
              <a:rPr lang="en-US" sz="1100" b="0" i="0" u="sng" kern="1200" dirty="0" smtClean="0">
                <a:solidFill>
                  <a:schemeClr val="tx1"/>
                </a:solidFill>
                <a:effectLst/>
                <a:latin typeface="+mn-lt"/>
                <a:ea typeface="+mn-ea"/>
                <a:cs typeface="+mn-cs"/>
                <a:hlinkClick r:id="rId3"/>
              </a:rPr>
              <a:t>http://192.168.100.51/horizon</a:t>
            </a:r>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Admin Login:</a:t>
            </a:r>
          </a:p>
          <a:p>
            <a:r>
              <a:rPr lang="en-US" sz="1100" b="0" i="0" kern="1200" dirty="0" smtClean="0">
                <a:solidFill>
                  <a:schemeClr val="tx1"/>
                </a:solidFill>
                <a:effectLst/>
                <a:latin typeface="+mn-lt"/>
                <a:ea typeface="+mn-ea"/>
                <a:cs typeface="+mn-cs"/>
              </a:rPr>
              <a:t>Username: admin</a:t>
            </a:r>
          </a:p>
          <a:p>
            <a:r>
              <a:rPr lang="en-US" sz="1100" b="0" i="0" kern="1200" dirty="0" smtClean="0">
                <a:solidFill>
                  <a:schemeClr val="tx1"/>
                </a:solidFill>
                <a:effectLst/>
                <a:latin typeface="+mn-lt"/>
                <a:ea typeface="+mn-ea"/>
                <a:cs typeface="+mn-cs"/>
              </a:rPr>
              <a:t>Password: </a:t>
            </a:r>
            <a:r>
              <a:rPr lang="en-US" sz="1100" b="0" i="0" kern="1200" dirty="0" err="1" smtClean="0">
                <a:solidFill>
                  <a:schemeClr val="tx1"/>
                </a:solidFill>
                <a:effectLst/>
                <a:latin typeface="+mn-lt"/>
                <a:ea typeface="+mn-ea"/>
                <a:cs typeface="+mn-cs"/>
              </a:rPr>
              <a:t>admin_pass</a:t>
            </a:r>
            <a:endParaRPr lang="en-US" sz="1100" b="0" i="0" kern="1200" dirty="0" smtClean="0">
              <a:solidFill>
                <a:schemeClr val="tx1"/>
              </a:solidFill>
              <a:effectLst/>
              <a:latin typeface="+mn-lt"/>
              <a:ea typeface="+mn-ea"/>
              <a:cs typeface="+mn-cs"/>
            </a:endParaRPr>
          </a:p>
          <a:p>
            <a:pPr lvl="0" rtl="0">
              <a:spcBef>
                <a:spcPts val="0"/>
              </a:spcBef>
              <a:buNone/>
            </a:pPr>
            <a:endParaRPr dirty="0"/>
          </a:p>
        </p:txBody>
      </p:sp>
    </p:spTree>
    <p:extLst>
      <p:ext uri="{BB962C8B-B14F-4D97-AF65-F5344CB8AC3E}">
        <p14:creationId xmlns:p14="http://schemas.microsoft.com/office/powerpoint/2010/main" val="3591710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https://github.com/christianb93/openstack-labs/blob/master/Lab9/Vagrantfile</a:t>
            </a:r>
          </a:p>
          <a:p>
            <a:endParaRPr lang="en-US" dirty="0" smtClean="0"/>
          </a:p>
          <a:p>
            <a:r>
              <a:rPr lang="en-US" smtClean="0"/>
              <a:t>https://github.com/christianb93/k8s-on-openstack</a:t>
            </a:r>
            <a:endParaRPr lang="en-US"/>
          </a:p>
        </p:txBody>
      </p:sp>
    </p:spTree>
    <p:extLst>
      <p:ext uri="{BB962C8B-B14F-4D97-AF65-F5344CB8AC3E}">
        <p14:creationId xmlns:p14="http://schemas.microsoft.com/office/powerpoint/2010/main" val="1161725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9" name="Shape 28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solidFill>
                  <a:schemeClr val="dk1"/>
                </a:solidFill>
              </a:rPr>
              <a:t>This is a little harder than it looks.  Cause here is how we typically list these. </a:t>
            </a:r>
          </a:p>
          <a:p>
            <a:pPr lvl="0">
              <a:spcBef>
                <a:spcPts val="0"/>
              </a:spcBef>
              <a:buNone/>
            </a:pPr>
            <a:endParaRPr>
              <a:solidFill>
                <a:schemeClr val="dk1"/>
              </a:solidFill>
            </a:endParaRPr>
          </a:p>
          <a:p>
            <a:pPr lvl="0">
              <a:spcBef>
                <a:spcPts val="0"/>
              </a:spcBef>
              <a:buNone/>
            </a:pPr>
            <a:r>
              <a:rPr lang="en">
                <a:solidFill>
                  <a:schemeClr val="dk1"/>
                </a:solidFill>
              </a:rPr>
              <a:t>There are over 50 products on this slide. We bunch them up and try to make them fit themes. But at the end of the day, almost everyone of these is can be an hour or several hours of talks. I’m trying to scrunch in.</a:t>
            </a:r>
          </a:p>
          <a:p>
            <a:pPr lvl="0">
              <a:spcBef>
                <a:spcPts val="0"/>
              </a:spcBef>
              <a:buNone/>
            </a:pPr>
            <a:r>
              <a:rPr lang="en">
                <a:solidFill>
                  <a:schemeClr val="dk1"/>
                </a:solidFill>
              </a:rPr>
              <a:t>Everyone in this room, probably has A problem that can be solved by something on this chart, but none of you will have all of the same issues, or end up with the same products.  You probably will only need to deal with a fraction of it. </a:t>
            </a:r>
          </a:p>
          <a:p>
            <a:pPr lvl="0">
              <a:spcBef>
                <a:spcPts val="0"/>
              </a:spcBef>
              <a:buNone/>
            </a:pPr>
            <a:r>
              <a:rPr lang="en">
                <a:solidFill>
                  <a:schemeClr val="dk1"/>
                </a:solidFill>
              </a:rPr>
              <a:t>Which is why when you go to cloud.google.com, it can feel like overload. </a:t>
            </a:r>
          </a:p>
          <a:p>
            <a:pPr lvl="0">
              <a:spcBef>
                <a:spcPts val="0"/>
              </a:spcBef>
              <a:buNone/>
            </a:pPr>
            <a:r>
              <a:rPr lang="en">
                <a:solidFill>
                  <a:schemeClr val="dk1"/>
                </a:solidFill>
              </a:rPr>
              <a:t>Which is why I’m giving this talk</a:t>
            </a:r>
          </a:p>
          <a:p>
            <a:pPr lvl="0">
              <a:spcBef>
                <a:spcPts val="0"/>
              </a:spcBef>
              <a:buClr>
                <a:schemeClr val="dk1"/>
              </a:buClr>
              <a:buSzPct val="100000"/>
              <a:buFont typeface="Arial"/>
              <a:buNone/>
            </a:pPr>
            <a:endParaRPr>
              <a:solidFill>
                <a:schemeClr val="dk1"/>
              </a:solidFill>
            </a:endParaRPr>
          </a:p>
          <a:p>
            <a:pPr lvl="0">
              <a:spcBef>
                <a:spcPts val="0"/>
              </a:spcBef>
              <a:buNone/>
            </a:pPr>
            <a:r>
              <a:rPr lang="en">
                <a:solidFill>
                  <a:schemeClr val="dk1"/>
                </a:solidFill>
              </a:rPr>
              <a:t>I won’t name everything.  Why? </a:t>
            </a:r>
          </a:p>
          <a:p>
            <a:pPr lvl="0">
              <a:spcBef>
                <a:spcPts val="0"/>
              </a:spcBef>
              <a:buNone/>
            </a:pPr>
            <a:r>
              <a:rPr lang="en">
                <a:solidFill>
                  <a:schemeClr val="dk1"/>
                </a:solidFill>
              </a:rPr>
              <a:t>Was it that I couldn’t fit everything? Maybe.</a:t>
            </a:r>
          </a:p>
          <a:p>
            <a:pPr lvl="0">
              <a:spcBef>
                <a:spcPts val="0"/>
              </a:spcBef>
              <a:buNone/>
            </a:pPr>
            <a:r>
              <a:rPr lang="en">
                <a:solidFill>
                  <a:schemeClr val="dk1"/>
                </a:solidFill>
              </a:rPr>
              <a:t>Is it cause I’m not an expert in all of it? Probably. </a:t>
            </a:r>
          </a:p>
          <a:p>
            <a:pPr lvl="0">
              <a:spcBef>
                <a:spcPts val="0"/>
              </a:spcBef>
              <a:buNone/>
            </a:pPr>
            <a:r>
              <a:rPr lang="en">
                <a:solidFill>
                  <a:schemeClr val="dk1"/>
                </a:solidFill>
              </a:rPr>
              <a:t>Did the keynote give a lot of love to our big releases? Definitely. </a:t>
            </a:r>
          </a:p>
          <a:p>
            <a:pPr lvl="0">
              <a:spcBef>
                <a:spcPts val="0"/>
              </a:spcBef>
              <a:buClr>
                <a:schemeClr val="dk1"/>
              </a:buClr>
              <a:buSzPct val="100000"/>
              <a:buFont typeface="Arial"/>
              <a:buNone/>
            </a:pPr>
            <a:r>
              <a:rPr lang="en">
                <a:solidFill>
                  <a:schemeClr val="dk1"/>
                </a:solidFill>
              </a:rPr>
              <a:t>Am I doing that thing where I ask questions then answer them myself?  Absolutely. </a:t>
            </a:r>
          </a:p>
          <a:p>
            <a:pPr lvl="0">
              <a:spcBef>
                <a:spcPts val="0"/>
              </a:spcBef>
              <a:buNone/>
            </a:pPr>
            <a:endParaRPr>
              <a:solidFill>
                <a:schemeClr val="dk1"/>
              </a:solidFill>
            </a:endParaRPr>
          </a:p>
          <a:p>
            <a:pPr lvl="0">
              <a:spcBef>
                <a:spcPts val="0"/>
              </a:spcBef>
              <a:buNone/>
            </a:pPr>
            <a:endParaRPr>
              <a:solidFill>
                <a:schemeClr val="dk1"/>
              </a:solidFill>
            </a:endParaRPr>
          </a:p>
          <a:p>
            <a:pPr lvl="0">
              <a:spcBef>
                <a:spcPts val="0"/>
              </a:spcBef>
              <a:buNone/>
            </a:pPr>
            <a:endParaRPr>
              <a:solidFill>
                <a:schemeClr val="dk1"/>
              </a:solidFill>
            </a:endParaRPr>
          </a:p>
          <a:p>
            <a:pPr lvl="0">
              <a:spcBef>
                <a:spcPts val="0"/>
              </a:spcBef>
              <a:buClr>
                <a:schemeClr val="dk1"/>
              </a:buClr>
              <a:buSzPct val="100000"/>
              <a:buFont typeface="Arial"/>
              <a:buNone/>
            </a:pPr>
            <a:endParaRPr>
              <a:solidFill>
                <a:schemeClr val="dk1"/>
              </a:solidFill>
            </a:endParaRPr>
          </a:p>
          <a:p>
            <a:pPr lvl="0">
              <a:spcBef>
                <a:spcPts val="0"/>
              </a:spcBef>
              <a:buClr>
                <a:schemeClr val="dk1"/>
              </a:buClr>
              <a:buSzPct val="100000"/>
              <a:buFont typeface="Arial"/>
              <a:buNone/>
            </a:pPr>
            <a:r>
              <a:rPr lang="en">
                <a:solidFill>
                  <a:schemeClr val="dk1"/>
                </a:solidFill>
              </a:rPr>
              <a:t>8 Compute</a:t>
            </a:r>
          </a:p>
          <a:p>
            <a:pPr lvl="0">
              <a:spcBef>
                <a:spcPts val="0"/>
              </a:spcBef>
              <a:buClr>
                <a:schemeClr val="dk1"/>
              </a:buClr>
              <a:buSzPct val="100000"/>
              <a:buFont typeface="Arial"/>
              <a:buNone/>
            </a:pPr>
            <a:r>
              <a:rPr lang="en">
                <a:solidFill>
                  <a:schemeClr val="dk1"/>
                </a:solidFill>
              </a:rPr>
              <a:t>10 data and storage</a:t>
            </a:r>
          </a:p>
          <a:p>
            <a:pPr lvl="0">
              <a:spcBef>
                <a:spcPts val="0"/>
              </a:spcBef>
              <a:buClr>
                <a:schemeClr val="dk1"/>
              </a:buClr>
              <a:buSzPct val="100000"/>
              <a:buFont typeface="Arial"/>
              <a:buNone/>
            </a:pPr>
            <a:r>
              <a:rPr lang="en">
                <a:solidFill>
                  <a:schemeClr val="dk1"/>
                </a:solidFill>
              </a:rPr>
              <a:t>9 Networking</a:t>
            </a:r>
          </a:p>
          <a:p>
            <a:pPr lvl="0">
              <a:spcBef>
                <a:spcPts val="0"/>
              </a:spcBef>
              <a:buClr>
                <a:schemeClr val="dk1"/>
              </a:buClr>
              <a:buSzPct val="100000"/>
              <a:buFont typeface="Arial"/>
              <a:buNone/>
            </a:pPr>
            <a:r>
              <a:rPr lang="en">
                <a:solidFill>
                  <a:schemeClr val="dk1"/>
                </a:solidFill>
              </a:rPr>
              <a:t>6 Administration</a:t>
            </a:r>
          </a:p>
          <a:p>
            <a:pPr lvl="0">
              <a:spcBef>
                <a:spcPts val="0"/>
              </a:spcBef>
              <a:buClr>
                <a:schemeClr val="dk1"/>
              </a:buClr>
              <a:buSzPct val="100000"/>
              <a:buFont typeface="Arial"/>
              <a:buNone/>
            </a:pPr>
            <a:r>
              <a:rPr lang="en">
                <a:solidFill>
                  <a:schemeClr val="dk1"/>
                </a:solidFill>
              </a:rPr>
              <a:t>5 Developer</a:t>
            </a:r>
          </a:p>
          <a:p>
            <a:pPr lvl="0">
              <a:spcBef>
                <a:spcPts val="0"/>
              </a:spcBef>
              <a:buClr>
                <a:schemeClr val="dk1"/>
              </a:buClr>
              <a:buSzPct val="100000"/>
              <a:buFont typeface="Arial"/>
              <a:buNone/>
            </a:pPr>
            <a:r>
              <a:rPr lang="en">
                <a:solidFill>
                  <a:schemeClr val="dk1"/>
                </a:solidFill>
              </a:rPr>
              <a:t>5 Services</a:t>
            </a:r>
          </a:p>
          <a:p>
            <a:pPr lvl="0">
              <a:spcBef>
                <a:spcPts val="0"/>
              </a:spcBef>
              <a:buClr>
                <a:schemeClr val="dk1"/>
              </a:buClr>
              <a:buSzPct val="100000"/>
              <a:buFont typeface="Arial"/>
              <a:buNone/>
            </a:pPr>
            <a:endParaRPr>
              <a:solidFill>
                <a:schemeClr val="dk1"/>
              </a:solidFill>
            </a:endParaRPr>
          </a:p>
          <a:p>
            <a:pPr lvl="0">
              <a:spcBef>
                <a:spcPts val="0"/>
              </a:spcBef>
              <a:buClr>
                <a:schemeClr val="dk1"/>
              </a:buClr>
              <a:buSzPct val="100000"/>
              <a:buFont typeface="Arial"/>
              <a:buNone/>
            </a:pPr>
            <a:r>
              <a:rPr lang="en">
                <a:solidFill>
                  <a:schemeClr val="dk1"/>
                </a:solidFill>
              </a:rPr>
              <a:t>43 talked about </a:t>
            </a:r>
          </a:p>
          <a:p>
            <a:pPr lvl="0">
              <a:spcBef>
                <a:spcPts val="0"/>
              </a:spcBef>
              <a:buClr>
                <a:schemeClr val="dk1"/>
              </a:buClr>
              <a:buSzPct val="100000"/>
              <a:buFont typeface="Arial"/>
              <a:buNone/>
            </a:pPr>
            <a:r>
              <a:rPr lang="en">
                <a:solidFill>
                  <a:schemeClr val="dk1"/>
                </a:solidFill>
              </a:rPr>
              <a:t>53 on slide. </a:t>
            </a:r>
          </a:p>
          <a:p>
            <a:pPr lvl="0">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Shape 10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3" name="Shape 109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Okay, computing, you know, doing things, analyzing or sorting stuff.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Shape 10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9" name="Shape 109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I’m an Application developer at heart, so I’ll start with Computing and Storage. If you got questions, here’s your best opportunity for coherent answers from me. I’ll talk about Big Data here, but it’s not my area of focus, so expect C+ answers here. </a:t>
            </a:r>
          </a:p>
          <a:p>
            <a:pPr lvl="0" rtl="0">
              <a:spcBef>
                <a:spcPts val="0"/>
              </a:spcBef>
              <a:buNone/>
            </a:pPr>
            <a:endParaRPr/>
          </a:p>
          <a:p>
            <a:pPr lvl="0" rtl="0">
              <a:spcBef>
                <a:spcPts val="0"/>
              </a:spcBef>
              <a:buNone/>
            </a:pPr>
            <a:r>
              <a:rPr lang="en"/>
              <a:t>Then I’ll talk about Networking, Operations. Answers to questions here: eh. </a:t>
            </a:r>
          </a:p>
          <a:p>
            <a:pPr lvl="0" rtl="0">
              <a:spcBef>
                <a:spcPts val="0"/>
              </a:spcBef>
              <a:buNone/>
            </a:pPr>
            <a:endParaRPr/>
          </a:p>
          <a:p>
            <a:pPr lvl="0" rtl="0">
              <a:spcBef>
                <a:spcPts val="0"/>
              </a:spcBef>
              <a:buNone/>
            </a:pPr>
            <a:r>
              <a:rPr lang="en"/>
              <a:t>I’ll finish in Development, with a brief sojourn into Machine learning. </a:t>
            </a:r>
          </a:p>
          <a:p>
            <a:pPr lvl="0" rtl="0">
              <a:spcBef>
                <a:spcPts val="0"/>
              </a:spcBef>
              <a:buNone/>
            </a:pPr>
            <a:endParaRPr/>
          </a:p>
          <a:p>
            <a:pPr lvl="0" rtl="0">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Shape 11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5" name="Shape 110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dirty="0"/>
              <a:t>Determine if you have time.  If you do:</a:t>
            </a:r>
          </a:p>
          <a:p>
            <a:pPr lvl="0" rtl="0">
              <a:spcBef>
                <a:spcPts val="0"/>
              </a:spcBef>
              <a:buNone/>
            </a:pPr>
            <a:r>
              <a:rPr lang="en" dirty="0"/>
              <a:t>VM screen</a:t>
            </a:r>
          </a:p>
          <a:p>
            <a:pPr lvl="0" rtl="0">
              <a:spcBef>
                <a:spcPts val="0"/>
              </a:spcBef>
              <a:buNone/>
            </a:pPr>
            <a:r>
              <a:rPr lang="en" dirty="0"/>
              <a:t>Create VM</a:t>
            </a:r>
          </a:p>
          <a:p>
            <a:pPr lvl="0" rtl="0">
              <a:spcBef>
                <a:spcPts val="0"/>
              </a:spcBef>
              <a:buNone/>
            </a:pPr>
            <a:r>
              <a:rPr lang="en" dirty="0"/>
              <a:t>SSH into it.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69136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E57DA6-D3EF-4CC1-B9EA-B53E274D109C}"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393024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57DA6-D3EF-4CC1-B9EA-B53E274D109C}"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23944187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2E57DA6-D3EF-4CC1-B9EA-B53E274D109C}"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26544094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E57DA6-D3EF-4CC1-B9EA-B53E274D109C}"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339013455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E57DA6-D3EF-4CC1-B9EA-B53E274D109C}"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17264691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E57DA6-D3EF-4CC1-B9EA-B53E274D109C}"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20891358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57DA6-D3EF-4CC1-B9EA-B53E274D109C}"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lvl="0" rtl="0">
              <a:spcBef>
                <a:spcPts val="0"/>
              </a:spcBef>
              <a:buNone/>
            </a:pPr>
            <a:fld id="{00000000-1234-1234-1234-123412341234}" type="slidenum">
              <a:rPr lang="en" smtClean="0"/>
              <a:t>‹#›</a:t>
            </a:fld>
            <a:endParaRPr lang="en"/>
          </a:p>
        </p:txBody>
      </p:sp>
    </p:spTree>
    <p:extLst>
      <p:ext uri="{BB962C8B-B14F-4D97-AF65-F5344CB8AC3E}">
        <p14:creationId xmlns:p14="http://schemas.microsoft.com/office/powerpoint/2010/main" val="2016403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82E57DA6-D3EF-4CC1-B9EA-B53E274D109C}"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277284387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82E57DA6-D3EF-4CC1-B9EA-B53E274D109C}"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19425037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57DA6-D3EF-4CC1-B9EA-B53E274D109C}"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16738343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57DA6-D3EF-4CC1-B9EA-B53E274D109C}"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40D1F-3B49-4F84-809D-6E9E09665406}" type="slidenum">
              <a:rPr lang="en-US" smtClean="0"/>
              <a:t>‹#›</a:t>
            </a:fld>
            <a:endParaRPr lang="en-US"/>
          </a:p>
        </p:txBody>
      </p:sp>
    </p:spTree>
    <p:extLst>
      <p:ext uri="{BB962C8B-B14F-4D97-AF65-F5344CB8AC3E}">
        <p14:creationId xmlns:p14="http://schemas.microsoft.com/office/powerpoint/2010/main" val="5768663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ed List">
    <p:bg>
      <p:bgPr>
        <a:solidFill>
          <a:srgbClr val="F5F5F5"/>
        </a:solidFill>
        <a:effectLst/>
      </p:bgPr>
    </p:bg>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238664" y="315499"/>
            <a:ext cx="7963200" cy="836100"/>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545454"/>
              </a:buClr>
              <a:buFont typeface="Roboto"/>
              <a:buNone/>
              <a:defRPr sz="2800" b="0" i="0" u="none" strike="noStrike" cap="none">
                <a:solidFill>
                  <a:srgbClr val="545454"/>
                </a:solidFill>
                <a:latin typeface="Roboto"/>
                <a:ea typeface="Roboto"/>
                <a:cs typeface="Roboto"/>
                <a:sym typeface="Roboto"/>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79" name="Shape 79"/>
          <p:cNvSpPr txBox="1">
            <a:spLocks noGrp="1"/>
          </p:cNvSpPr>
          <p:nvPr>
            <p:ph type="body" idx="1"/>
          </p:nvPr>
        </p:nvSpPr>
        <p:spPr>
          <a:xfrm>
            <a:off x="619664" y="1348577"/>
            <a:ext cx="7963200" cy="2913000"/>
          </a:xfrm>
          <a:prstGeom prst="rect">
            <a:avLst/>
          </a:prstGeom>
          <a:noFill/>
          <a:ln>
            <a:noFill/>
          </a:ln>
        </p:spPr>
        <p:txBody>
          <a:bodyPr lIns="91425" tIns="91425" rIns="91425" bIns="91425" anchor="t" anchorCtr="0"/>
          <a:lstStyle>
            <a:lvl1pPr marL="0" marR="0" lvl="0" indent="0" algn="l" rtl="0">
              <a:lnSpc>
                <a:spcPct val="115000"/>
              </a:lnSpc>
              <a:spcBef>
                <a:spcPts val="0"/>
              </a:spcBef>
              <a:buClr>
                <a:srgbClr val="545454"/>
              </a:buClr>
              <a:buFont typeface="Arial"/>
              <a:buChar char="●"/>
              <a:defRPr sz="1400" b="0" i="0" u="none" strike="noStrike" cap="none">
                <a:solidFill>
                  <a:srgbClr val="545454"/>
                </a:solidFill>
                <a:latin typeface="Roboto"/>
                <a:ea typeface="Roboto"/>
                <a:cs typeface="Roboto"/>
                <a:sym typeface="Roboto"/>
              </a:defRPr>
            </a:lvl1pPr>
            <a:lvl2pPr marL="171450" marR="0" lvl="1" indent="-95250" algn="l" rtl="0">
              <a:lnSpc>
                <a:spcPct val="115000"/>
              </a:lnSpc>
              <a:spcBef>
                <a:spcPts val="375"/>
              </a:spcBef>
              <a:buClr>
                <a:srgbClr val="545454"/>
              </a:buClr>
              <a:buSzPct val="100000"/>
              <a:buFont typeface="Arial"/>
              <a:defRPr sz="1400" b="0" i="0" u="none" strike="noStrike" cap="none">
                <a:solidFill>
                  <a:srgbClr val="545454"/>
                </a:solidFill>
                <a:latin typeface="Roboto"/>
                <a:ea typeface="Roboto"/>
                <a:cs typeface="Roboto"/>
                <a:sym typeface="Roboto"/>
              </a:defRPr>
            </a:lvl2pPr>
            <a:lvl3pPr marL="403225" marR="0" lvl="2" indent="-98425" algn="l" rtl="0">
              <a:lnSpc>
                <a:spcPct val="115000"/>
              </a:lnSpc>
              <a:spcBef>
                <a:spcPts val="375"/>
              </a:spcBef>
              <a:buClr>
                <a:srgbClr val="545454"/>
              </a:buClr>
              <a:buSzPct val="100000"/>
              <a:buFont typeface="Arial"/>
              <a:defRPr sz="1400" b="0" i="0" u="none" strike="noStrike" cap="none">
                <a:solidFill>
                  <a:srgbClr val="545454"/>
                </a:solidFill>
                <a:latin typeface="Roboto"/>
                <a:ea typeface="Roboto"/>
                <a:cs typeface="Roboto"/>
                <a:sym typeface="Roboto"/>
              </a:defRPr>
            </a:lvl3pPr>
            <a:lvl4pPr marL="635000" marR="0" lvl="3" indent="-101600" algn="l" rtl="0">
              <a:lnSpc>
                <a:spcPct val="115000"/>
              </a:lnSpc>
              <a:spcBef>
                <a:spcPts val="375"/>
              </a:spcBef>
              <a:buClr>
                <a:srgbClr val="545454"/>
              </a:buClr>
              <a:buSzPct val="100000"/>
              <a:buFont typeface="Arial"/>
              <a:defRPr sz="1400" b="0" i="0" u="none" strike="noStrike" cap="none">
                <a:solidFill>
                  <a:srgbClr val="545454"/>
                </a:solidFill>
                <a:latin typeface="Roboto"/>
                <a:ea typeface="Roboto"/>
                <a:cs typeface="Roboto"/>
                <a:sym typeface="Roboto"/>
              </a:defRPr>
            </a:lvl4pPr>
            <a:lvl5pPr marL="857250" marR="0" lvl="4" indent="-95250" algn="l" rtl="0">
              <a:lnSpc>
                <a:spcPct val="115000"/>
              </a:lnSpc>
              <a:spcBef>
                <a:spcPts val="375"/>
              </a:spcBef>
              <a:buClr>
                <a:srgbClr val="545454"/>
              </a:buClr>
              <a:buSzPct val="100000"/>
              <a:buFont typeface="Arial"/>
              <a:defRPr sz="1400" b="0" i="0" u="none" strike="noStrike" cap="none">
                <a:solidFill>
                  <a:srgbClr val="545454"/>
                </a:solidFill>
                <a:latin typeface="Roboto"/>
                <a:ea typeface="Roboto"/>
                <a:cs typeface="Roboto"/>
                <a:sym typeface="Roboto"/>
              </a:defRPr>
            </a:lvl5pPr>
            <a:lvl6pPr marL="1885950" marR="0" lvl="5" indent="-85725" algn="l" rtl="0">
              <a:lnSpc>
                <a:spcPct val="115000"/>
              </a:lnSpc>
              <a:spcBef>
                <a:spcPts val="375"/>
              </a:spcBef>
              <a:buSzPct val="100000"/>
              <a:defRPr sz="1400" b="0" i="0" u="none" strike="noStrike" cap="none"/>
            </a:lvl6pPr>
            <a:lvl7pPr marL="2228850" marR="0" lvl="6" indent="-85725" algn="l" rtl="0">
              <a:lnSpc>
                <a:spcPct val="115000"/>
              </a:lnSpc>
              <a:spcBef>
                <a:spcPts val="375"/>
              </a:spcBef>
              <a:buSzPct val="100000"/>
              <a:defRPr sz="1400" b="0" i="0" u="none" strike="noStrike" cap="none"/>
            </a:lvl7pPr>
            <a:lvl8pPr marL="2571750" marR="0" lvl="7" indent="-85725" algn="l" rtl="0">
              <a:lnSpc>
                <a:spcPct val="115000"/>
              </a:lnSpc>
              <a:spcBef>
                <a:spcPts val="375"/>
              </a:spcBef>
              <a:buSzPct val="100000"/>
              <a:defRPr sz="1400" b="0" i="0" u="none" strike="noStrike" cap="none"/>
            </a:lvl8pPr>
            <a:lvl9pPr marL="2914650" marR="0" lvl="8" indent="-85725" algn="l" rtl="0">
              <a:lnSpc>
                <a:spcPct val="115000"/>
              </a:lnSpc>
              <a:spcBef>
                <a:spcPts val="375"/>
              </a:spcBef>
              <a:buSzPct val="100000"/>
              <a:defRPr sz="1400" b="0" i="0" u="none" strike="noStrike" cap="none"/>
            </a:lvl9pPr>
          </a:lstStyle>
          <a:p>
            <a:endParaRPr/>
          </a:p>
        </p:txBody>
      </p:sp>
    </p:spTree>
    <p:extLst>
      <p:ext uri="{BB962C8B-B14F-4D97-AF65-F5344CB8AC3E}">
        <p14:creationId xmlns:p14="http://schemas.microsoft.com/office/powerpoint/2010/main" val="378039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Slide 2 2 2 1 1 1 1 2 1 1">
    <p:bg>
      <p:bgPr>
        <a:solidFill>
          <a:srgbClr val="D7D7D7"/>
        </a:solidFill>
        <a:effectLst/>
      </p:bgPr>
    </p:bg>
    <p:spTree>
      <p:nvGrpSpPr>
        <p:cNvPr id="1" name="Shape 182"/>
        <p:cNvGrpSpPr/>
        <p:nvPr/>
      </p:nvGrpSpPr>
      <p:grpSpPr>
        <a:xfrm>
          <a:off x="0" y="0"/>
          <a:ext cx="0" cy="0"/>
          <a:chOff x="0" y="0"/>
          <a:chExt cx="0" cy="0"/>
        </a:xfrm>
      </p:grpSpPr>
      <p:sp>
        <p:nvSpPr>
          <p:cNvPr id="189" name="Shape 189"/>
          <p:cNvSpPr txBox="1">
            <a:spLocks noGrp="1"/>
          </p:cNvSpPr>
          <p:nvPr>
            <p:ph type="ctrTitle"/>
          </p:nvPr>
        </p:nvSpPr>
        <p:spPr>
          <a:xfrm>
            <a:off x="530699" y="1379775"/>
            <a:ext cx="4164000" cy="1478100"/>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F5F5F5"/>
              </a:buClr>
              <a:buSzPct val="100000"/>
              <a:buFont typeface="Roboto"/>
              <a:buNone/>
              <a:defRPr sz="3400" b="0" i="0" u="none" strike="noStrike" cap="none">
                <a:solidFill>
                  <a:srgbClr val="F5F5F5"/>
                </a:solidFill>
                <a:latin typeface="Roboto"/>
                <a:ea typeface="Roboto"/>
                <a:cs typeface="Roboto"/>
                <a:sym typeface="Roboto"/>
              </a:defRPr>
            </a:lvl1pPr>
            <a:lvl2pPr lvl="1" indent="0" rtl="0">
              <a:spcBef>
                <a:spcPts val="0"/>
              </a:spcBef>
              <a:buClr>
                <a:srgbClr val="F5F5F5"/>
              </a:buClr>
              <a:buNone/>
              <a:defRPr sz="1800">
                <a:solidFill>
                  <a:srgbClr val="F5F5F5"/>
                </a:solidFill>
              </a:defRPr>
            </a:lvl2pPr>
            <a:lvl3pPr lvl="2" indent="0" rtl="0">
              <a:spcBef>
                <a:spcPts val="0"/>
              </a:spcBef>
              <a:buClr>
                <a:srgbClr val="F5F5F5"/>
              </a:buClr>
              <a:buNone/>
              <a:defRPr sz="1800">
                <a:solidFill>
                  <a:srgbClr val="F5F5F5"/>
                </a:solidFill>
              </a:defRPr>
            </a:lvl3pPr>
            <a:lvl4pPr lvl="3" indent="0" rtl="0">
              <a:spcBef>
                <a:spcPts val="0"/>
              </a:spcBef>
              <a:buClr>
                <a:srgbClr val="F5F5F5"/>
              </a:buClr>
              <a:buNone/>
              <a:defRPr sz="1800">
                <a:solidFill>
                  <a:srgbClr val="F5F5F5"/>
                </a:solidFill>
              </a:defRPr>
            </a:lvl4pPr>
            <a:lvl5pPr lvl="4" indent="0" rtl="0">
              <a:spcBef>
                <a:spcPts val="0"/>
              </a:spcBef>
              <a:buClr>
                <a:srgbClr val="F5F5F5"/>
              </a:buClr>
              <a:buNone/>
              <a:defRPr sz="1800">
                <a:solidFill>
                  <a:srgbClr val="F5F5F5"/>
                </a:solidFill>
              </a:defRPr>
            </a:lvl5pPr>
            <a:lvl6pPr lvl="5" indent="0" rtl="0">
              <a:spcBef>
                <a:spcPts val="0"/>
              </a:spcBef>
              <a:buClr>
                <a:srgbClr val="F5F5F5"/>
              </a:buClr>
              <a:buNone/>
              <a:defRPr sz="1800">
                <a:solidFill>
                  <a:srgbClr val="F5F5F5"/>
                </a:solidFill>
              </a:defRPr>
            </a:lvl6pPr>
            <a:lvl7pPr lvl="6" indent="0" rtl="0">
              <a:spcBef>
                <a:spcPts val="0"/>
              </a:spcBef>
              <a:buClr>
                <a:srgbClr val="F5F5F5"/>
              </a:buClr>
              <a:buNone/>
              <a:defRPr sz="1800">
                <a:solidFill>
                  <a:srgbClr val="F5F5F5"/>
                </a:solidFill>
              </a:defRPr>
            </a:lvl7pPr>
            <a:lvl8pPr lvl="7" indent="0" rtl="0">
              <a:spcBef>
                <a:spcPts val="0"/>
              </a:spcBef>
              <a:buClr>
                <a:srgbClr val="F5F5F5"/>
              </a:buClr>
              <a:buNone/>
              <a:defRPr sz="1800">
                <a:solidFill>
                  <a:srgbClr val="F5F5F5"/>
                </a:solidFill>
              </a:defRPr>
            </a:lvl8pPr>
            <a:lvl9pPr lvl="8" indent="0" rtl="0">
              <a:spcBef>
                <a:spcPts val="0"/>
              </a:spcBef>
              <a:buClr>
                <a:srgbClr val="F5F5F5"/>
              </a:buClr>
              <a:buNone/>
              <a:defRPr sz="1800">
                <a:solidFill>
                  <a:srgbClr val="F5F5F5"/>
                </a:solidFill>
              </a:defRPr>
            </a:lvl9pPr>
          </a:lstStyle>
          <a:p>
            <a:endParaRPr/>
          </a:p>
        </p:txBody>
      </p:sp>
      <p:sp>
        <p:nvSpPr>
          <p:cNvPr id="190" name="Shape 190"/>
          <p:cNvSpPr txBox="1">
            <a:spLocks noGrp="1"/>
          </p:cNvSpPr>
          <p:nvPr>
            <p:ph type="subTitle" idx="1"/>
          </p:nvPr>
        </p:nvSpPr>
        <p:spPr>
          <a:xfrm>
            <a:off x="534824" y="2838975"/>
            <a:ext cx="4164000" cy="1111200"/>
          </a:xfrm>
          <a:prstGeom prst="rect">
            <a:avLst/>
          </a:prstGeom>
          <a:noFill/>
          <a:ln>
            <a:noFill/>
          </a:ln>
        </p:spPr>
        <p:txBody>
          <a:bodyPr lIns="91425" tIns="91425" rIns="91425" bIns="91425" anchor="t" anchorCtr="0"/>
          <a:lstStyle>
            <a:lvl1pPr marL="0" marR="0" lvl="0" indent="0" algn="l" rtl="0">
              <a:lnSpc>
                <a:spcPct val="110000"/>
              </a:lnSpc>
              <a:spcBef>
                <a:spcPts val="0"/>
              </a:spcBef>
              <a:buClr>
                <a:srgbClr val="F5F5F5"/>
              </a:buClr>
              <a:buSzPct val="42857"/>
              <a:buFont typeface="Arial"/>
              <a:buNone/>
              <a:defRPr sz="2100" b="0" i="0" u="none" strike="noStrike" cap="none">
                <a:solidFill>
                  <a:srgbClr val="F5F5F5"/>
                </a:solidFill>
                <a:latin typeface="Roboto"/>
                <a:ea typeface="Roboto"/>
                <a:cs typeface="Roboto"/>
                <a:sym typeface="Roboto"/>
              </a:defRPr>
            </a:lvl1pPr>
            <a:lvl2pPr marL="342900" marR="0" lvl="1" indent="0" algn="ctr" rtl="0">
              <a:lnSpc>
                <a:spcPct val="110000"/>
              </a:lnSpc>
              <a:spcBef>
                <a:spcPts val="375"/>
              </a:spcBef>
              <a:buClr>
                <a:srgbClr val="F5F5F5"/>
              </a:buClr>
              <a:buFont typeface="Arial"/>
              <a:buNone/>
              <a:defRPr sz="1500" b="0" i="0" u="none" strike="noStrike" cap="none">
                <a:solidFill>
                  <a:srgbClr val="F5F5F5"/>
                </a:solidFill>
                <a:latin typeface="Roboto"/>
                <a:ea typeface="Roboto"/>
                <a:cs typeface="Roboto"/>
                <a:sym typeface="Roboto"/>
              </a:defRPr>
            </a:lvl2pPr>
            <a:lvl3pPr marL="685800" marR="0" lvl="2" indent="0" algn="ctr" rtl="0">
              <a:lnSpc>
                <a:spcPct val="110000"/>
              </a:lnSpc>
              <a:spcBef>
                <a:spcPts val="375"/>
              </a:spcBef>
              <a:buClr>
                <a:srgbClr val="F5F5F5"/>
              </a:buClr>
              <a:buFont typeface="Arial"/>
              <a:buNone/>
              <a:defRPr sz="1350" b="0" i="0" u="none" strike="noStrike" cap="none">
                <a:solidFill>
                  <a:srgbClr val="F5F5F5"/>
                </a:solidFill>
                <a:latin typeface="Roboto"/>
                <a:ea typeface="Roboto"/>
                <a:cs typeface="Roboto"/>
                <a:sym typeface="Roboto"/>
              </a:defRPr>
            </a:lvl3pPr>
            <a:lvl4pPr marL="1028700" marR="0" lvl="3" indent="0" algn="ctr" rtl="0">
              <a:lnSpc>
                <a:spcPct val="110000"/>
              </a:lnSpc>
              <a:spcBef>
                <a:spcPts val="375"/>
              </a:spcBef>
              <a:buClr>
                <a:srgbClr val="F5F5F5"/>
              </a:buClr>
              <a:buFont typeface="Arial"/>
              <a:buNone/>
              <a:defRPr sz="1200" b="0" i="0" u="none" strike="noStrike" cap="none">
                <a:solidFill>
                  <a:srgbClr val="F5F5F5"/>
                </a:solidFill>
                <a:latin typeface="Roboto"/>
                <a:ea typeface="Roboto"/>
                <a:cs typeface="Roboto"/>
                <a:sym typeface="Roboto"/>
              </a:defRPr>
            </a:lvl4pPr>
            <a:lvl5pPr marL="1371600" marR="0" lvl="4" indent="0" algn="ctr" rtl="0">
              <a:lnSpc>
                <a:spcPct val="110000"/>
              </a:lnSpc>
              <a:spcBef>
                <a:spcPts val="375"/>
              </a:spcBef>
              <a:buClr>
                <a:srgbClr val="F5F5F5"/>
              </a:buClr>
              <a:buFont typeface="Arial"/>
              <a:buNone/>
              <a:defRPr sz="1200" b="0" i="0" u="none" strike="noStrike" cap="none">
                <a:solidFill>
                  <a:srgbClr val="F5F5F5"/>
                </a:solidFill>
                <a:latin typeface="Roboto"/>
                <a:ea typeface="Roboto"/>
                <a:cs typeface="Roboto"/>
                <a:sym typeface="Roboto"/>
              </a:defRPr>
            </a:lvl5pPr>
            <a:lvl6pPr marL="1714500" marR="0" lvl="5" indent="0" algn="ctr" rtl="0">
              <a:lnSpc>
                <a:spcPct val="90000"/>
              </a:lnSpc>
              <a:spcBef>
                <a:spcPts val="375"/>
              </a:spcBef>
              <a:buClr>
                <a:srgbClr val="F5F5F5"/>
              </a:buClr>
              <a:buFont typeface="Arial"/>
              <a:buNone/>
              <a:defRPr sz="1200" b="0" i="0" u="none" strike="noStrike" cap="none">
                <a:solidFill>
                  <a:srgbClr val="F5F5F5"/>
                </a:solidFill>
                <a:latin typeface="Calibri"/>
                <a:ea typeface="Calibri"/>
                <a:cs typeface="Calibri"/>
                <a:sym typeface="Calibri"/>
              </a:defRPr>
            </a:lvl6pPr>
            <a:lvl7pPr marL="2057400" marR="0" lvl="6" indent="0" algn="ctr" rtl="0">
              <a:lnSpc>
                <a:spcPct val="90000"/>
              </a:lnSpc>
              <a:spcBef>
                <a:spcPts val="375"/>
              </a:spcBef>
              <a:buClr>
                <a:srgbClr val="F5F5F5"/>
              </a:buClr>
              <a:buFont typeface="Arial"/>
              <a:buNone/>
              <a:defRPr sz="1200" b="0" i="0" u="none" strike="noStrike" cap="none">
                <a:solidFill>
                  <a:srgbClr val="F5F5F5"/>
                </a:solidFill>
                <a:latin typeface="Calibri"/>
                <a:ea typeface="Calibri"/>
                <a:cs typeface="Calibri"/>
                <a:sym typeface="Calibri"/>
              </a:defRPr>
            </a:lvl7pPr>
            <a:lvl8pPr marL="2400300" marR="0" lvl="7" indent="0" algn="ctr" rtl="0">
              <a:lnSpc>
                <a:spcPct val="90000"/>
              </a:lnSpc>
              <a:spcBef>
                <a:spcPts val="375"/>
              </a:spcBef>
              <a:buClr>
                <a:srgbClr val="F5F5F5"/>
              </a:buClr>
              <a:buFont typeface="Arial"/>
              <a:buNone/>
              <a:defRPr sz="1200" b="0" i="0" u="none" strike="noStrike" cap="none">
                <a:solidFill>
                  <a:srgbClr val="F5F5F5"/>
                </a:solidFill>
                <a:latin typeface="Calibri"/>
                <a:ea typeface="Calibri"/>
                <a:cs typeface="Calibri"/>
                <a:sym typeface="Calibri"/>
              </a:defRPr>
            </a:lvl8pPr>
            <a:lvl9pPr marL="2743200" marR="0" lvl="8" indent="0" algn="ctr" rtl="0">
              <a:lnSpc>
                <a:spcPct val="90000"/>
              </a:lnSpc>
              <a:spcBef>
                <a:spcPts val="375"/>
              </a:spcBef>
              <a:buClr>
                <a:srgbClr val="F5F5F5"/>
              </a:buClr>
              <a:buFont typeface="Arial"/>
              <a:buNone/>
              <a:defRPr sz="1200" b="0" i="0" u="none" strike="noStrike" cap="none">
                <a:solidFill>
                  <a:srgbClr val="F5F5F5"/>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330174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ivider Slide 2 2 2 1 1 1">
    <p:bg>
      <p:bgPr>
        <a:solidFill>
          <a:srgbClr val="D7D7D7"/>
        </a:solidFill>
        <a:effectLst/>
      </p:bgPr>
    </p:bg>
    <p:spTree>
      <p:nvGrpSpPr>
        <p:cNvPr id="1" name="Shape 192"/>
        <p:cNvGrpSpPr/>
        <p:nvPr/>
      </p:nvGrpSpPr>
      <p:grpSpPr>
        <a:xfrm>
          <a:off x="0" y="0"/>
          <a:ext cx="0" cy="0"/>
          <a:chOff x="0" y="0"/>
          <a:chExt cx="0" cy="0"/>
        </a:xfrm>
      </p:grpSpPr>
      <p:sp>
        <p:nvSpPr>
          <p:cNvPr id="197" name="Shape 197"/>
          <p:cNvSpPr txBox="1">
            <a:spLocks noGrp="1"/>
          </p:cNvSpPr>
          <p:nvPr>
            <p:ph type="ctrTitle"/>
          </p:nvPr>
        </p:nvSpPr>
        <p:spPr>
          <a:xfrm>
            <a:off x="530699" y="1379775"/>
            <a:ext cx="4164000" cy="1478100"/>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accent5"/>
              </a:buClr>
              <a:buSzPct val="100000"/>
              <a:buFont typeface="Roboto"/>
              <a:buNone/>
              <a:defRPr sz="3400" b="0" i="0" u="none" strike="noStrike" cap="none">
                <a:solidFill>
                  <a:schemeClr val="accent5"/>
                </a:solidFill>
                <a:latin typeface="Roboto"/>
                <a:ea typeface="Roboto"/>
                <a:cs typeface="Roboto"/>
                <a:sym typeface="Roboto"/>
              </a:defRPr>
            </a:lvl1pPr>
            <a:lvl2pPr lvl="1" indent="0" rtl="0">
              <a:spcBef>
                <a:spcPts val="0"/>
              </a:spcBef>
              <a:buClr>
                <a:schemeClr val="accent4"/>
              </a:buClr>
              <a:buNone/>
              <a:defRPr sz="1800">
                <a:solidFill>
                  <a:schemeClr val="accent4"/>
                </a:solidFill>
              </a:defRPr>
            </a:lvl2pPr>
            <a:lvl3pPr lvl="2" indent="0" rtl="0">
              <a:spcBef>
                <a:spcPts val="0"/>
              </a:spcBef>
              <a:buClr>
                <a:schemeClr val="accent4"/>
              </a:buClr>
              <a:buNone/>
              <a:defRPr sz="1800">
                <a:solidFill>
                  <a:schemeClr val="accent4"/>
                </a:solidFill>
              </a:defRPr>
            </a:lvl3pPr>
            <a:lvl4pPr lvl="3" indent="0" rtl="0">
              <a:spcBef>
                <a:spcPts val="0"/>
              </a:spcBef>
              <a:buClr>
                <a:schemeClr val="accent4"/>
              </a:buClr>
              <a:buNone/>
              <a:defRPr sz="1800">
                <a:solidFill>
                  <a:schemeClr val="accent4"/>
                </a:solidFill>
              </a:defRPr>
            </a:lvl4pPr>
            <a:lvl5pPr lvl="4" indent="0" rtl="0">
              <a:spcBef>
                <a:spcPts val="0"/>
              </a:spcBef>
              <a:buClr>
                <a:schemeClr val="accent4"/>
              </a:buClr>
              <a:buNone/>
              <a:defRPr sz="1800">
                <a:solidFill>
                  <a:schemeClr val="accent4"/>
                </a:solidFill>
              </a:defRPr>
            </a:lvl5pPr>
            <a:lvl6pPr lvl="5" indent="0" rtl="0">
              <a:spcBef>
                <a:spcPts val="0"/>
              </a:spcBef>
              <a:buClr>
                <a:schemeClr val="accent4"/>
              </a:buClr>
              <a:buNone/>
              <a:defRPr sz="1800">
                <a:solidFill>
                  <a:schemeClr val="accent4"/>
                </a:solidFill>
              </a:defRPr>
            </a:lvl6pPr>
            <a:lvl7pPr lvl="6" indent="0" rtl="0">
              <a:spcBef>
                <a:spcPts val="0"/>
              </a:spcBef>
              <a:buClr>
                <a:schemeClr val="accent4"/>
              </a:buClr>
              <a:buNone/>
              <a:defRPr sz="1800">
                <a:solidFill>
                  <a:schemeClr val="accent4"/>
                </a:solidFill>
              </a:defRPr>
            </a:lvl7pPr>
            <a:lvl8pPr lvl="7" indent="0" rtl="0">
              <a:spcBef>
                <a:spcPts val="0"/>
              </a:spcBef>
              <a:buClr>
                <a:schemeClr val="accent4"/>
              </a:buClr>
              <a:buNone/>
              <a:defRPr sz="1800">
                <a:solidFill>
                  <a:schemeClr val="accent4"/>
                </a:solidFill>
              </a:defRPr>
            </a:lvl8pPr>
            <a:lvl9pPr lvl="8" indent="0" rtl="0">
              <a:spcBef>
                <a:spcPts val="0"/>
              </a:spcBef>
              <a:buClr>
                <a:schemeClr val="accent4"/>
              </a:buClr>
              <a:buNone/>
              <a:defRPr sz="1800">
                <a:solidFill>
                  <a:schemeClr val="accent4"/>
                </a:solidFill>
              </a:defRPr>
            </a:lvl9pPr>
          </a:lstStyle>
          <a:p>
            <a:endParaRPr/>
          </a:p>
        </p:txBody>
      </p:sp>
      <p:sp>
        <p:nvSpPr>
          <p:cNvPr id="198" name="Shape 198"/>
          <p:cNvSpPr txBox="1">
            <a:spLocks noGrp="1"/>
          </p:cNvSpPr>
          <p:nvPr>
            <p:ph type="subTitle" idx="1"/>
          </p:nvPr>
        </p:nvSpPr>
        <p:spPr>
          <a:xfrm>
            <a:off x="534824" y="2838975"/>
            <a:ext cx="4164000" cy="1111200"/>
          </a:xfrm>
          <a:prstGeom prst="rect">
            <a:avLst/>
          </a:prstGeom>
          <a:noFill/>
          <a:ln>
            <a:noFill/>
          </a:ln>
        </p:spPr>
        <p:txBody>
          <a:bodyPr lIns="91425" tIns="91425" rIns="91425" bIns="91425" anchor="t" anchorCtr="0"/>
          <a:lstStyle>
            <a:lvl1pPr marL="0" marR="0" lvl="0" indent="0" algn="l" rtl="0">
              <a:lnSpc>
                <a:spcPct val="110000"/>
              </a:lnSpc>
              <a:spcBef>
                <a:spcPts val="0"/>
              </a:spcBef>
              <a:buClr>
                <a:srgbClr val="A1A1A1"/>
              </a:buClr>
              <a:buSzPct val="42857"/>
              <a:buFont typeface="Arial"/>
              <a:buNone/>
              <a:defRPr sz="2100" b="0" i="0" u="none" strike="noStrike" cap="none">
                <a:solidFill>
                  <a:srgbClr val="A1A1A1"/>
                </a:solidFill>
                <a:latin typeface="Roboto"/>
                <a:ea typeface="Roboto"/>
                <a:cs typeface="Roboto"/>
                <a:sym typeface="Roboto"/>
              </a:defRPr>
            </a:lvl1pPr>
            <a:lvl2pPr marL="342900" marR="0" lvl="1" indent="0" algn="ctr" rtl="0">
              <a:lnSpc>
                <a:spcPct val="110000"/>
              </a:lnSpc>
              <a:spcBef>
                <a:spcPts val="375"/>
              </a:spcBef>
              <a:buClr>
                <a:srgbClr val="545454"/>
              </a:buClr>
              <a:buFont typeface="Arial"/>
              <a:buNone/>
              <a:defRPr sz="1500" b="0" i="0" u="none" strike="noStrike" cap="none">
                <a:solidFill>
                  <a:srgbClr val="545454"/>
                </a:solidFill>
                <a:latin typeface="Roboto"/>
                <a:ea typeface="Roboto"/>
                <a:cs typeface="Roboto"/>
                <a:sym typeface="Roboto"/>
              </a:defRPr>
            </a:lvl2pPr>
            <a:lvl3pPr marL="685800" marR="0" lvl="2" indent="0" algn="ctr" rtl="0">
              <a:lnSpc>
                <a:spcPct val="110000"/>
              </a:lnSpc>
              <a:spcBef>
                <a:spcPts val="375"/>
              </a:spcBef>
              <a:buClr>
                <a:srgbClr val="545454"/>
              </a:buClr>
              <a:buFont typeface="Arial"/>
              <a:buNone/>
              <a:defRPr sz="1350" b="0" i="0" u="none" strike="noStrike" cap="none">
                <a:solidFill>
                  <a:srgbClr val="545454"/>
                </a:solidFill>
                <a:latin typeface="Roboto"/>
                <a:ea typeface="Roboto"/>
                <a:cs typeface="Roboto"/>
                <a:sym typeface="Roboto"/>
              </a:defRPr>
            </a:lvl3pPr>
            <a:lvl4pPr marL="1028700" marR="0" lvl="3" indent="0" algn="ctr" rtl="0">
              <a:lnSpc>
                <a:spcPct val="110000"/>
              </a:lnSpc>
              <a:spcBef>
                <a:spcPts val="375"/>
              </a:spcBef>
              <a:buClr>
                <a:srgbClr val="545454"/>
              </a:buClr>
              <a:buFont typeface="Arial"/>
              <a:buNone/>
              <a:defRPr sz="1200" b="0" i="0" u="none" strike="noStrike" cap="none">
                <a:solidFill>
                  <a:srgbClr val="545454"/>
                </a:solidFill>
                <a:latin typeface="Roboto"/>
                <a:ea typeface="Roboto"/>
                <a:cs typeface="Roboto"/>
                <a:sym typeface="Roboto"/>
              </a:defRPr>
            </a:lvl4pPr>
            <a:lvl5pPr marL="1371600" marR="0" lvl="4" indent="0" algn="ctr" rtl="0">
              <a:lnSpc>
                <a:spcPct val="110000"/>
              </a:lnSpc>
              <a:spcBef>
                <a:spcPts val="375"/>
              </a:spcBef>
              <a:buClr>
                <a:srgbClr val="545454"/>
              </a:buClr>
              <a:buFont typeface="Arial"/>
              <a:buNone/>
              <a:defRPr sz="1200" b="0" i="0" u="none" strike="noStrike" cap="none">
                <a:solidFill>
                  <a:srgbClr val="545454"/>
                </a:solidFill>
                <a:latin typeface="Roboto"/>
                <a:ea typeface="Roboto"/>
                <a:cs typeface="Roboto"/>
                <a:sym typeface="Roboto"/>
              </a:defRPr>
            </a:lvl5pPr>
            <a:lvl6pPr marL="1714500" marR="0" lvl="5" indent="0" algn="ctr" rtl="0">
              <a:lnSpc>
                <a:spcPct val="90000"/>
              </a:lnSpc>
              <a:spcBef>
                <a:spcPts val="375"/>
              </a:spcBef>
              <a:buClr>
                <a:schemeClr val="dk1"/>
              </a:buClr>
              <a:buFont typeface="Arial"/>
              <a:buNone/>
              <a:defRPr sz="1200" b="0" i="0" u="none" strike="noStrike" cap="none">
                <a:solidFill>
                  <a:schemeClr val="dk1"/>
                </a:solidFill>
                <a:latin typeface="Calibri"/>
                <a:ea typeface="Calibri"/>
                <a:cs typeface="Calibri"/>
                <a:sym typeface="Calibri"/>
              </a:defRPr>
            </a:lvl6pPr>
            <a:lvl7pPr marL="2057400" marR="0" lvl="6" indent="0" algn="ctr" rtl="0">
              <a:lnSpc>
                <a:spcPct val="90000"/>
              </a:lnSpc>
              <a:spcBef>
                <a:spcPts val="375"/>
              </a:spcBef>
              <a:buClr>
                <a:schemeClr val="dk1"/>
              </a:buClr>
              <a:buFont typeface="Arial"/>
              <a:buNone/>
              <a:defRPr sz="1200" b="0" i="0" u="none" strike="noStrike" cap="none">
                <a:solidFill>
                  <a:schemeClr val="dk1"/>
                </a:solidFill>
                <a:latin typeface="Calibri"/>
                <a:ea typeface="Calibri"/>
                <a:cs typeface="Calibri"/>
                <a:sym typeface="Calibri"/>
              </a:defRPr>
            </a:lvl7pPr>
            <a:lvl8pPr marL="2400300" marR="0" lvl="7" indent="0" algn="ctr" rtl="0">
              <a:lnSpc>
                <a:spcPct val="90000"/>
              </a:lnSpc>
              <a:spcBef>
                <a:spcPts val="375"/>
              </a:spcBef>
              <a:buClr>
                <a:schemeClr val="dk1"/>
              </a:buClr>
              <a:buFont typeface="Arial"/>
              <a:buNone/>
              <a:defRPr sz="1200" b="0" i="0" u="none" strike="noStrike" cap="none">
                <a:solidFill>
                  <a:schemeClr val="dk1"/>
                </a:solidFill>
                <a:latin typeface="Calibri"/>
                <a:ea typeface="Calibri"/>
                <a:cs typeface="Calibri"/>
                <a:sym typeface="Calibri"/>
              </a:defRPr>
            </a:lvl8pPr>
            <a:lvl9pPr marL="2743200" marR="0" lvl="8" indent="0" algn="ctr" rtl="0">
              <a:lnSpc>
                <a:spcPct val="90000"/>
              </a:lnSpc>
              <a:spcBef>
                <a:spcPts val="375"/>
              </a:spcBef>
              <a:buClr>
                <a:schemeClr val="dk1"/>
              </a:buClr>
              <a:buFont typeface="Arial"/>
              <a:buNone/>
              <a:defRPr sz="12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41162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2E57DA6-D3EF-4CC1-B9EA-B53E274D109C}" type="datetimeFigureOut">
              <a:rPr lang="en-US" smtClean="0"/>
              <a:t>10/5/2026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BA40D1F-3B49-4F84-809D-6E9E09665406}" type="slidenum">
              <a:rPr lang="en-US" smtClean="0"/>
              <a:t>‹#›</a:t>
            </a:fld>
            <a:endParaRPr lang="en-US"/>
          </a:p>
        </p:txBody>
      </p:sp>
    </p:spTree>
    <p:extLst>
      <p:ext uri="{BB962C8B-B14F-4D97-AF65-F5344CB8AC3E}">
        <p14:creationId xmlns:p14="http://schemas.microsoft.com/office/powerpoint/2010/main" val="282809748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4" r:id="rId12"/>
    <p:sldLayoutId id="2147483696" r:id="rId13"/>
    <p:sldLayoutId id="2147483698"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melcharolinesgn2/AW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Shape 256"/>
          <p:cNvSpPr txBox="1">
            <a:spLocks noGrp="1"/>
          </p:cNvSpPr>
          <p:nvPr>
            <p:ph type="ctrTitle"/>
          </p:nvPr>
        </p:nvSpPr>
        <p:spPr>
          <a:prstGeom prst="rect">
            <a:avLst/>
          </a:prstGeom>
        </p:spPr>
        <p:txBody>
          <a:bodyPr lIns="91425" tIns="91425" rIns="91425" bIns="91425" anchor="b" anchorCtr="0">
            <a:noAutofit/>
          </a:bodyPr>
          <a:lstStyle/>
          <a:p>
            <a:pPr lvl="0">
              <a:spcBef>
                <a:spcPts val="0"/>
              </a:spcBef>
              <a:buNone/>
            </a:pPr>
            <a:r>
              <a:rPr lang="en" dirty="0" smtClean="0"/>
              <a:t>Infrastructure Cloud Computing</a:t>
            </a:r>
            <a:endParaRPr lang="en" dirty="0"/>
          </a:p>
        </p:txBody>
      </p:sp>
      <p:sp>
        <p:nvSpPr>
          <p:cNvPr id="258" name="Shape 258"/>
          <p:cNvSpPr txBox="1"/>
          <p:nvPr/>
        </p:nvSpPr>
        <p:spPr>
          <a:xfrm>
            <a:off x="5970104" y="4627775"/>
            <a:ext cx="3032646" cy="397200"/>
          </a:xfrm>
          <a:prstGeom prst="rect">
            <a:avLst/>
          </a:prstGeom>
          <a:noFill/>
          <a:ln>
            <a:noFill/>
          </a:ln>
        </p:spPr>
        <p:txBody>
          <a:bodyPr lIns="91425" tIns="91425" rIns="91425" bIns="91425" anchor="t" anchorCtr="0">
            <a:noAutofit/>
          </a:bodyPr>
          <a:lstStyle/>
          <a:p>
            <a:pPr lvl="0" rtl="0">
              <a:spcBef>
                <a:spcPts val="0"/>
              </a:spcBef>
              <a:buNone/>
            </a:pPr>
            <a:r>
              <a:rPr lang="en-US" dirty="0" smtClean="0">
                <a:solidFill>
                  <a:schemeClr val="accent5"/>
                </a:solidFill>
                <a:latin typeface="Roboto Condensed"/>
                <a:ea typeface="Roboto Condensed"/>
                <a:cs typeface="Roboto Condensed"/>
                <a:sym typeface="Roboto Condensed"/>
              </a:rPr>
              <a:t>@</a:t>
            </a:r>
            <a:r>
              <a:rPr lang="en-US" dirty="0" err="1" smtClean="0">
                <a:solidFill>
                  <a:schemeClr val="accent5"/>
                </a:solidFill>
                <a:latin typeface="Roboto Condensed"/>
                <a:ea typeface="Roboto Condensed"/>
                <a:cs typeface="Roboto Condensed"/>
                <a:sym typeface="Roboto Condensed"/>
              </a:rPr>
              <a:t>Amel</a:t>
            </a:r>
            <a:r>
              <a:rPr lang="en-US" dirty="0" smtClean="0">
                <a:solidFill>
                  <a:schemeClr val="accent5"/>
                </a:solidFill>
                <a:latin typeface="Roboto Condensed"/>
                <a:ea typeface="Roboto Condensed"/>
                <a:cs typeface="Roboto Condensed"/>
                <a:sym typeface="Roboto Condensed"/>
              </a:rPr>
              <a:t> </a:t>
            </a:r>
            <a:r>
              <a:rPr lang="en-US" dirty="0" err="1" smtClean="0">
                <a:solidFill>
                  <a:schemeClr val="accent5"/>
                </a:solidFill>
                <a:latin typeface="Roboto Condensed"/>
                <a:ea typeface="Roboto Condensed"/>
                <a:cs typeface="Roboto Condensed"/>
                <a:sym typeface="Roboto Condensed"/>
              </a:rPr>
              <a:t>charoline</a:t>
            </a:r>
            <a:r>
              <a:rPr lang="en-US" dirty="0" smtClean="0">
                <a:solidFill>
                  <a:schemeClr val="accent5"/>
                </a:solidFill>
                <a:latin typeface="Roboto Condensed"/>
                <a:ea typeface="Roboto Condensed"/>
                <a:cs typeface="Roboto Condensed"/>
                <a:sym typeface="Roboto Condensed"/>
              </a:rPr>
              <a:t> &amp; Irene M</a:t>
            </a:r>
            <a:endParaRPr lang="en" dirty="0">
              <a:solidFill>
                <a:schemeClr val="accent5"/>
              </a:solidFill>
              <a:latin typeface="Roboto Condensed"/>
              <a:ea typeface="Roboto Condensed"/>
              <a:cs typeface="Roboto Condensed"/>
              <a:sym typeface="Roboto Condensed"/>
            </a:endParaRPr>
          </a:p>
        </p:txBody>
      </p:sp>
      <p:sp>
        <p:nvSpPr>
          <p:cNvPr id="6" name="Rectangle 5"/>
          <p:cNvSpPr/>
          <p:nvPr/>
        </p:nvSpPr>
        <p:spPr>
          <a:xfrm>
            <a:off x="6931268" y="4287340"/>
            <a:ext cx="2063814" cy="184666"/>
          </a:xfrm>
          <a:prstGeom prst="rect">
            <a:avLst/>
          </a:prstGeom>
        </p:spPr>
        <p:txBody>
          <a:bodyPr wrap="square">
            <a:spAutoFit/>
          </a:bodyPr>
          <a:lstStyle/>
          <a:p>
            <a:pPr algn="r"/>
            <a:r>
              <a:rPr lang="en-US" sz="600" dirty="0"/>
              <a:t>https://www.youtube.com/@AmelOline/videos</a:t>
            </a:r>
          </a:p>
        </p:txBody>
      </p:sp>
      <p:sp>
        <p:nvSpPr>
          <p:cNvPr id="7" name="Rectangle 6"/>
          <p:cNvSpPr/>
          <p:nvPr/>
        </p:nvSpPr>
        <p:spPr>
          <a:xfrm>
            <a:off x="7585564" y="4188538"/>
            <a:ext cx="1394132" cy="184666"/>
          </a:xfrm>
          <a:prstGeom prst="rect">
            <a:avLst/>
          </a:prstGeom>
        </p:spPr>
        <p:txBody>
          <a:bodyPr wrap="square">
            <a:spAutoFit/>
          </a:bodyPr>
          <a:lstStyle/>
          <a:p>
            <a:pPr algn="r"/>
            <a:r>
              <a:rPr lang="en-US" sz="600" dirty="0"/>
              <a:t>https://github.com/siagianp</a:t>
            </a:r>
          </a:p>
        </p:txBody>
      </p:sp>
      <p:sp>
        <p:nvSpPr>
          <p:cNvPr id="8" name="Rectangle 7"/>
          <p:cNvSpPr/>
          <p:nvPr/>
        </p:nvSpPr>
        <p:spPr>
          <a:xfrm>
            <a:off x="6788313" y="4400890"/>
            <a:ext cx="2207657" cy="184666"/>
          </a:xfrm>
          <a:prstGeom prst="rect">
            <a:avLst/>
          </a:prstGeom>
        </p:spPr>
        <p:txBody>
          <a:bodyPr wrap="none">
            <a:spAutoFit/>
          </a:bodyPr>
          <a:lstStyle/>
          <a:p>
            <a:pPr algn="r"/>
            <a:r>
              <a:rPr lang="en-US" sz="600" dirty="0"/>
              <a:t>https://github.com/amelcharolinesgn2/Cloud-Infrastructures</a:t>
            </a:r>
          </a:p>
        </p:txBody>
      </p:sp>
      <p:sp>
        <p:nvSpPr>
          <p:cNvPr id="9" name="Rectangle 8"/>
          <p:cNvSpPr/>
          <p:nvPr/>
        </p:nvSpPr>
        <p:spPr>
          <a:xfrm>
            <a:off x="6363518" y="4502428"/>
            <a:ext cx="2632452" cy="184666"/>
          </a:xfrm>
          <a:prstGeom prst="rect">
            <a:avLst/>
          </a:prstGeom>
        </p:spPr>
        <p:txBody>
          <a:bodyPr wrap="none">
            <a:spAutoFit/>
          </a:bodyPr>
          <a:lstStyle/>
          <a:p>
            <a:pPr algn="r"/>
            <a:r>
              <a:rPr lang="en-US" sz="600" dirty="0"/>
              <a:t>https://github.com/amelcharolinesgn2/ClouD-Infrastructure-SISKA-2025</a:t>
            </a:r>
          </a:p>
        </p:txBody>
      </p:sp>
      <p:sp>
        <p:nvSpPr>
          <p:cNvPr id="10" name="Rectangle 9"/>
          <p:cNvSpPr/>
          <p:nvPr/>
        </p:nvSpPr>
        <p:spPr>
          <a:xfrm>
            <a:off x="6931268" y="4583219"/>
            <a:ext cx="2063814" cy="184666"/>
          </a:xfrm>
          <a:prstGeom prst="rect">
            <a:avLst/>
          </a:prstGeom>
        </p:spPr>
        <p:txBody>
          <a:bodyPr wrap="square">
            <a:spAutoFit/>
          </a:bodyPr>
          <a:lstStyle/>
          <a:p>
            <a:pPr algn="r"/>
            <a:r>
              <a:rPr lang="en-US" sz="600" dirty="0"/>
              <a:t>https://github.com/amelcharolinesgn2/CCNA1</a:t>
            </a:r>
          </a:p>
        </p:txBody>
      </p:sp>
      <p:sp>
        <p:nvSpPr>
          <p:cNvPr id="11" name="Rectangle 10"/>
          <p:cNvSpPr/>
          <p:nvPr/>
        </p:nvSpPr>
        <p:spPr>
          <a:xfrm>
            <a:off x="6931268" y="4681038"/>
            <a:ext cx="2063814" cy="184666"/>
          </a:xfrm>
          <a:prstGeom prst="rect">
            <a:avLst/>
          </a:prstGeom>
        </p:spPr>
        <p:txBody>
          <a:bodyPr wrap="square">
            <a:spAutoFit/>
          </a:bodyPr>
          <a:lstStyle/>
          <a:p>
            <a:pPr algn="r"/>
            <a:r>
              <a:rPr lang="en-US" sz="600" dirty="0"/>
              <a:t>https://github.com/amelcharolinesgn2/CCNA2</a:t>
            </a:r>
          </a:p>
        </p:txBody>
      </p:sp>
      <p:sp>
        <p:nvSpPr>
          <p:cNvPr id="12" name="Rectangle 11"/>
          <p:cNvSpPr/>
          <p:nvPr/>
        </p:nvSpPr>
        <p:spPr>
          <a:xfrm>
            <a:off x="6931268" y="4754935"/>
            <a:ext cx="2063814" cy="184666"/>
          </a:xfrm>
          <a:prstGeom prst="rect">
            <a:avLst/>
          </a:prstGeom>
        </p:spPr>
        <p:txBody>
          <a:bodyPr wrap="square">
            <a:spAutoFit/>
          </a:bodyPr>
          <a:lstStyle/>
          <a:p>
            <a:pPr algn="r"/>
            <a:r>
              <a:rPr lang="en-US" sz="600" dirty="0">
                <a:hlinkClick r:id="rId3"/>
              </a:rPr>
              <a:t>https://github.com/amelcharolinesgn2/AWS</a:t>
            </a:r>
            <a:r>
              <a:rPr lang="en-US" sz="600" dirty="0"/>
              <a:t> Certificate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Shape 285"/>
          <p:cNvSpPr txBox="1">
            <a:spLocks noGrp="1"/>
          </p:cNvSpPr>
          <p:nvPr>
            <p:ph type="title"/>
          </p:nvPr>
        </p:nvSpPr>
        <p:spPr>
          <a:prstGeom prst="rect">
            <a:avLst/>
          </a:prstGeom>
        </p:spPr>
        <p:txBody>
          <a:bodyPr lIns="91425" tIns="91425" rIns="91425" bIns="91425" anchor="t" anchorCtr="0">
            <a:noAutofit/>
          </a:bodyPr>
          <a:lstStyle/>
          <a:p>
            <a:pPr lvl="0" rtl="0">
              <a:spcBef>
                <a:spcPts val="0"/>
              </a:spcBef>
              <a:buClr>
                <a:schemeClr val="dk1"/>
              </a:buClr>
              <a:buSzPct val="39285"/>
              <a:buFont typeface="Arial"/>
              <a:buNone/>
            </a:pPr>
            <a:r>
              <a:rPr lang="en" dirty="0" smtClean="0">
                <a:solidFill>
                  <a:schemeClr val="hlink"/>
                </a:solidFill>
              </a:rPr>
              <a:t>GCP</a:t>
            </a:r>
            <a:endParaRPr lang="en" dirty="0">
              <a:solidFill>
                <a:schemeClr val="hlink"/>
              </a:solidFill>
            </a:endParaRPr>
          </a:p>
        </p:txBody>
      </p:sp>
      <p:sp>
        <p:nvSpPr>
          <p:cNvPr id="286" name="Shape 286"/>
          <p:cNvSpPr txBox="1">
            <a:spLocks noGrp="1"/>
          </p:cNvSpPr>
          <p:nvPr>
            <p:ph type="body" idx="1"/>
          </p:nvPr>
        </p:nvSpPr>
        <p:spPr>
          <a:xfrm>
            <a:off x="672735" y="610576"/>
            <a:ext cx="2531039" cy="2913000"/>
          </a:xfrm>
          <a:prstGeom prst="rect">
            <a:avLst/>
          </a:prstGeom>
        </p:spPr>
        <p:txBody>
          <a:bodyPr lIns="91425" tIns="91425" rIns="91425" bIns="91425" anchor="t" anchorCtr="0">
            <a:noAutofit/>
          </a:bodyPr>
          <a:lstStyle/>
          <a:p>
            <a:pPr lvl="0" rtl="0">
              <a:spcBef>
                <a:spcPts val="0"/>
              </a:spcBef>
              <a:buNone/>
            </a:pPr>
            <a:endParaRPr sz="1600" dirty="0"/>
          </a:p>
          <a:p>
            <a:pPr marL="457200" lvl="0" indent="-330200" rtl="0">
              <a:spcBef>
                <a:spcPts val="0"/>
              </a:spcBef>
              <a:buSzPct val="100000"/>
            </a:pPr>
            <a:r>
              <a:rPr lang="en" sz="1600" dirty="0">
                <a:solidFill>
                  <a:schemeClr val="tx2">
                    <a:lumMod val="75000"/>
                  </a:schemeClr>
                </a:solidFill>
              </a:rPr>
              <a:t>Computing</a:t>
            </a:r>
          </a:p>
          <a:p>
            <a:pPr marL="457200" lvl="0" indent="-330200" rtl="0">
              <a:spcBef>
                <a:spcPts val="0"/>
              </a:spcBef>
              <a:buClr>
                <a:schemeClr val="hlink"/>
              </a:buClr>
              <a:buSzPct val="100000"/>
            </a:pPr>
            <a:r>
              <a:rPr lang="en" sz="1600" dirty="0">
                <a:solidFill>
                  <a:schemeClr val="tx2">
                    <a:lumMod val="75000"/>
                  </a:schemeClr>
                </a:solidFill>
              </a:rPr>
              <a:t>Networking</a:t>
            </a:r>
          </a:p>
          <a:p>
            <a:pPr marL="457200" lvl="0" indent="-330200" rtl="0">
              <a:spcBef>
                <a:spcPts val="0"/>
              </a:spcBef>
              <a:buSzPct val="100000"/>
            </a:pPr>
            <a:r>
              <a:rPr lang="en" sz="1600" dirty="0">
                <a:solidFill>
                  <a:schemeClr val="tx2">
                    <a:lumMod val="75000"/>
                  </a:schemeClr>
                </a:solidFill>
              </a:rPr>
              <a:t>Storage</a:t>
            </a:r>
          </a:p>
          <a:p>
            <a:pPr marL="457200" lvl="0" indent="-330200" rtl="0">
              <a:spcBef>
                <a:spcPts val="0"/>
              </a:spcBef>
              <a:buSzPct val="100000"/>
            </a:pPr>
            <a:r>
              <a:rPr lang="en" sz="1600" dirty="0">
                <a:solidFill>
                  <a:schemeClr val="tx2">
                    <a:lumMod val="75000"/>
                  </a:schemeClr>
                </a:solidFill>
              </a:rPr>
              <a:t>Big Data</a:t>
            </a:r>
          </a:p>
          <a:p>
            <a:pPr marL="457200" lvl="0" indent="-330200" rtl="0">
              <a:spcBef>
                <a:spcPts val="0"/>
              </a:spcBef>
              <a:buSzPct val="100000"/>
            </a:pPr>
            <a:r>
              <a:rPr lang="en" sz="1600" dirty="0">
                <a:solidFill>
                  <a:schemeClr val="tx2">
                    <a:lumMod val="75000"/>
                  </a:schemeClr>
                </a:solidFill>
              </a:rPr>
              <a:t>Administration</a:t>
            </a:r>
          </a:p>
          <a:p>
            <a:pPr marL="457200" lvl="0" indent="-330200" rtl="0">
              <a:spcBef>
                <a:spcPts val="0"/>
              </a:spcBef>
              <a:buSzPct val="100000"/>
            </a:pPr>
            <a:r>
              <a:rPr lang="en" sz="1600" dirty="0">
                <a:solidFill>
                  <a:schemeClr val="tx2">
                    <a:lumMod val="75000"/>
                  </a:schemeClr>
                </a:solidFill>
              </a:rPr>
              <a:t>Development</a:t>
            </a:r>
          </a:p>
          <a:p>
            <a:pPr marL="457200" lvl="0" indent="-330200" rtl="0">
              <a:spcBef>
                <a:spcPts val="0"/>
              </a:spcBef>
              <a:buSzPct val="100000"/>
            </a:pPr>
            <a:r>
              <a:rPr lang="en" sz="1600" dirty="0">
                <a:solidFill>
                  <a:schemeClr val="tx2">
                    <a:lumMod val="75000"/>
                  </a:schemeClr>
                </a:solidFill>
              </a:rPr>
              <a:t>Machine learning</a:t>
            </a:r>
          </a:p>
          <a:p>
            <a:pPr lvl="0" rtl="0">
              <a:spcBef>
                <a:spcPts val="0"/>
              </a:spcBef>
              <a:buNone/>
            </a:pPr>
            <a:endParaRPr sz="1600" dirty="0"/>
          </a:p>
        </p:txBody>
      </p:sp>
      <p:pic>
        <p:nvPicPr>
          <p:cNvPr id="4" name="Shape 291" descr="All Products.png"/>
          <p:cNvPicPr preferRelativeResize="0"/>
          <p:nvPr/>
        </p:nvPicPr>
        <p:blipFill rotWithShape="1">
          <a:blip r:embed="rId3">
            <a:alphaModFix/>
          </a:blip>
          <a:srcRect l="3867" t="5354" r="2262" b="8282"/>
          <a:stretch/>
        </p:blipFill>
        <p:spPr>
          <a:xfrm>
            <a:off x="444073" y="3042968"/>
            <a:ext cx="3399183" cy="2033395"/>
          </a:xfrm>
          <a:prstGeom prst="rect">
            <a:avLst/>
          </a:prstGeom>
          <a:noFill/>
          <a:ln>
            <a:noFill/>
          </a:ln>
        </p:spPr>
      </p:pic>
      <p:sp>
        <p:nvSpPr>
          <p:cNvPr id="2" name="Rectangle 1"/>
          <p:cNvSpPr/>
          <p:nvPr/>
        </p:nvSpPr>
        <p:spPr>
          <a:xfrm>
            <a:off x="4220264" y="315499"/>
            <a:ext cx="1612301" cy="369332"/>
          </a:xfrm>
          <a:prstGeom prst="rect">
            <a:avLst/>
          </a:prstGeom>
        </p:spPr>
        <p:txBody>
          <a:bodyPr wrap="none">
            <a:spAutoFit/>
          </a:bodyPr>
          <a:lstStyle/>
          <a:p>
            <a:r>
              <a:rPr lang="en-US" dirty="0" smtClean="0">
                <a:solidFill>
                  <a:srgbClr val="00B0F0"/>
                </a:solidFill>
              </a:rPr>
              <a:t>Navigating GCP</a:t>
            </a:r>
            <a:endParaRPr lang="en-US" dirty="0">
              <a:solidFill>
                <a:srgbClr val="00B0F0"/>
              </a:solidFill>
            </a:endParaRPr>
          </a:p>
        </p:txBody>
      </p:sp>
      <p:pic>
        <p:nvPicPr>
          <p:cNvPr id="3" name="Picture 2"/>
          <p:cNvPicPr>
            <a:picLocks noChangeAspect="1"/>
          </p:cNvPicPr>
          <p:nvPr/>
        </p:nvPicPr>
        <p:blipFill>
          <a:blip r:embed="rId4"/>
          <a:stretch>
            <a:fillRect/>
          </a:stretch>
        </p:blipFill>
        <p:spPr>
          <a:xfrm>
            <a:off x="4367864" y="818289"/>
            <a:ext cx="4681026" cy="216426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Shape 285"/>
          <p:cNvSpPr txBox="1">
            <a:spLocks noGrp="1"/>
          </p:cNvSpPr>
          <p:nvPr>
            <p:ph type="title"/>
          </p:nvPr>
        </p:nvSpPr>
        <p:spPr>
          <a:prstGeom prst="rect">
            <a:avLst/>
          </a:prstGeom>
        </p:spPr>
        <p:txBody>
          <a:bodyPr lIns="91425" tIns="91425" rIns="91425" bIns="91425" anchor="t" anchorCtr="0">
            <a:noAutofit/>
          </a:bodyPr>
          <a:lstStyle/>
          <a:p>
            <a:pPr lvl="0" rtl="0">
              <a:spcBef>
                <a:spcPts val="0"/>
              </a:spcBef>
              <a:buClr>
                <a:schemeClr val="dk1"/>
              </a:buClr>
              <a:buSzPct val="39285"/>
              <a:buFont typeface="Arial"/>
              <a:buNone/>
            </a:pPr>
            <a:r>
              <a:rPr lang="en" dirty="0" smtClean="0">
                <a:solidFill>
                  <a:schemeClr val="hlink"/>
                </a:solidFill>
              </a:rPr>
              <a:t>AWS</a:t>
            </a:r>
            <a:endParaRPr lang="en" dirty="0">
              <a:solidFill>
                <a:schemeClr val="hlink"/>
              </a:solidFill>
            </a:endParaRPr>
          </a:p>
        </p:txBody>
      </p:sp>
      <p:sp>
        <p:nvSpPr>
          <p:cNvPr id="286" name="Shape 286"/>
          <p:cNvSpPr txBox="1">
            <a:spLocks noGrp="1"/>
          </p:cNvSpPr>
          <p:nvPr>
            <p:ph type="body" idx="1"/>
          </p:nvPr>
        </p:nvSpPr>
        <p:spPr>
          <a:xfrm>
            <a:off x="104219" y="974247"/>
            <a:ext cx="2531039" cy="2913000"/>
          </a:xfrm>
          <a:prstGeom prst="rect">
            <a:avLst/>
          </a:prstGeom>
        </p:spPr>
        <p:txBody>
          <a:bodyPr lIns="91425" tIns="91425" rIns="91425" bIns="91425" anchor="t" anchorCtr="0">
            <a:noAutofit/>
          </a:bodyPr>
          <a:lstStyle/>
          <a:p>
            <a:pPr marL="285750" lvl="0" indent="-285750">
              <a:buFont typeface="Arial" panose="020B0604020202020204" pitchFamily="34" charset="0"/>
              <a:buChar char="•"/>
            </a:pPr>
            <a:r>
              <a:rPr lang="en-US" sz="1200" dirty="0">
                <a:solidFill>
                  <a:schemeClr val="tx2">
                    <a:lumMod val="75000"/>
                  </a:schemeClr>
                </a:solidFill>
              </a:rPr>
              <a:t>Ec2 Machine</a:t>
            </a:r>
          </a:p>
          <a:p>
            <a:pPr marL="285750" lvl="0" indent="-285750">
              <a:buFont typeface="Arial" panose="020B0604020202020204" pitchFamily="34" charset="0"/>
              <a:buChar char="•"/>
            </a:pPr>
            <a:r>
              <a:rPr lang="en-US" sz="1200" dirty="0">
                <a:solidFill>
                  <a:schemeClr val="tx2">
                    <a:lumMod val="75000"/>
                  </a:schemeClr>
                </a:solidFill>
              </a:rPr>
              <a:t>​Storage on AWS</a:t>
            </a:r>
          </a:p>
          <a:p>
            <a:pPr marL="285750" lvl="0" indent="-285750">
              <a:buFont typeface="Arial" panose="020B0604020202020204" pitchFamily="34" charset="0"/>
              <a:buChar char="•"/>
            </a:pPr>
            <a:r>
              <a:rPr lang="en-US" sz="1200" dirty="0">
                <a:solidFill>
                  <a:schemeClr val="tx2">
                    <a:lumMod val="75000"/>
                  </a:schemeClr>
                </a:solidFill>
              </a:rPr>
              <a:t>Scalable system</a:t>
            </a:r>
          </a:p>
          <a:p>
            <a:pPr marL="285750" lvl="0" indent="-285750">
              <a:buFont typeface="Arial" panose="020B0604020202020204" pitchFamily="34" charset="0"/>
              <a:buChar char="•"/>
            </a:pPr>
            <a:r>
              <a:rPr lang="en-US" sz="1200" dirty="0">
                <a:solidFill>
                  <a:schemeClr val="tx2">
                    <a:lumMod val="75000"/>
                  </a:schemeClr>
                </a:solidFill>
              </a:rPr>
              <a:t>​Deployment</a:t>
            </a:r>
          </a:p>
          <a:p>
            <a:pPr marL="285750" lvl="0" indent="-285750">
              <a:buFont typeface="Arial" panose="020B0604020202020204" pitchFamily="34" charset="0"/>
              <a:buChar char="•"/>
            </a:pPr>
            <a:r>
              <a:rPr lang="en-US" sz="1200" dirty="0">
                <a:solidFill>
                  <a:schemeClr val="tx2">
                    <a:lumMod val="75000"/>
                  </a:schemeClr>
                </a:solidFill>
              </a:rPr>
              <a:t>​Security</a:t>
            </a:r>
          </a:p>
          <a:p>
            <a:pPr marL="285750" lvl="0" indent="-285750">
              <a:buFont typeface="Arial" panose="020B0604020202020204" pitchFamily="34" charset="0"/>
              <a:buChar char="•"/>
            </a:pPr>
            <a:r>
              <a:rPr lang="en-US" sz="1200" dirty="0">
                <a:solidFill>
                  <a:schemeClr val="tx2">
                    <a:lumMod val="75000"/>
                  </a:schemeClr>
                </a:solidFill>
              </a:rPr>
              <a:t>Price optimization</a:t>
            </a:r>
          </a:p>
        </p:txBody>
      </p:sp>
      <p:sp>
        <p:nvSpPr>
          <p:cNvPr id="2" name="Rectangle 1"/>
          <p:cNvSpPr/>
          <p:nvPr/>
        </p:nvSpPr>
        <p:spPr>
          <a:xfrm>
            <a:off x="4220264" y="315499"/>
            <a:ext cx="1658211" cy="369332"/>
          </a:xfrm>
          <a:prstGeom prst="rect">
            <a:avLst/>
          </a:prstGeom>
        </p:spPr>
        <p:txBody>
          <a:bodyPr wrap="none">
            <a:spAutoFit/>
          </a:bodyPr>
          <a:lstStyle/>
          <a:p>
            <a:r>
              <a:rPr lang="en-US" dirty="0" smtClean="0">
                <a:solidFill>
                  <a:srgbClr val="00B0F0"/>
                </a:solidFill>
              </a:rPr>
              <a:t>Navigating AWS</a:t>
            </a:r>
            <a:endParaRPr lang="en-US" dirty="0">
              <a:solidFill>
                <a:srgbClr val="00B0F0"/>
              </a:solidFill>
            </a:endParaRPr>
          </a:p>
        </p:txBody>
      </p:sp>
      <p:pic>
        <p:nvPicPr>
          <p:cNvPr id="6" name="Picture 5"/>
          <p:cNvPicPr>
            <a:picLocks noChangeAspect="1"/>
          </p:cNvPicPr>
          <p:nvPr/>
        </p:nvPicPr>
        <p:blipFill>
          <a:blip r:embed="rId3"/>
          <a:stretch>
            <a:fillRect/>
          </a:stretch>
        </p:blipFill>
        <p:spPr>
          <a:xfrm>
            <a:off x="4562617" y="2608099"/>
            <a:ext cx="4230200" cy="2175303"/>
          </a:xfrm>
          <a:prstGeom prst="rect">
            <a:avLst/>
          </a:prstGeom>
        </p:spPr>
      </p:pic>
      <p:pic>
        <p:nvPicPr>
          <p:cNvPr id="7" name="Picture 6"/>
          <p:cNvPicPr>
            <a:picLocks noChangeAspect="1"/>
          </p:cNvPicPr>
          <p:nvPr/>
        </p:nvPicPr>
        <p:blipFill>
          <a:blip r:embed="rId4"/>
          <a:stretch>
            <a:fillRect/>
          </a:stretch>
        </p:blipFill>
        <p:spPr>
          <a:xfrm>
            <a:off x="437322" y="3055369"/>
            <a:ext cx="3690730" cy="1663756"/>
          </a:xfrm>
          <a:prstGeom prst="rect">
            <a:avLst/>
          </a:prstGeom>
        </p:spPr>
      </p:pic>
      <p:pic>
        <p:nvPicPr>
          <p:cNvPr id="8" name="Picture 7"/>
          <p:cNvPicPr>
            <a:picLocks noChangeAspect="1"/>
          </p:cNvPicPr>
          <p:nvPr/>
        </p:nvPicPr>
        <p:blipFill>
          <a:blip r:embed="rId5"/>
          <a:stretch>
            <a:fillRect/>
          </a:stretch>
        </p:blipFill>
        <p:spPr>
          <a:xfrm>
            <a:off x="4562617" y="684831"/>
            <a:ext cx="4175960" cy="1846334"/>
          </a:xfrm>
          <a:prstGeom prst="rect">
            <a:avLst/>
          </a:prstGeom>
        </p:spPr>
      </p:pic>
      <p:sp>
        <p:nvSpPr>
          <p:cNvPr id="11" name="Content Placeholder 2"/>
          <p:cNvSpPr txBox="1">
            <a:spLocks noChangeArrowheads="1"/>
          </p:cNvSpPr>
          <p:nvPr/>
        </p:nvSpPr>
        <p:spPr>
          <a:xfrm>
            <a:off x="2031804" y="323297"/>
            <a:ext cx="3303494" cy="2535238"/>
          </a:xfrm>
          <a:prstGeom prst="rect">
            <a:avLst/>
          </a:prstGeom>
          <a:noFill/>
          <a:ln>
            <a:noFill/>
          </a:ln>
        </p:spPr>
        <p:txBody>
          <a:bodyPr vert="horz" lIns="91425" tIns="91425" rIns="91425" bIns="91425" rtlCol="0" anchor="t" anchorCtr="0">
            <a:normAutofit/>
          </a:bodyPr>
          <a:lstStyle>
            <a:lvl1pPr marL="0" marR="0" lvl="0" indent="0" algn="l" defTabSz="685800" rtl="0" eaLnBrk="1" latinLnBrk="0" hangingPunct="1">
              <a:lnSpc>
                <a:spcPct val="115000"/>
              </a:lnSpc>
              <a:spcBef>
                <a:spcPts val="0"/>
              </a:spcBef>
              <a:buClr>
                <a:srgbClr val="545454"/>
              </a:buClr>
              <a:buFont typeface="Arial"/>
              <a:buChar char="●"/>
              <a:defRPr sz="1400" b="0" i="0" u="none" strike="noStrike" kern="1200" cap="none">
                <a:solidFill>
                  <a:srgbClr val="545454"/>
                </a:solidFill>
                <a:latin typeface="Roboto"/>
                <a:ea typeface="Roboto"/>
                <a:cs typeface="Roboto"/>
                <a:sym typeface="Roboto"/>
              </a:defRPr>
            </a:lvl1pPr>
            <a:lvl2pPr marL="171450" marR="0" lvl="1" indent="-95250" algn="l" defTabSz="685800" rtl="0" eaLnBrk="1" latinLnBrk="0" hangingPunct="1">
              <a:lnSpc>
                <a:spcPct val="115000"/>
              </a:lnSpc>
              <a:spcBef>
                <a:spcPts val="375"/>
              </a:spcBef>
              <a:buClr>
                <a:srgbClr val="545454"/>
              </a:buClr>
              <a:buSzPct val="100000"/>
              <a:buFont typeface="Arial"/>
              <a:buChar char="•"/>
              <a:defRPr sz="1400" b="0" i="0" u="none" strike="noStrike" kern="1200" cap="none">
                <a:solidFill>
                  <a:srgbClr val="545454"/>
                </a:solidFill>
                <a:latin typeface="Roboto"/>
                <a:ea typeface="Roboto"/>
                <a:cs typeface="Roboto"/>
                <a:sym typeface="Roboto"/>
              </a:defRPr>
            </a:lvl2pPr>
            <a:lvl3pPr marL="403225" marR="0" lvl="2" indent="-98425" algn="l" defTabSz="685800" rtl="0" eaLnBrk="1" latinLnBrk="0" hangingPunct="1">
              <a:lnSpc>
                <a:spcPct val="115000"/>
              </a:lnSpc>
              <a:spcBef>
                <a:spcPts val="375"/>
              </a:spcBef>
              <a:buClr>
                <a:srgbClr val="545454"/>
              </a:buClr>
              <a:buSzPct val="100000"/>
              <a:buFont typeface="Arial"/>
              <a:buChar char="•"/>
              <a:defRPr sz="1400" b="0" i="0" u="none" strike="noStrike" kern="1200" cap="none">
                <a:solidFill>
                  <a:srgbClr val="545454"/>
                </a:solidFill>
                <a:latin typeface="Roboto"/>
                <a:ea typeface="Roboto"/>
                <a:cs typeface="Roboto"/>
                <a:sym typeface="Roboto"/>
              </a:defRPr>
            </a:lvl3pPr>
            <a:lvl4pPr marL="635000" marR="0" lvl="3" indent="-101600" algn="l" defTabSz="685800" rtl="0" eaLnBrk="1" latinLnBrk="0" hangingPunct="1">
              <a:lnSpc>
                <a:spcPct val="115000"/>
              </a:lnSpc>
              <a:spcBef>
                <a:spcPts val="375"/>
              </a:spcBef>
              <a:buClr>
                <a:srgbClr val="545454"/>
              </a:buClr>
              <a:buSzPct val="100000"/>
              <a:buFont typeface="Arial"/>
              <a:buChar char="•"/>
              <a:defRPr sz="1400" b="0" i="0" u="none" strike="noStrike" kern="1200" cap="none">
                <a:solidFill>
                  <a:srgbClr val="545454"/>
                </a:solidFill>
                <a:latin typeface="Roboto"/>
                <a:ea typeface="Roboto"/>
                <a:cs typeface="Roboto"/>
                <a:sym typeface="Roboto"/>
              </a:defRPr>
            </a:lvl4pPr>
            <a:lvl5pPr marL="857250" marR="0" lvl="4" indent="-95250" algn="l" defTabSz="685800" rtl="0" eaLnBrk="1" latinLnBrk="0" hangingPunct="1">
              <a:lnSpc>
                <a:spcPct val="115000"/>
              </a:lnSpc>
              <a:spcBef>
                <a:spcPts val="375"/>
              </a:spcBef>
              <a:buClr>
                <a:srgbClr val="545454"/>
              </a:buClr>
              <a:buSzPct val="100000"/>
              <a:buFont typeface="Arial"/>
              <a:buChar char="•"/>
              <a:defRPr sz="1400" b="0" i="0" u="none" strike="noStrike" kern="1200" cap="none">
                <a:solidFill>
                  <a:srgbClr val="545454"/>
                </a:solidFill>
                <a:latin typeface="Roboto"/>
                <a:ea typeface="Roboto"/>
                <a:cs typeface="Roboto"/>
                <a:sym typeface="Roboto"/>
              </a:defRPr>
            </a:lvl5pPr>
            <a:lvl6pPr marL="1885950" marR="0" lvl="5" indent="-85725" algn="l" defTabSz="685800" rtl="0" eaLnBrk="1" latinLnBrk="0" hangingPunct="1">
              <a:lnSpc>
                <a:spcPct val="115000"/>
              </a:lnSpc>
              <a:spcBef>
                <a:spcPts val="375"/>
              </a:spcBef>
              <a:buSzPct val="100000"/>
              <a:buFont typeface="Arial" panose="020B0604020202020204" pitchFamily="34" charset="0"/>
              <a:buChar char="•"/>
              <a:defRPr sz="1400" b="0" i="0" u="none" strike="noStrike" kern="1200" cap="none">
                <a:solidFill>
                  <a:schemeClr val="tx1"/>
                </a:solidFill>
                <a:latin typeface="+mn-lt"/>
                <a:ea typeface="+mn-ea"/>
                <a:cs typeface="+mn-cs"/>
              </a:defRPr>
            </a:lvl6pPr>
            <a:lvl7pPr marL="2228850" marR="0" lvl="6" indent="-85725" algn="l" defTabSz="685800" rtl="0" eaLnBrk="1" latinLnBrk="0" hangingPunct="1">
              <a:lnSpc>
                <a:spcPct val="115000"/>
              </a:lnSpc>
              <a:spcBef>
                <a:spcPts val="375"/>
              </a:spcBef>
              <a:buSzPct val="100000"/>
              <a:buFont typeface="Arial" panose="020B0604020202020204" pitchFamily="34" charset="0"/>
              <a:buChar char="•"/>
              <a:defRPr sz="1400" b="0" i="0" u="none" strike="noStrike" kern="1200" cap="none">
                <a:solidFill>
                  <a:schemeClr val="tx1"/>
                </a:solidFill>
                <a:latin typeface="+mn-lt"/>
                <a:ea typeface="+mn-ea"/>
                <a:cs typeface="+mn-cs"/>
              </a:defRPr>
            </a:lvl7pPr>
            <a:lvl8pPr marL="2571750" marR="0" lvl="7" indent="-85725" algn="l" defTabSz="685800" rtl="0" eaLnBrk="1" latinLnBrk="0" hangingPunct="1">
              <a:lnSpc>
                <a:spcPct val="115000"/>
              </a:lnSpc>
              <a:spcBef>
                <a:spcPts val="375"/>
              </a:spcBef>
              <a:buSzPct val="100000"/>
              <a:buFont typeface="Arial" panose="020B0604020202020204" pitchFamily="34" charset="0"/>
              <a:buChar char="•"/>
              <a:defRPr sz="1400" b="0" i="0" u="none" strike="noStrike" kern="1200" cap="none">
                <a:solidFill>
                  <a:schemeClr val="tx1"/>
                </a:solidFill>
                <a:latin typeface="+mn-lt"/>
                <a:ea typeface="+mn-ea"/>
                <a:cs typeface="+mn-cs"/>
              </a:defRPr>
            </a:lvl8pPr>
            <a:lvl9pPr marL="2914650" marR="0" lvl="8" indent="-85725" algn="l" defTabSz="685800" rtl="0" eaLnBrk="1" latinLnBrk="0" hangingPunct="1">
              <a:lnSpc>
                <a:spcPct val="115000"/>
              </a:lnSpc>
              <a:spcBef>
                <a:spcPts val="375"/>
              </a:spcBef>
              <a:buSzPct val="100000"/>
              <a:buFont typeface="Arial" panose="020B0604020202020204" pitchFamily="34" charset="0"/>
              <a:buChar char="•"/>
              <a:defRPr sz="1400" b="0" i="0" u="none" strike="noStrike" kern="1200" cap="none">
                <a:solidFill>
                  <a:schemeClr val="tx1"/>
                </a:solidFill>
                <a:latin typeface="+mn-lt"/>
                <a:ea typeface="+mn-ea"/>
                <a:cs typeface="+mn-cs"/>
              </a:defRPr>
            </a:lvl9pPr>
          </a:lstStyle>
          <a:p>
            <a:r>
              <a:rPr lang="en-US" altLang="en-US" sz="1200" dirty="0" smtClean="0"/>
              <a:t>Computing </a:t>
            </a:r>
          </a:p>
          <a:p>
            <a:pPr lvl="1"/>
            <a:r>
              <a:rPr lang="en-US" altLang="en-US" sz="1200" dirty="0" smtClean="0"/>
              <a:t>Elastic Compute Cloud (EC2)</a:t>
            </a:r>
          </a:p>
          <a:p>
            <a:r>
              <a:rPr lang="en-US" altLang="en-US" sz="1200" dirty="0" smtClean="0"/>
              <a:t>Storage</a:t>
            </a:r>
          </a:p>
          <a:p>
            <a:pPr lvl="1"/>
            <a:r>
              <a:rPr lang="en-US" altLang="en-US" sz="1200" dirty="0" smtClean="0"/>
              <a:t>Simple Storage Services (S3)</a:t>
            </a:r>
          </a:p>
          <a:p>
            <a:pPr lvl="1"/>
            <a:r>
              <a:rPr lang="en-US" altLang="en-US" sz="1200" dirty="0" smtClean="0"/>
              <a:t>Elastic Block Stores (EBS)</a:t>
            </a:r>
          </a:p>
          <a:p>
            <a:pPr lvl="1"/>
            <a:r>
              <a:rPr lang="en-US" altLang="en-US" sz="1200" dirty="0" err="1" smtClean="0"/>
              <a:t>Glaciar</a:t>
            </a:r>
            <a:r>
              <a:rPr lang="en-US" altLang="en-US" sz="1200" dirty="0" smtClean="0"/>
              <a:t> </a:t>
            </a:r>
          </a:p>
          <a:p>
            <a:pPr lvl="1"/>
            <a:r>
              <a:rPr lang="en-US" altLang="en-US" sz="1200" dirty="0" err="1" smtClean="0"/>
              <a:t>DynamoDB</a:t>
            </a:r>
            <a:endParaRPr lang="en-US" altLang="en-US" sz="1200" dirty="0" smtClean="0"/>
          </a:p>
          <a:p>
            <a:r>
              <a:rPr lang="en-US" altLang="en-US" sz="1200" dirty="0" smtClean="0"/>
              <a:t>Other services</a:t>
            </a:r>
          </a:p>
          <a:p>
            <a:pPr lvl="1"/>
            <a:r>
              <a:rPr lang="en-US" altLang="en-US" sz="1200" dirty="0" smtClean="0"/>
              <a:t>Simple Queue Service</a:t>
            </a:r>
          </a:p>
          <a:p>
            <a:endParaRPr lang="en-US" altLang="en-US" sz="1200" dirty="0" smtClean="0"/>
          </a:p>
        </p:txBody>
      </p:sp>
    </p:spTree>
    <p:extLst>
      <p:ext uri="{BB962C8B-B14F-4D97-AF65-F5344CB8AC3E}">
        <p14:creationId xmlns:p14="http://schemas.microsoft.com/office/powerpoint/2010/main" val="2619711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Shape 285"/>
          <p:cNvSpPr txBox="1">
            <a:spLocks noGrp="1"/>
          </p:cNvSpPr>
          <p:nvPr>
            <p:ph type="title"/>
          </p:nvPr>
        </p:nvSpPr>
        <p:spPr>
          <a:prstGeom prst="rect">
            <a:avLst/>
          </a:prstGeom>
        </p:spPr>
        <p:txBody>
          <a:bodyPr lIns="91425" tIns="91425" rIns="91425" bIns="91425" anchor="t" anchorCtr="0">
            <a:noAutofit/>
          </a:bodyPr>
          <a:lstStyle/>
          <a:p>
            <a:pPr lvl="0" rtl="0">
              <a:spcBef>
                <a:spcPts val="0"/>
              </a:spcBef>
              <a:buClr>
                <a:schemeClr val="dk1"/>
              </a:buClr>
              <a:buSzPct val="39285"/>
              <a:buFont typeface="Arial"/>
              <a:buNone/>
            </a:pPr>
            <a:r>
              <a:rPr lang="en" dirty="0" smtClean="0">
                <a:solidFill>
                  <a:schemeClr val="hlink"/>
                </a:solidFill>
              </a:rPr>
              <a:t>Openstack</a:t>
            </a:r>
            <a:endParaRPr lang="en" dirty="0">
              <a:solidFill>
                <a:schemeClr val="hlink"/>
              </a:solidFill>
            </a:endParaRPr>
          </a:p>
        </p:txBody>
      </p:sp>
      <p:sp>
        <p:nvSpPr>
          <p:cNvPr id="286" name="Shape 286"/>
          <p:cNvSpPr txBox="1">
            <a:spLocks noGrp="1"/>
          </p:cNvSpPr>
          <p:nvPr>
            <p:ph type="body" idx="1"/>
          </p:nvPr>
        </p:nvSpPr>
        <p:spPr>
          <a:xfrm>
            <a:off x="428869" y="921474"/>
            <a:ext cx="2531039" cy="1907451"/>
          </a:xfrm>
          <a:prstGeom prst="rect">
            <a:avLst/>
          </a:prstGeom>
        </p:spPr>
        <p:txBody>
          <a:bodyPr lIns="91425" tIns="91425" rIns="91425" bIns="91425" anchor="t" anchorCtr="0">
            <a:noAutofit/>
          </a:bodyPr>
          <a:lstStyle/>
          <a:p>
            <a:r>
              <a:rPr lang="en-US" sz="1600" dirty="0" smtClean="0"/>
              <a:t>Keystone</a:t>
            </a:r>
            <a:endParaRPr lang="en-US" sz="1600" dirty="0"/>
          </a:p>
          <a:p>
            <a:r>
              <a:rPr lang="en-US" sz="1600" dirty="0"/>
              <a:t>Horizon</a:t>
            </a:r>
          </a:p>
          <a:p>
            <a:r>
              <a:rPr lang="en-US" sz="1600" dirty="0"/>
              <a:t>Glance</a:t>
            </a:r>
          </a:p>
          <a:p>
            <a:r>
              <a:rPr lang="en-US" sz="1600" dirty="0" smtClean="0"/>
              <a:t>Nova</a:t>
            </a:r>
          </a:p>
          <a:p>
            <a:r>
              <a:rPr lang="en-US" sz="1600" dirty="0" smtClean="0"/>
              <a:t>Neutron</a:t>
            </a:r>
            <a:endParaRPr lang="en-US" sz="1600" dirty="0"/>
          </a:p>
          <a:p>
            <a:r>
              <a:rPr lang="en-US" sz="1600" dirty="0" smtClean="0"/>
              <a:t>Cinder</a:t>
            </a:r>
            <a:endParaRPr lang="en-US" sz="1600" dirty="0"/>
          </a:p>
          <a:p>
            <a:endParaRPr lang="en-US" sz="1600" dirty="0">
              <a:solidFill>
                <a:schemeClr val="tx2">
                  <a:lumMod val="75000"/>
                </a:schemeClr>
              </a:solidFill>
            </a:endParaRPr>
          </a:p>
        </p:txBody>
      </p:sp>
      <p:sp>
        <p:nvSpPr>
          <p:cNvPr id="2" name="Rectangle 1"/>
          <p:cNvSpPr/>
          <p:nvPr/>
        </p:nvSpPr>
        <p:spPr>
          <a:xfrm>
            <a:off x="4220264" y="315499"/>
            <a:ext cx="2228239" cy="369332"/>
          </a:xfrm>
          <a:prstGeom prst="rect">
            <a:avLst/>
          </a:prstGeom>
        </p:spPr>
        <p:txBody>
          <a:bodyPr wrap="none">
            <a:spAutoFit/>
          </a:bodyPr>
          <a:lstStyle/>
          <a:p>
            <a:r>
              <a:rPr lang="en-US" dirty="0" smtClean="0">
                <a:solidFill>
                  <a:srgbClr val="00B0F0"/>
                </a:solidFill>
              </a:rPr>
              <a:t>Navigating OpenStack</a:t>
            </a:r>
            <a:endParaRPr lang="en-US" dirty="0">
              <a:solidFill>
                <a:srgbClr val="00B0F0"/>
              </a:solidFill>
            </a:endParaRPr>
          </a:p>
        </p:txBody>
      </p:sp>
      <p:pic>
        <p:nvPicPr>
          <p:cNvPr id="3" name="Picture 2"/>
          <p:cNvPicPr>
            <a:picLocks noChangeAspect="1"/>
          </p:cNvPicPr>
          <p:nvPr/>
        </p:nvPicPr>
        <p:blipFill>
          <a:blip r:embed="rId3"/>
          <a:stretch>
            <a:fillRect/>
          </a:stretch>
        </p:blipFill>
        <p:spPr>
          <a:xfrm>
            <a:off x="523461" y="3339207"/>
            <a:ext cx="4110392" cy="1472464"/>
          </a:xfrm>
          <a:prstGeom prst="rect">
            <a:avLst/>
          </a:prstGeom>
        </p:spPr>
      </p:pic>
      <p:sp>
        <p:nvSpPr>
          <p:cNvPr id="4" name="Rectangle 3"/>
          <p:cNvSpPr/>
          <p:nvPr/>
        </p:nvSpPr>
        <p:spPr>
          <a:xfrm>
            <a:off x="6905726" y="49831"/>
            <a:ext cx="2781460" cy="5016758"/>
          </a:xfrm>
          <a:prstGeom prst="rect">
            <a:avLst/>
          </a:prstGeom>
        </p:spPr>
        <p:txBody>
          <a:bodyPr wrap="square">
            <a:spAutoFit/>
          </a:bodyPr>
          <a:lstStyle/>
          <a:p>
            <a:r>
              <a:rPr lang="en-US" sz="800" b="1" u="sng" dirty="0"/>
              <a:t>OpenStack services installed on Controller </a:t>
            </a:r>
            <a:r>
              <a:rPr lang="en-US" sz="800" dirty="0"/>
              <a:t>node:</a:t>
            </a:r>
          </a:p>
          <a:p>
            <a:endParaRPr lang="en-US" sz="800" dirty="0"/>
          </a:p>
          <a:p>
            <a:r>
              <a:rPr lang="en-US" sz="800" dirty="0"/>
              <a:t>Keystone</a:t>
            </a:r>
          </a:p>
          <a:p>
            <a:r>
              <a:rPr lang="en-US" sz="800" dirty="0"/>
              <a:t>Horizon</a:t>
            </a:r>
          </a:p>
          <a:p>
            <a:r>
              <a:rPr lang="en-US" sz="800" dirty="0"/>
              <a:t>Glance</a:t>
            </a:r>
          </a:p>
          <a:p>
            <a:r>
              <a:rPr lang="en-US" sz="800" dirty="0" smtClean="0"/>
              <a:t>Nova:</a:t>
            </a:r>
            <a:endParaRPr lang="en-US" sz="800" dirty="0"/>
          </a:p>
          <a:p>
            <a:r>
              <a:rPr lang="en-US" sz="800" dirty="0" smtClean="0">
                <a:solidFill>
                  <a:schemeClr val="accent1">
                    <a:lumMod val="50000"/>
                  </a:schemeClr>
                </a:solidFill>
              </a:rPr>
              <a:t>	nova-</a:t>
            </a:r>
            <a:r>
              <a:rPr lang="en-US" sz="800" dirty="0" err="1" smtClean="0">
                <a:solidFill>
                  <a:schemeClr val="accent1">
                    <a:lumMod val="50000"/>
                  </a:schemeClr>
                </a:solidFill>
              </a:rPr>
              <a:t>api</a:t>
            </a:r>
            <a:endParaRPr lang="en-US" sz="800" dirty="0">
              <a:solidFill>
                <a:schemeClr val="accent1">
                  <a:lumMod val="50000"/>
                </a:schemeClr>
              </a:solidFill>
            </a:endParaRPr>
          </a:p>
          <a:p>
            <a:r>
              <a:rPr lang="en-US" sz="800" dirty="0" smtClean="0">
                <a:solidFill>
                  <a:schemeClr val="accent1">
                    <a:lumMod val="50000"/>
                  </a:schemeClr>
                </a:solidFill>
              </a:rPr>
              <a:t>	nova-scheduler</a:t>
            </a:r>
            <a:endParaRPr lang="en-US" sz="800" dirty="0">
              <a:solidFill>
                <a:schemeClr val="accent1">
                  <a:lumMod val="50000"/>
                </a:schemeClr>
              </a:solidFill>
            </a:endParaRPr>
          </a:p>
          <a:p>
            <a:r>
              <a:rPr lang="en-US" sz="800" dirty="0" smtClean="0">
                <a:solidFill>
                  <a:schemeClr val="accent1">
                    <a:lumMod val="50000"/>
                  </a:schemeClr>
                </a:solidFill>
              </a:rPr>
              <a:t>	nova-</a:t>
            </a:r>
            <a:r>
              <a:rPr lang="en-US" sz="800" dirty="0" err="1" smtClean="0">
                <a:solidFill>
                  <a:schemeClr val="accent1">
                    <a:lumMod val="50000"/>
                  </a:schemeClr>
                </a:solidFill>
              </a:rPr>
              <a:t>consoleauth</a:t>
            </a:r>
            <a:endParaRPr lang="en-US" sz="800" dirty="0">
              <a:solidFill>
                <a:schemeClr val="accent1">
                  <a:lumMod val="50000"/>
                </a:schemeClr>
              </a:solidFill>
            </a:endParaRPr>
          </a:p>
          <a:p>
            <a:r>
              <a:rPr lang="en-US" sz="800" dirty="0" smtClean="0">
                <a:solidFill>
                  <a:schemeClr val="accent1">
                    <a:lumMod val="50000"/>
                  </a:schemeClr>
                </a:solidFill>
              </a:rPr>
              <a:t>	nova-cert</a:t>
            </a:r>
            <a:endParaRPr lang="en-US" sz="800" dirty="0">
              <a:solidFill>
                <a:schemeClr val="accent1">
                  <a:lumMod val="50000"/>
                </a:schemeClr>
              </a:solidFill>
            </a:endParaRPr>
          </a:p>
          <a:p>
            <a:r>
              <a:rPr lang="en-US" sz="800" dirty="0" smtClean="0">
                <a:solidFill>
                  <a:schemeClr val="accent1">
                    <a:lumMod val="50000"/>
                  </a:schemeClr>
                </a:solidFill>
              </a:rPr>
              <a:t>	nova-</a:t>
            </a:r>
            <a:r>
              <a:rPr lang="en-US" sz="800" dirty="0" err="1" smtClean="0">
                <a:solidFill>
                  <a:schemeClr val="accent1">
                    <a:lumMod val="50000"/>
                  </a:schemeClr>
                </a:solidFill>
              </a:rPr>
              <a:t>novncproxy</a:t>
            </a:r>
            <a:endParaRPr lang="en-US" sz="800" dirty="0">
              <a:solidFill>
                <a:schemeClr val="accent1">
                  <a:lumMod val="50000"/>
                </a:schemeClr>
              </a:solidFill>
            </a:endParaRPr>
          </a:p>
          <a:p>
            <a:r>
              <a:rPr lang="en-US" sz="800" dirty="0" smtClean="0">
                <a:solidFill>
                  <a:schemeClr val="accent1">
                    <a:lumMod val="50000"/>
                  </a:schemeClr>
                </a:solidFill>
              </a:rPr>
              <a:t>	python-</a:t>
            </a:r>
            <a:r>
              <a:rPr lang="en-US" sz="800" dirty="0" err="1" smtClean="0">
                <a:solidFill>
                  <a:schemeClr val="accent1">
                    <a:lumMod val="50000"/>
                  </a:schemeClr>
                </a:solidFill>
              </a:rPr>
              <a:t>novaclient</a:t>
            </a:r>
            <a:endParaRPr lang="en-US" sz="800" dirty="0">
              <a:solidFill>
                <a:schemeClr val="accent1">
                  <a:lumMod val="50000"/>
                </a:schemeClr>
              </a:solidFill>
            </a:endParaRPr>
          </a:p>
          <a:p>
            <a:r>
              <a:rPr lang="en-US" sz="800" dirty="0" smtClean="0"/>
              <a:t>Neutron:</a:t>
            </a:r>
            <a:endParaRPr lang="en-US" sz="800" dirty="0"/>
          </a:p>
          <a:p>
            <a:r>
              <a:rPr lang="en-US" sz="800" dirty="0" smtClean="0"/>
              <a:t>	</a:t>
            </a:r>
            <a:r>
              <a:rPr lang="en-US" sz="800" dirty="0" smtClean="0">
                <a:solidFill>
                  <a:schemeClr val="accent1">
                    <a:lumMod val="50000"/>
                  </a:schemeClr>
                </a:solidFill>
              </a:rPr>
              <a:t>neutron-server</a:t>
            </a:r>
            <a:endParaRPr lang="en-US" sz="800" dirty="0">
              <a:solidFill>
                <a:schemeClr val="accent1">
                  <a:lumMod val="50000"/>
                </a:schemeClr>
              </a:solidFill>
            </a:endParaRPr>
          </a:p>
          <a:p>
            <a:r>
              <a:rPr lang="en-US" sz="800" dirty="0"/>
              <a:t>Cinder</a:t>
            </a:r>
          </a:p>
          <a:p>
            <a:r>
              <a:rPr lang="en-US" sz="800" b="1" i="1" u="sng" dirty="0" err="1"/>
              <a:t>Openstack</a:t>
            </a:r>
            <a:r>
              <a:rPr lang="en-US" sz="800" b="1" i="1" u="sng" dirty="0"/>
              <a:t> services installed on Network node</a:t>
            </a:r>
            <a:r>
              <a:rPr lang="en-US" sz="800" dirty="0"/>
              <a:t>:</a:t>
            </a:r>
          </a:p>
          <a:p>
            <a:endParaRPr lang="en-US" sz="800" dirty="0"/>
          </a:p>
          <a:p>
            <a:r>
              <a:rPr lang="en-US" sz="800" dirty="0" smtClean="0"/>
              <a:t>Neutron:</a:t>
            </a:r>
            <a:endParaRPr lang="en-US" sz="800" dirty="0">
              <a:solidFill>
                <a:schemeClr val="accent1">
                  <a:lumMod val="50000"/>
                </a:schemeClr>
              </a:solidFill>
            </a:endParaRPr>
          </a:p>
          <a:p>
            <a:r>
              <a:rPr lang="en-US" sz="800" dirty="0" smtClean="0">
                <a:solidFill>
                  <a:schemeClr val="accent1">
                    <a:lumMod val="50000"/>
                  </a:schemeClr>
                </a:solidFill>
              </a:rPr>
              <a:t>	neutron-plugin-</a:t>
            </a:r>
            <a:r>
              <a:rPr lang="en-US" sz="800" dirty="0" err="1" smtClean="0">
                <a:solidFill>
                  <a:schemeClr val="accent1">
                    <a:lumMod val="50000"/>
                  </a:schemeClr>
                </a:solidFill>
              </a:rPr>
              <a:t>openvswitch</a:t>
            </a:r>
            <a:r>
              <a:rPr lang="en-US" sz="800" dirty="0" smtClean="0">
                <a:solidFill>
                  <a:schemeClr val="accent1">
                    <a:lumMod val="50000"/>
                  </a:schemeClr>
                </a:solidFill>
              </a:rPr>
              <a:t>-agent</a:t>
            </a:r>
            <a:endParaRPr lang="en-US" sz="800" dirty="0">
              <a:solidFill>
                <a:schemeClr val="accent1">
                  <a:lumMod val="50000"/>
                </a:schemeClr>
              </a:solidFill>
            </a:endParaRPr>
          </a:p>
          <a:p>
            <a:r>
              <a:rPr lang="en-US" sz="800" dirty="0" smtClean="0">
                <a:solidFill>
                  <a:schemeClr val="accent1">
                    <a:lumMod val="50000"/>
                  </a:schemeClr>
                </a:solidFill>
              </a:rPr>
              <a:t>	neutron-l3-agent</a:t>
            </a:r>
            <a:endParaRPr lang="en-US" sz="800" dirty="0">
              <a:solidFill>
                <a:schemeClr val="accent1">
                  <a:lumMod val="50000"/>
                </a:schemeClr>
              </a:solidFill>
            </a:endParaRPr>
          </a:p>
          <a:p>
            <a:r>
              <a:rPr lang="en-US" sz="800" dirty="0" smtClean="0">
                <a:solidFill>
                  <a:schemeClr val="accent1">
                    <a:lumMod val="50000"/>
                  </a:schemeClr>
                </a:solidFill>
              </a:rPr>
              <a:t>	neutron-</a:t>
            </a:r>
            <a:r>
              <a:rPr lang="en-US" sz="800" dirty="0" err="1" smtClean="0">
                <a:solidFill>
                  <a:schemeClr val="accent1">
                    <a:lumMod val="50000"/>
                  </a:schemeClr>
                </a:solidFill>
              </a:rPr>
              <a:t>dhcp</a:t>
            </a:r>
            <a:r>
              <a:rPr lang="en-US" sz="800" dirty="0" smtClean="0">
                <a:solidFill>
                  <a:schemeClr val="accent1">
                    <a:lumMod val="50000"/>
                  </a:schemeClr>
                </a:solidFill>
              </a:rPr>
              <a:t>-agent</a:t>
            </a:r>
            <a:endParaRPr lang="en-US" sz="800" dirty="0">
              <a:solidFill>
                <a:schemeClr val="accent1">
                  <a:lumMod val="50000"/>
                </a:schemeClr>
              </a:solidFill>
            </a:endParaRPr>
          </a:p>
          <a:p>
            <a:r>
              <a:rPr lang="en-US" sz="800" b="1" i="1" u="sng" dirty="0" smtClean="0">
                <a:solidFill>
                  <a:schemeClr val="accent1">
                    <a:lumMod val="50000"/>
                  </a:schemeClr>
                </a:solidFill>
              </a:rPr>
              <a:t>	neutron-metadata-agent</a:t>
            </a:r>
            <a:endParaRPr lang="en-US" sz="800" b="1" i="1" u="sng" dirty="0">
              <a:solidFill>
                <a:schemeClr val="accent1">
                  <a:lumMod val="50000"/>
                </a:schemeClr>
              </a:solidFill>
            </a:endParaRPr>
          </a:p>
          <a:p>
            <a:r>
              <a:rPr lang="en-US" sz="800" b="1" i="1" u="sng" dirty="0" err="1"/>
              <a:t>Openstack</a:t>
            </a:r>
            <a:r>
              <a:rPr lang="en-US" sz="800" b="1" i="1" u="sng" dirty="0"/>
              <a:t> Services installed on Compute node:</a:t>
            </a:r>
          </a:p>
          <a:p>
            <a:endParaRPr lang="en-US" sz="800" dirty="0"/>
          </a:p>
          <a:p>
            <a:r>
              <a:rPr lang="en-US" sz="800" dirty="0"/>
              <a:t>Nova</a:t>
            </a:r>
          </a:p>
          <a:p>
            <a:r>
              <a:rPr lang="en-US" sz="800" dirty="0" smtClean="0"/>
              <a:t>	nova-compute</a:t>
            </a:r>
            <a:endParaRPr lang="en-US" sz="800" dirty="0"/>
          </a:p>
          <a:p>
            <a:r>
              <a:rPr lang="en-US" sz="800" dirty="0"/>
              <a:t>Neutron</a:t>
            </a:r>
          </a:p>
          <a:p>
            <a:r>
              <a:rPr lang="en-US" sz="800" dirty="0" smtClean="0"/>
              <a:t>	neutron-plugin-</a:t>
            </a:r>
            <a:r>
              <a:rPr lang="en-US" sz="800" dirty="0" err="1" smtClean="0"/>
              <a:t>openvswitch</a:t>
            </a:r>
            <a:r>
              <a:rPr lang="en-US" sz="800" dirty="0" smtClean="0"/>
              <a:t>-agent</a:t>
            </a:r>
            <a:endParaRPr lang="en-US" sz="800" dirty="0"/>
          </a:p>
          <a:p>
            <a:endParaRPr lang="en-US" sz="800" dirty="0" smtClean="0"/>
          </a:p>
          <a:p>
            <a:r>
              <a:rPr lang="en-US" sz="800" b="1" i="1" u="sng" dirty="0" smtClean="0"/>
              <a:t>How </a:t>
            </a:r>
            <a:r>
              <a:rPr lang="en-US" sz="800" b="1" i="1" u="sng" dirty="0"/>
              <a:t>to access the services</a:t>
            </a:r>
          </a:p>
          <a:p>
            <a:r>
              <a:rPr lang="en-US" sz="800" dirty="0"/>
              <a:t>There are two ways to access the services:</a:t>
            </a:r>
          </a:p>
          <a:p>
            <a:endParaRPr lang="en-US" sz="800" dirty="0"/>
          </a:p>
          <a:p>
            <a:r>
              <a:rPr lang="en-US" sz="800" dirty="0"/>
              <a:t>OpenStack Dashboard (horizon)</a:t>
            </a:r>
          </a:p>
          <a:p>
            <a:r>
              <a:rPr lang="en-US" sz="800" dirty="0"/>
              <a:t>You can access the dashboard at: http://192.168.100.51/horizon</a:t>
            </a:r>
          </a:p>
          <a:p>
            <a:endParaRPr lang="en-US" sz="800" dirty="0"/>
          </a:p>
          <a:p>
            <a:r>
              <a:rPr lang="en-US" sz="800" dirty="0"/>
              <a:t>Admin Login:</a:t>
            </a:r>
          </a:p>
          <a:p>
            <a:endParaRPr lang="en-US" sz="800" dirty="0"/>
          </a:p>
          <a:p>
            <a:r>
              <a:rPr lang="en-US" sz="800" dirty="0"/>
              <a:t>Username: admin</a:t>
            </a:r>
          </a:p>
          <a:p>
            <a:r>
              <a:rPr lang="en-US" sz="800" dirty="0"/>
              <a:t>Password: </a:t>
            </a:r>
            <a:r>
              <a:rPr lang="en-US" sz="800" dirty="0" err="1"/>
              <a:t>admin_pass</a:t>
            </a:r>
            <a:endParaRPr lang="en-US" sz="800" dirty="0"/>
          </a:p>
        </p:txBody>
      </p:sp>
      <p:pic>
        <p:nvPicPr>
          <p:cNvPr id="6" name="Picture 5"/>
          <p:cNvPicPr>
            <a:picLocks noChangeAspect="1"/>
          </p:cNvPicPr>
          <p:nvPr/>
        </p:nvPicPr>
        <p:blipFill>
          <a:blip r:embed="rId4"/>
          <a:stretch>
            <a:fillRect/>
          </a:stretch>
        </p:blipFill>
        <p:spPr>
          <a:xfrm>
            <a:off x="2139436" y="915250"/>
            <a:ext cx="1640943" cy="1684648"/>
          </a:xfrm>
          <a:prstGeom prst="rect">
            <a:avLst/>
          </a:prstGeom>
        </p:spPr>
      </p:pic>
      <p:pic>
        <p:nvPicPr>
          <p:cNvPr id="7" name="Picture 6"/>
          <p:cNvPicPr>
            <a:picLocks noChangeAspect="1"/>
          </p:cNvPicPr>
          <p:nvPr/>
        </p:nvPicPr>
        <p:blipFill>
          <a:blip r:embed="rId5"/>
          <a:stretch>
            <a:fillRect/>
          </a:stretch>
        </p:blipFill>
        <p:spPr>
          <a:xfrm>
            <a:off x="3780379" y="915251"/>
            <a:ext cx="3125347" cy="1684648"/>
          </a:xfrm>
          <a:prstGeom prst="rect">
            <a:avLst/>
          </a:prstGeom>
        </p:spPr>
      </p:pic>
    </p:spTree>
    <p:extLst>
      <p:ext uri="{BB962C8B-B14F-4D97-AF65-F5344CB8AC3E}">
        <p14:creationId xmlns:p14="http://schemas.microsoft.com/office/powerpoint/2010/main" val="16255937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900" y="466795"/>
            <a:ext cx="6553200" cy="4247317"/>
          </a:xfrm>
          <a:prstGeom prst="rect">
            <a:avLst/>
          </a:prstGeom>
        </p:spPr>
        <p:txBody>
          <a:bodyPr wrap="square">
            <a:spAutoFit/>
          </a:bodyPr>
          <a:lstStyle/>
          <a:p>
            <a:r>
              <a:rPr lang="en-US" dirty="0"/>
              <a:t>Lab1 - set up the playground and install basic infrastructure services</a:t>
            </a:r>
          </a:p>
          <a:p>
            <a:r>
              <a:rPr lang="en-US" dirty="0"/>
              <a:t>Lab2 - Install Keystone</a:t>
            </a:r>
          </a:p>
          <a:p>
            <a:r>
              <a:rPr lang="en-US" dirty="0"/>
              <a:t>Lab3 - Install Glance and Placement</a:t>
            </a:r>
          </a:p>
          <a:p>
            <a:r>
              <a:rPr lang="en-US" dirty="0"/>
              <a:t>Lab4 - Install Nova</a:t>
            </a:r>
          </a:p>
          <a:p>
            <a:r>
              <a:rPr lang="en-US" dirty="0"/>
              <a:t>Lab5 - Install Neutron in a very basic setup (one flat network only)</a:t>
            </a:r>
          </a:p>
          <a:p>
            <a:r>
              <a:rPr lang="en-US" dirty="0"/>
              <a:t>Lab6 - Add the Horizon GUI</a:t>
            </a:r>
          </a:p>
          <a:p>
            <a:r>
              <a:rPr lang="en-US" dirty="0"/>
              <a:t>Lab7 - Add a VLAN network as a provider network</a:t>
            </a:r>
          </a:p>
          <a:p>
            <a:r>
              <a:rPr lang="en-US" dirty="0"/>
              <a:t>Lab8 - Install a virtual router using the Neutron L3 agent</a:t>
            </a:r>
          </a:p>
          <a:p>
            <a:r>
              <a:rPr lang="en-US" dirty="0"/>
              <a:t>Lab9 - Allow a tenant to provision VXLAN networks</a:t>
            </a:r>
          </a:p>
          <a:p>
            <a:r>
              <a:rPr lang="en-US" dirty="0"/>
              <a:t>Lab10 - Introduce a separate network node on which the Neutron agents run</a:t>
            </a:r>
          </a:p>
          <a:p>
            <a:r>
              <a:rPr lang="en-US" dirty="0"/>
              <a:t>Lab11 - Play with iSCSI</a:t>
            </a:r>
          </a:p>
          <a:p>
            <a:r>
              <a:rPr lang="en-US" dirty="0"/>
              <a:t>Lab12 - LVM playground</a:t>
            </a:r>
          </a:p>
          <a:p>
            <a:r>
              <a:rPr lang="en-US" dirty="0"/>
              <a:t>Lab13 - Install Cinder</a:t>
            </a:r>
          </a:p>
          <a:p>
            <a:r>
              <a:rPr lang="en-US" dirty="0"/>
              <a:t>Lab14 - Octavia as stand-alone </a:t>
            </a:r>
            <a:r>
              <a:rPr lang="en-US" dirty="0" err="1"/>
              <a:t>loadbalancer</a:t>
            </a:r>
            <a:endParaRPr lang="en-US" dirty="0"/>
          </a:p>
        </p:txBody>
      </p:sp>
    </p:spTree>
    <p:extLst>
      <p:ext uri="{BB962C8B-B14F-4D97-AF65-F5344CB8AC3E}">
        <p14:creationId xmlns:p14="http://schemas.microsoft.com/office/powerpoint/2010/main" val="16250527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0"/>
        <p:cNvGrpSpPr/>
        <p:nvPr/>
      </p:nvGrpSpPr>
      <p:grpSpPr>
        <a:xfrm>
          <a:off x="0" y="0"/>
          <a:ext cx="0" cy="0"/>
          <a:chOff x="0" y="0"/>
          <a:chExt cx="0" cy="0"/>
        </a:xfrm>
      </p:grpSpPr>
      <p:sp>
        <p:nvSpPr>
          <p:cNvPr id="3" name="Shape 256"/>
          <p:cNvSpPr txBox="1">
            <a:spLocks/>
          </p:cNvSpPr>
          <p:nvPr/>
        </p:nvSpPr>
        <p:spPr>
          <a:xfrm>
            <a:off x="318053" y="106276"/>
            <a:ext cx="7643191" cy="967150"/>
          </a:xfrm>
          <a:prstGeom prst="rect">
            <a:avLst/>
          </a:prstGeom>
          <a:noFill/>
          <a:ln>
            <a:noFill/>
          </a:ln>
        </p:spPr>
        <p:txBody>
          <a:bodyPr vert="horz" lIns="91425" tIns="91425" rIns="91425" bIns="91425" rtlCol="0" anchor="b" anchorCtr="0">
            <a:noAutofit/>
          </a:bodyPr>
          <a:lstStyle>
            <a:lvl1pPr marL="0" marR="0" lvl="0" indent="0" algn="l" defTabSz="685800" rtl="0" eaLnBrk="1" latinLnBrk="0" hangingPunct="1">
              <a:lnSpc>
                <a:spcPct val="100000"/>
              </a:lnSpc>
              <a:spcBef>
                <a:spcPts val="0"/>
              </a:spcBef>
              <a:buClr>
                <a:srgbClr val="545454"/>
              </a:buClr>
              <a:buFont typeface="Roboto"/>
              <a:buNone/>
              <a:defRPr sz="2800" b="0" i="0" u="none" strike="noStrike" kern="1200" cap="none">
                <a:solidFill>
                  <a:srgbClr val="545454"/>
                </a:solidFill>
                <a:latin typeface="Roboto"/>
                <a:ea typeface="Roboto"/>
                <a:cs typeface="Roboto"/>
                <a:sym typeface="Roboto"/>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r>
              <a:rPr lang="en" dirty="0" smtClean="0"/>
              <a:t>HW 3 # </a:t>
            </a:r>
          </a:p>
          <a:p>
            <a:r>
              <a:rPr lang="en" dirty="0" smtClean="0"/>
              <a:t>Dari ketiga Infrastructure Cloud Computing</a:t>
            </a:r>
            <a:endParaRPr lang="en" dirty="0"/>
          </a:p>
        </p:txBody>
      </p:sp>
      <p:sp>
        <p:nvSpPr>
          <p:cNvPr id="4" name="Shape 256"/>
          <p:cNvSpPr txBox="1">
            <a:spLocks/>
          </p:cNvSpPr>
          <p:nvPr/>
        </p:nvSpPr>
        <p:spPr>
          <a:xfrm>
            <a:off x="318052" y="1901945"/>
            <a:ext cx="7643191" cy="967150"/>
          </a:xfrm>
          <a:prstGeom prst="rect">
            <a:avLst/>
          </a:prstGeom>
          <a:noFill/>
          <a:ln>
            <a:noFill/>
          </a:ln>
        </p:spPr>
        <p:txBody>
          <a:bodyPr vert="horz" lIns="91425" tIns="91425" rIns="91425" bIns="91425" rtlCol="0" anchor="b" anchorCtr="0">
            <a:noAutofit/>
          </a:bodyPr>
          <a:lstStyle>
            <a:lvl1pPr marL="0" marR="0" lvl="0" indent="0" algn="l" defTabSz="685800" rtl="0" eaLnBrk="1" latinLnBrk="0" hangingPunct="1">
              <a:lnSpc>
                <a:spcPct val="100000"/>
              </a:lnSpc>
              <a:spcBef>
                <a:spcPts val="0"/>
              </a:spcBef>
              <a:buClr>
                <a:srgbClr val="545454"/>
              </a:buClr>
              <a:buFont typeface="Roboto"/>
              <a:buNone/>
              <a:defRPr sz="2800" b="0" i="0" u="none" strike="noStrike" kern="1200" cap="none">
                <a:solidFill>
                  <a:srgbClr val="545454"/>
                </a:solidFill>
                <a:latin typeface="Roboto"/>
                <a:ea typeface="Roboto"/>
                <a:cs typeface="Roboto"/>
                <a:sym typeface="Roboto"/>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pPr marL="469900" lvl="0" indent="-342900">
              <a:buSzPct val="100000"/>
              <a:buAutoNum type="arabicPeriod"/>
            </a:pPr>
            <a:r>
              <a:rPr lang="en" sz="1800" dirty="0" smtClean="0"/>
              <a:t>Buatkan Arsitektur tersebut terdiri Dari (C</a:t>
            </a:r>
            <a:r>
              <a:rPr lang="en" sz="1800" dirty="0" smtClean="0">
                <a:solidFill>
                  <a:schemeClr val="tx2">
                    <a:lumMod val="75000"/>
                  </a:schemeClr>
                </a:solidFill>
              </a:rPr>
              <a:t>omputing, Networking, Storage, Development)</a:t>
            </a:r>
          </a:p>
          <a:p>
            <a:pPr marL="469900" lvl="0" indent="-342900">
              <a:buSzPct val="100000"/>
              <a:buAutoNum type="arabicPeriod"/>
            </a:pPr>
            <a:r>
              <a:rPr lang="en" sz="1800" dirty="0" smtClean="0">
                <a:solidFill>
                  <a:schemeClr val="tx2">
                    <a:lumMod val="75000"/>
                  </a:schemeClr>
                </a:solidFill>
              </a:rPr>
              <a:t>Uraikan </a:t>
            </a:r>
            <a:endParaRPr lang="en" sz="1800" dirty="0">
              <a:solidFill>
                <a:schemeClr val="tx2">
                  <a:lumMod val="75000"/>
                </a:schemeClr>
              </a:solidFill>
            </a:endParaRPr>
          </a:p>
          <a:p>
            <a:r>
              <a:rPr lang="en" sz="1800" dirty="0" smtClean="0"/>
              <a:t> </a:t>
            </a:r>
            <a:endParaRPr lang="en"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Shape 1095"/>
          <p:cNvSpPr txBox="1">
            <a:spLocks noGrp="1"/>
          </p:cNvSpPr>
          <p:nvPr>
            <p:ph type="ctrTitle"/>
          </p:nvPr>
        </p:nvSpPr>
        <p:spPr>
          <a:prstGeom prst="rect">
            <a:avLst/>
          </a:prstGeom>
          <a:noFill/>
          <a:ln>
            <a:noFill/>
          </a:ln>
        </p:spPr>
        <p:txBody>
          <a:bodyPr lIns="91425" tIns="91425" rIns="91425" bIns="91425" anchor="b" anchorCtr="0">
            <a:noAutofit/>
          </a:bodyPr>
          <a:lstStyle/>
          <a:p>
            <a:pPr lvl="0" rtl="0">
              <a:spcBef>
                <a:spcPts val="0"/>
              </a:spcBef>
              <a:buClr>
                <a:srgbClr val="000000"/>
              </a:buClr>
              <a:buSzPct val="32352"/>
              <a:buFont typeface="Arial"/>
              <a:buNone/>
            </a:pPr>
            <a:r>
              <a:rPr lang="en">
                <a:solidFill>
                  <a:srgbClr val="FFFFFF"/>
                </a:solidFill>
              </a:rPr>
              <a:t>Signing Up</a:t>
            </a:r>
          </a:p>
        </p:txBody>
      </p:sp>
      <p:sp>
        <p:nvSpPr>
          <p:cNvPr id="1096" name="Shape 1096"/>
          <p:cNvSpPr txBox="1">
            <a:spLocks noGrp="1"/>
          </p:cNvSpPr>
          <p:nvPr>
            <p:ph type="subTitle" idx="1"/>
          </p:nvPr>
        </p:nvSpPr>
        <p:spPr>
          <a:prstGeom prst="rect">
            <a:avLst/>
          </a:prstGeom>
        </p:spPr>
        <p:txBody>
          <a:bodyPr lIns="91425" tIns="91425" rIns="91425" bIns="91425" anchor="t" anchorCtr="0">
            <a:noAutofit/>
          </a:bodyPr>
          <a:lstStyle/>
          <a:p>
            <a:pPr lvl="0" rtl="0">
              <a:spcBef>
                <a:spcPts val="0"/>
              </a:spcBef>
              <a:buNone/>
            </a:pPr>
            <a:r>
              <a:rPr lang="en"/>
              <a:t>Getting started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0"/>
        <p:cNvGrpSpPr/>
        <p:nvPr/>
      </p:nvGrpSpPr>
      <p:grpSpPr>
        <a:xfrm>
          <a:off x="0" y="0"/>
          <a:ext cx="0" cy="0"/>
          <a:chOff x="0" y="0"/>
          <a:chExt cx="0" cy="0"/>
        </a:xfrm>
      </p:grpSpPr>
      <p:sp>
        <p:nvSpPr>
          <p:cNvPr id="1101" name="Shape 1101"/>
          <p:cNvSpPr txBox="1">
            <a:spLocks noGrp="1"/>
          </p:cNvSpPr>
          <p:nvPr>
            <p:ph type="title"/>
          </p:nvPr>
        </p:nvSpPr>
        <p:spPr>
          <a:prstGeom prst="rect">
            <a:avLst/>
          </a:prstGeom>
        </p:spPr>
        <p:txBody>
          <a:bodyPr lIns="91425" tIns="91425" rIns="91425" bIns="91425" anchor="t" anchorCtr="0">
            <a:noAutofit/>
          </a:bodyPr>
          <a:lstStyle/>
          <a:p>
            <a:pPr lvl="0" rtl="0">
              <a:spcBef>
                <a:spcPts val="0"/>
              </a:spcBef>
              <a:buClr>
                <a:schemeClr val="dk1"/>
              </a:buClr>
              <a:buSzPct val="39285"/>
              <a:buFont typeface="Arial"/>
              <a:buNone/>
            </a:pPr>
            <a:r>
              <a:rPr lang="en">
                <a:solidFill>
                  <a:schemeClr val="hlink"/>
                </a:solidFill>
              </a:rPr>
              <a:t>Getting Started</a:t>
            </a:r>
          </a:p>
        </p:txBody>
      </p:sp>
      <p:sp>
        <p:nvSpPr>
          <p:cNvPr id="1102" name="Shape 1102"/>
          <p:cNvSpPr txBox="1">
            <a:spLocks noGrp="1"/>
          </p:cNvSpPr>
          <p:nvPr>
            <p:ph type="body" idx="1"/>
          </p:nvPr>
        </p:nvSpPr>
        <p:spPr>
          <a:xfrm>
            <a:off x="238664" y="1348577"/>
            <a:ext cx="7963200" cy="2913000"/>
          </a:xfrm>
          <a:prstGeom prst="rect">
            <a:avLst/>
          </a:prstGeom>
        </p:spPr>
        <p:txBody>
          <a:bodyPr lIns="91425" tIns="91425" rIns="91425" bIns="91425" anchor="t" anchorCtr="0">
            <a:noAutofit/>
          </a:bodyPr>
          <a:lstStyle/>
          <a:p>
            <a:pPr marL="457200" lvl="0" indent="-330200" rtl="0">
              <a:spcBef>
                <a:spcPts val="0"/>
              </a:spcBef>
              <a:buSzPct val="100000"/>
            </a:pPr>
            <a:r>
              <a:rPr lang="en" sz="1600"/>
              <a:t>Signing Up</a:t>
            </a:r>
          </a:p>
          <a:p>
            <a:pPr marR="0" lvl="0" algn="l" rtl="0">
              <a:lnSpc>
                <a:spcPct val="115000"/>
              </a:lnSpc>
              <a:spcBef>
                <a:spcPts val="0"/>
              </a:spcBef>
              <a:spcAft>
                <a:spcPts val="0"/>
              </a:spcAft>
              <a:buNone/>
            </a:pPr>
            <a:endParaRPr sz="1600"/>
          </a:p>
          <a:p>
            <a:pPr lvl="0" rtl="0">
              <a:spcBef>
                <a:spcPts val="0"/>
              </a:spcBef>
              <a:buNone/>
            </a:pPr>
            <a:endParaRPr sz="16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Shape 1107"/>
          <p:cNvSpPr txBox="1">
            <a:spLocks noGrp="1"/>
          </p:cNvSpPr>
          <p:nvPr>
            <p:ph type="ctrTitle"/>
          </p:nvPr>
        </p:nvSpPr>
        <p:spPr>
          <a:prstGeom prst="rect">
            <a:avLst/>
          </a:prstGeom>
        </p:spPr>
        <p:txBody>
          <a:bodyPr lIns="91425" tIns="91425" rIns="91425" bIns="91425" anchor="b" anchorCtr="0">
            <a:noAutofit/>
          </a:bodyPr>
          <a:lstStyle/>
          <a:p>
            <a:pPr lvl="0" rtl="0">
              <a:spcBef>
                <a:spcPts val="0"/>
              </a:spcBef>
              <a:buNone/>
            </a:pPr>
            <a:r>
              <a:rPr lang="en"/>
              <a:t>Sign up demo</a:t>
            </a:r>
          </a:p>
        </p:txBody>
      </p:sp>
      <p:sp>
        <p:nvSpPr>
          <p:cNvPr id="1108" name="Shape 1108"/>
          <p:cNvSpPr txBox="1">
            <a:spLocks noGrp="1"/>
          </p:cNvSpPr>
          <p:nvPr>
            <p:ph type="subTitle" idx="1"/>
          </p:nvPr>
        </p:nvSpPr>
        <p:spPr>
          <a:prstGeom prst="rect">
            <a:avLst/>
          </a:prstGeom>
        </p:spPr>
        <p:txBody>
          <a:bodyPr lIns="91425" tIns="91425" rIns="91425" bIns="91425" anchor="t" anchorCtr="0">
            <a:noAutofit/>
          </a:bodyPr>
          <a:lstStyle/>
          <a:p>
            <a:pPr lvl="0" rtl="0">
              <a:spcBef>
                <a:spcPts val="0"/>
              </a:spcBef>
              <a:buNone/>
            </a:pPr>
            <a:r>
              <a:rPr lang="en"/>
              <a:t>Let’s get an account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References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299229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357</TotalTime>
  <Words>975</Words>
  <Application>Microsoft Office PowerPoint</Application>
  <PresentationFormat>On-screen Show (16:9)</PresentationFormat>
  <Paragraphs>213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Roboto</vt:lpstr>
      <vt:lpstr>Calibri Light</vt:lpstr>
      <vt:lpstr>Roboto Condensed</vt:lpstr>
      <vt:lpstr>Calibri</vt:lpstr>
      <vt:lpstr>Arial</vt:lpstr>
      <vt:lpstr>Office Theme</vt:lpstr>
      <vt:lpstr>Infrastructure Cloud Computing</vt:lpstr>
      <vt:lpstr>GCP</vt:lpstr>
      <vt:lpstr>AWS</vt:lpstr>
      <vt:lpstr>Openstack</vt:lpstr>
      <vt:lpstr>PowerPoint Presentation</vt:lpstr>
      <vt:lpstr>PowerPoint Presentation</vt:lpstr>
      <vt:lpstr>Signing Up</vt:lpstr>
      <vt:lpstr>Getting Started</vt:lpstr>
      <vt:lpstr>Sign up demo</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Google Cloud Platform</dc:title>
  <dc:creator>it del</dc:creator>
  <cp:lastModifiedBy>PDS</cp:lastModifiedBy>
  <cp:revision>34</cp:revision>
  <dcterms:modified xsi:type="dcterms:W3CDTF">2026-10-05T09:29:59Z</dcterms:modified>
</cp:coreProperties>
</file>