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1"/>
  </p:sldMasterIdLst>
  <p:notesMasterIdLst>
    <p:notesMasterId r:id="rId22"/>
  </p:notesMasterIdLst>
  <p:sldIdLst>
    <p:sldId id="276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</p:sldIdLst>
  <p:sldSz cx="9144000" cy="5143500" type="screen16x9"/>
  <p:notesSz cx="6858000" cy="9144000"/>
  <p:embeddedFontLst>
    <p:embeddedFont>
      <p:font typeface="Trebuchet MS" panose="020B0603020202020204" pitchFamily="34" charset="0"/>
      <p:regular r:id="rId23"/>
      <p:bold r:id="rId24"/>
      <p:italic r:id="rId25"/>
      <p:boldItalic r:id="rId26"/>
    </p:embeddedFont>
    <p:embeddedFont>
      <p:font typeface="Calibri Light" panose="020F0302020204030204" pitchFamily="34" charset="0"/>
      <p:regular r:id="rId27"/>
      <p:italic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맑은 고딕" panose="020B0503020000020004" pitchFamily="34" charset="-127"/>
      <p:regular r:id="rId33"/>
      <p:bold r:id="rId34"/>
    </p:embeddedFont>
    <p:embeddedFont>
      <p:font typeface="Helvetica Neue" panose="020B0604020202020204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02" y="5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97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1b6d606158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1b6d606158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b6d606158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1b6d606158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1b6d606158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1b6d606158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b6d606158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1b6d606158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b6d606158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b6d606158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b6d606158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1b6d606158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b6d606158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1b6d606158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b6d606158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b6d606158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1b6d606158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1b6d606158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1b6d606158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1b6d606158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1b6d606158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1b6d606158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1b6d606158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1b6d606158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1b6d606158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1b6d606158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b6d606158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1b6d606158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1b6d606158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1b6d606158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1b6d606158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1b6d606158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1b6d606158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1b6d606158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46720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784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243955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71048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17928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64794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4804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02217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15735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62738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61448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8387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87F74-A402-4054-88F2-0C6A362BA21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323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elcharolinesgn2/AWS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7" name="Title 1"/>
          <p:cNvSpPr txBox="1">
            <a:spLocks/>
          </p:cNvSpPr>
          <p:nvPr/>
        </p:nvSpPr>
        <p:spPr>
          <a:xfrm>
            <a:off x="2550909" y="2837976"/>
            <a:ext cx="5668299" cy="994172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500" dirty="0">
                <a:solidFill>
                  <a:schemeClr val="accent2">
                    <a:lumMod val="75000"/>
                  </a:schemeClr>
                </a:solidFill>
                <a:latin typeface="Trebuchet MS"/>
                <a:cs typeface="Trebuchet MS"/>
              </a:rPr>
              <a:t>Introduction to Cloud Computing</a:t>
            </a:r>
            <a:endParaRPr lang="en-US" sz="45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3818260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25" y="1751775"/>
            <a:ext cx="74508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Introduction to Cloud Computing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50"/>
            <a:ext cx="5054400" cy="8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Helvetica Neue"/>
                <a:ea typeface="Helvetica Neue"/>
                <a:cs typeface="Helvetica Neue"/>
                <a:sym typeface="Helvetica Neue"/>
              </a:rPr>
              <a:t>Understanding the Foundations of Modern IT Infrastructure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3434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Introduction to Cloud Computing </a:t>
            </a:r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4202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Cloud computing</a:t>
            </a:r>
            <a:r>
              <a:rPr lang="en-GB"/>
              <a:t> is the delivery of </a:t>
            </a:r>
            <a:r>
              <a:rPr lang="en-GB" b="1"/>
              <a:t>on-demand</a:t>
            </a:r>
            <a:r>
              <a:rPr lang="en-GB"/>
              <a:t> computing services—such as </a:t>
            </a:r>
            <a:r>
              <a:rPr lang="en-GB" b="1"/>
              <a:t>servers</a:t>
            </a:r>
            <a:r>
              <a:rPr lang="en-GB"/>
              <a:t>, </a:t>
            </a:r>
            <a:r>
              <a:rPr lang="en-GB" b="1"/>
              <a:t>storage</a:t>
            </a:r>
            <a:r>
              <a:rPr lang="en-GB"/>
              <a:t>, </a:t>
            </a:r>
            <a:r>
              <a:rPr lang="en-GB" b="1"/>
              <a:t>databases</a:t>
            </a:r>
            <a:r>
              <a:rPr lang="en-GB"/>
              <a:t>, </a:t>
            </a:r>
            <a:r>
              <a:rPr lang="en-GB" b="1"/>
              <a:t>networking</a:t>
            </a:r>
            <a:r>
              <a:rPr lang="en-GB"/>
              <a:t> and more—over the internet ('the cloud').</a:t>
            </a:r>
            <a:endParaRPr/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Compare cloud computing to utility services like electricity or water on-demand, scalable, and pay-as-you-go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5000" y="1304825"/>
            <a:ext cx="3936601" cy="27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Server in Server Rack</a:t>
            </a:r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5925" y="1152425"/>
            <a:ext cx="7072152" cy="378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  Evolution of Computing</a:t>
            </a: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61317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Mainframe Era</a:t>
            </a:r>
            <a:r>
              <a:rPr lang="en-GB"/>
              <a:t> (1950s-1970s): Centralized computing, limited to large organizations.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Client-Server Model</a:t>
            </a:r>
            <a:r>
              <a:rPr lang="en-GB"/>
              <a:t> (1980s-1990s): Decentralized computing with personal computers and local servers.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Cloud Era</a:t>
            </a:r>
            <a:r>
              <a:rPr lang="en-GB"/>
              <a:t> (2000s-Present): On-demand, scalable resources available globally, thanks to advances in virtualization, internet speed, and storage.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7375" y="1060475"/>
            <a:ext cx="2949175" cy="335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 Key Characteristics of Cloud Computing</a:t>
            </a:r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On-Demand Self-Service</a:t>
            </a:r>
            <a:r>
              <a:rPr lang="en-GB"/>
              <a:t>: Users can provision resources automatically.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Broad Network Access</a:t>
            </a:r>
            <a:r>
              <a:rPr lang="en-GB"/>
              <a:t>: Available over the network, accessible from various devices.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Resource Pooling</a:t>
            </a:r>
            <a:r>
              <a:rPr lang="en-GB"/>
              <a:t>: Multi-tenant model with dynamic allocation.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Rapid Elasticity</a:t>
            </a:r>
            <a:r>
              <a:rPr lang="en-GB"/>
              <a:t>: Scale up/down based on demand.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Measured Service</a:t>
            </a:r>
            <a:r>
              <a:rPr lang="en-GB"/>
              <a:t>: Pay only for what you use.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On-Demand Self-Service:</a:t>
            </a:r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9377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Users can access computing resources like servers and storage automatically, without human interaction with service providers.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Example</a:t>
            </a:r>
            <a:r>
              <a:rPr lang="en-GB"/>
              <a:t>: Launching a virtual machine (VM) on AWS.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1800" y="1304825"/>
            <a:ext cx="3589800" cy="2770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Broad Network Access</a:t>
            </a:r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5102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Services are accessible over the network via standard devices such as laptops, smartphones, or tablets.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Example</a:t>
            </a:r>
            <a:r>
              <a:rPr lang="en-GB"/>
              <a:t>: Accessing Google Drive from any device.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22" name="Google Shape;122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  <p:pic>
        <p:nvPicPr>
          <p:cNvPr id="121" name="Google Shape;1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1650" y="1304825"/>
            <a:ext cx="3819950" cy="284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Resource Pooling:</a:t>
            </a:r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body" idx="1"/>
          </p:nvPr>
        </p:nvSpPr>
        <p:spPr>
          <a:xfrm>
            <a:off x="311700" y="1246875"/>
            <a:ext cx="48405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Providers pool resources to serve multiple users using a multi-tenant model. Resources are dynamically assigned.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Example: AWS uses data centers globally to serve customers seamlessly.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30" name="Google Shape;130;p2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  <p:pic>
        <p:nvPicPr>
          <p:cNvPr id="129" name="Google Shape;12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4600" y="1304825"/>
            <a:ext cx="3687000" cy="242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Rapid Elasticity:</a:t>
            </a:r>
            <a:endParaRPr/>
          </a:p>
        </p:txBody>
      </p:sp>
      <p:sp>
        <p:nvSpPr>
          <p:cNvPr id="136" name="Google Shape;136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2603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Resources can be scaled up or down automatically or manually.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Example</a:t>
            </a:r>
            <a:r>
              <a:rPr lang="en-GB"/>
              <a:t>: E-commerce platforms scaling up during Eid sales.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38" name="Google Shape;138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  <p:pic>
        <p:nvPicPr>
          <p:cNvPr id="137" name="Google Shape;13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4925" y="798800"/>
            <a:ext cx="4626673" cy="305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Measured Service:</a:t>
            </a:r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2603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 systems automatically control and optimize resource usage, providing a metering capability.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Example</a:t>
            </a:r>
            <a:r>
              <a:rPr lang="en-GB"/>
              <a:t>: AWS bills based on the number of compute hours or storage used.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  <p:pic>
        <p:nvPicPr>
          <p:cNvPr id="145" name="Google Shape;1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3450" y="809125"/>
            <a:ext cx="3572559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4. Cloud Service Models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body" idx="1"/>
          </p:nvPr>
        </p:nvSpPr>
        <p:spPr>
          <a:xfrm>
            <a:off x="263100" y="1276050"/>
            <a:ext cx="8520600" cy="34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 b="1"/>
              <a:t>IaaS (Infrastructure as a Service)</a:t>
            </a:r>
            <a:r>
              <a:rPr lang="en-GB" sz="1400"/>
              <a:t>:</a:t>
            </a:r>
            <a:endParaRPr sz="140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 b="1"/>
              <a:t>Example</a:t>
            </a:r>
            <a:r>
              <a:rPr lang="en-GB" sz="1400"/>
              <a:t>: AWS EC2, Google Compute Engine</a:t>
            </a:r>
            <a:endParaRPr sz="140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/>
              <a:t>Provides virtualized computing resources (VMs, storage, etc.)</a:t>
            </a:r>
            <a:endParaRPr sz="1400"/>
          </a:p>
          <a:p>
            <a:pPr marL="457200" lvl="0" indent="-31750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400" b="1"/>
              <a:t>PaaS (Platform as a Service)</a:t>
            </a:r>
            <a:r>
              <a:rPr lang="en-GB" sz="1400"/>
              <a:t>:</a:t>
            </a:r>
            <a:endParaRPr sz="140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 b="1"/>
              <a:t>Example</a:t>
            </a:r>
            <a:r>
              <a:rPr lang="en-GB" sz="1400"/>
              <a:t>: AWS Elastic Beanstalk, Google App Engine</a:t>
            </a:r>
            <a:endParaRPr sz="140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/>
              <a:t>Provides a platform for developing, testing, and deploying applications.</a:t>
            </a:r>
            <a:endParaRPr sz="1400"/>
          </a:p>
          <a:p>
            <a:pPr marL="457200" lvl="0" indent="-31750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400" b="1"/>
              <a:t>SaaS (Software as a Service)</a:t>
            </a:r>
            <a:r>
              <a:rPr lang="en-GB" sz="1400"/>
              <a:t>:</a:t>
            </a:r>
            <a:endParaRPr sz="140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 b="1"/>
              <a:t>Example</a:t>
            </a:r>
            <a:r>
              <a:rPr lang="en-GB" sz="1400"/>
              <a:t>: Gmail, Dropbox, Salesforce</a:t>
            </a:r>
            <a:endParaRPr sz="140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00"/>
              <a:t>Users access software over the internet without managing infrastructure.</a:t>
            </a:r>
            <a:endParaRPr sz="140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sz="1400"/>
          </a:p>
        </p:txBody>
      </p:sp>
      <p:sp>
        <p:nvSpPr>
          <p:cNvPr id="153" name="Google Shape;153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>
            <a:spLocks noGrp="1"/>
          </p:cNvSpPr>
          <p:nvPr>
            <p:ph type="title"/>
          </p:nvPr>
        </p:nvSpPr>
        <p:spPr>
          <a:xfrm>
            <a:off x="311700" y="98225"/>
            <a:ext cx="8520600" cy="6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Responsibility Sharing </a:t>
            </a:r>
            <a:endParaRPr/>
          </a:p>
        </p:txBody>
      </p:sp>
      <p:sp>
        <p:nvSpPr>
          <p:cNvPr id="159" name="Google Shape;159;p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  <p:pic>
        <p:nvPicPr>
          <p:cNvPr id="160" name="Google Shape;1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65425"/>
            <a:ext cx="8465824" cy="437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69" name="Google Shape;169;p2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  <p:pic>
        <p:nvPicPr>
          <p:cNvPr id="168" name="Google Shape;16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875" y="445025"/>
            <a:ext cx="8488248" cy="469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5. Cloud Deployment Models</a:t>
            </a:r>
            <a:endParaRPr/>
          </a:p>
        </p:txBody>
      </p:sp>
      <p:sp>
        <p:nvSpPr>
          <p:cNvPr id="175" name="Google Shape;175;p2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Public Cloud</a:t>
            </a:r>
            <a:r>
              <a:rPr lang="en-GB"/>
              <a:t>: Services offered over the internet (e.g., AWS, Azure, GCP).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Private Cloud</a:t>
            </a:r>
            <a:r>
              <a:rPr lang="en-GB"/>
              <a:t>: Cloud infrastructure dedicated to a single organization.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Hybrid Cloud</a:t>
            </a:r>
            <a:r>
              <a:rPr lang="en-GB"/>
              <a:t>: Combination of public and private clouds.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Community Cloud</a:t>
            </a:r>
            <a:r>
              <a:rPr lang="en-GB"/>
              <a:t>: Shared by organizations with a common goal.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77" name="Google Shape;177;p2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  <p:pic>
        <p:nvPicPr>
          <p:cNvPr id="176" name="Google Shape;17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" y="190500"/>
            <a:ext cx="85725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6. Benefits of Cloud Computing</a:t>
            </a:r>
            <a:endParaRPr/>
          </a:p>
        </p:txBody>
      </p:sp>
      <p:sp>
        <p:nvSpPr>
          <p:cNvPr id="183" name="Google Shape;183;p2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 Cost efficiency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2. Scalability and elasticity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3. High availability and redundancy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4. Innovation acceleration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85" name="Google Shape;185;p2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  <p:pic>
        <p:nvPicPr>
          <p:cNvPr id="184" name="Google Shape;18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7. Challenges in Cloud Computing</a:t>
            </a:r>
            <a:endParaRPr/>
          </a:p>
        </p:txBody>
      </p:sp>
      <p:sp>
        <p:nvSpPr>
          <p:cNvPr id="191" name="Google Shape;191;p2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Data security and privacy (Cloud did not used in govt project)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Vendor lock-in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Downtime risks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92" name="Google Shape;192;p2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198" name="Google Shape;198;p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Cloud computing delivers on-demand IT services over the internet.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Three service models: IaaS, PaaS, SaaS.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Four deployment models: Public, Private, Hybrid, Community.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Benefits include cost efficiency, scalability, and innovation, but challenges like security and vendor lock-in remain.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99" name="Google Shape;199;p3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1188231" y="2918012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3185991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>
            <a:spLocks noGrp="1"/>
          </p:cNvSpPr>
          <p:nvPr>
            <p:ph type="title"/>
          </p:nvPr>
        </p:nvSpPr>
        <p:spPr>
          <a:xfrm>
            <a:off x="311700" y="45380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 </a:t>
            </a:r>
            <a:endParaRPr/>
          </a:p>
        </p:txBody>
      </p:sp>
      <p:sp>
        <p:nvSpPr>
          <p:cNvPr id="205" name="Google Shape;205;p3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Open for </a:t>
            </a:r>
            <a:r>
              <a:rPr lang="en-GB" dirty="0" smtClean="0"/>
              <a:t>Questions</a:t>
            </a:r>
            <a:endParaRPr dirty="0"/>
          </a:p>
        </p:txBody>
      </p:sp>
      <p:sp>
        <p:nvSpPr>
          <p:cNvPr id="207" name="Google Shape;207;p3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3"/>
              </a:rPr>
              <a:t>https://</a:t>
            </a:r>
            <a:r>
              <a:rPr lang="en-US" sz="600" dirty="0">
                <a:hlinkClick r:id="rId3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3892</TotalTime>
  <Words>688</Words>
  <Application>Microsoft Office PowerPoint</Application>
  <PresentationFormat>On-screen Show (16:9)</PresentationFormat>
  <Paragraphs>118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Trebuchet MS</vt:lpstr>
      <vt:lpstr>Calibri Light</vt:lpstr>
      <vt:lpstr>Calibri</vt:lpstr>
      <vt:lpstr>맑은 고딕</vt:lpstr>
      <vt:lpstr>Helvetica Neue</vt:lpstr>
      <vt:lpstr>Arial</vt:lpstr>
      <vt:lpstr>Office Theme</vt:lpstr>
      <vt:lpstr>PowerPoint Presentation</vt:lpstr>
      <vt:lpstr>Introduction to Cloud Computing</vt:lpstr>
      <vt:lpstr>Introduction to Cloud Computing </vt:lpstr>
      <vt:lpstr>Server in Server Rack</vt:lpstr>
      <vt:lpstr>2.  Evolution of Computing</vt:lpstr>
      <vt:lpstr>3. Key Characteristics of Cloud Computing</vt:lpstr>
      <vt:lpstr>On-Demand Self-Service:</vt:lpstr>
      <vt:lpstr>Broad Network Access</vt:lpstr>
      <vt:lpstr>Resource Pooling:</vt:lpstr>
      <vt:lpstr>Rapid Elasticity:</vt:lpstr>
      <vt:lpstr>Measured Service:</vt:lpstr>
      <vt:lpstr>4. Cloud Service Models   </vt:lpstr>
      <vt:lpstr>Responsibility Sharing </vt:lpstr>
      <vt:lpstr>PowerPoint Presentation</vt:lpstr>
      <vt:lpstr>5. Cloud Deployment Models</vt:lpstr>
      <vt:lpstr>6. Benefits of Cloud Computing</vt:lpstr>
      <vt:lpstr>7. Challenges in Cloud Computing</vt:lpstr>
      <vt:lpstr>Summary</vt:lpstr>
      <vt:lpstr>THANK YOU 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4</cp:revision>
  <dcterms:modified xsi:type="dcterms:W3CDTF">2026-10-05T01:42:41Z</dcterms:modified>
</cp:coreProperties>
</file>