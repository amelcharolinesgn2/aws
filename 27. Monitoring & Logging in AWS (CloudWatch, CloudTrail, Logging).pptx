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8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9144000" cy="5143500" type="screen16x9"/>
  <p:notesSz cx="6858000" cy="9144000"/>
  <p:embeddedFontLst>
    <p:embeddedFont>
      <p:font typeface="Open Sans" panose="020B0604020202020204" charset="0"/>
      <p:regular r:id="rId34"/>
      <p:bold r:id="rId35"/>
      <p:italic r:id="rId36"/>
      <p:boldItalic r:id="rId37"/>
    </p:embeddedFont>
    <p:embeddedFont>
      <p:font typeface="맑은 고딕" panose="020B0503020000020004" pitchFamily="34" charset="-127"/>
      <p:regular r:id="rId38"/>
      <p:bold r:id="rId39"/>
    </p:embeddedFont>
    <p:embeddedFont>
      <p:font typeface="PT Sans Narrow" panose="020B0604020202020204" charset="0"/>
      <p:regular r:id="rId40"/>
      <p:bold r:id="rId41"/>
    </p:embeddedFont>
    <p:embeddedFont>
      <p:font typeface="Inter" panose="020B0604020202020204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02" y="5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Lab Session 01: AWS Compute Foundations – EC2, Networking, and Application Deployment	Lab Session 02: Identity and Access Control with IAM	Lab Session 03: Cloud Storage Solutions – S3, EBS, and EFS	Lab Session 04: Database Services – RDS, </a:t>
            </a:r>
            <a:r>
              <a:rPr lang="en-US" dirty="0" err="1" smtClean="0"/>
              <a:t>DynamoDB</a:t>
            </a:r>
            <a:r>
              <a:rPr lang="en-US" dirty="0" smtClean="0"/>
              <a:t>, and </a:t>
            </a:r>
            <a:r>
              <a:rPr lang="en-US" dirty="0" err="1" smtClean="0"/>
              <a:t>ElastiCache</a:t>
            </a:r>
            <a:r>
              <a:rPr lang="en-US" dirty="0" smtClean="0"/>
              <a:t>	Lab Session 05: Load Balancing and Auto Scaling	Lab Session 06: Container Orchestration with ECS, </a:t>
            </a:r>
            <a:r>
              <a:rPr lang="en-US" dirty="0" err="1" smtClean="0"/>
              <a:t>Fargate</a:t>
            </a:r>
            <a:r>
              <a:rPr lang="en-US" dirty="0" smtClean="0"/>
              <a:t>, and EKS	Lab Session 07: </a:t>
            </a:r>
            <a:r>
              <a:rPr lang="en-US" dirty="0" err="1" smtClean="0"/>
              <a:t>Serverless</a:t>
            </a:r>
            <a:r>
              <a:rPr lang="en-US" dirty="0" smtClean="0"/>
              <a:t> Computing with Lambda	Lab Session 08: Monitoring, Logging, and Security Auditing	Lab Session 09: Infrastructure as Code – </a:t>
            </a:r>
            <a:r>
              <a:rPr lang="en-US" dirty="0" err="1" smtClean="0"/>
              <a:t>CloudFormation</a:t>
            </a:r>
            <a:r>
              <a:rPr lang="en-US" dirty="0" smtClean="0"/>
              <a:t>, CDK, and Terraform	Lab Session 10: CI/CD Pipelines – App Runner, </a:t>
            </a:r>
            <a:r>
              <a:rPr lang="en-US" dirty="0" err="1" smtClean="0"/>
              <a:t>CodePipeline</a:t>
            </a:r>
            <a:r>
              <a:rPr lang="en-US" dirty="0" smtClean="0"/>
              <a:t>, GitHub Actions, and </a:t>
            </a:r>
            <a:r>
              <a:rPr lang="en-US" dirty="0" err="1" smtClean="0"/>
              <a:t>CodeDeploy</a:t>
            </a:r>
            <a:r>
              <a:rPr lang="en-US" dirty="0" smtClean="0"/>
              <a:t>	Lab Session 11: AI/ML Services – </a:t>
            </a:r>
            <a:r>
              <a:rPr lang="en-US" dirty="0" err="1" smtClean="0"/>
              <a:t>Rekognition</a:t>
            </a:r>
            <a:r>
              <a:rPr lang="en-US" dirty="0" smtClean="0"/>
              <a:t>, Comprehend, Translate, and </a:t>
            </a:r>
            <a:r>
              <a:rPr lang="en-US" dirty="0" err="1" smtClean="0"/>
              <a:t>SageMaker</a:t>
            </a:r>
            <a:r>
              <a:rPr lang="en-US" dirty="0" smtClean="0"/>
              <a:t>	Lab Session 12: Hybrid Cloud Networking – VPC Peering, Transit Gateway, VPN, and Direct Connect	Lab Session 13: Security and Compliance – AWS </a:t>
            </a:r>
            <a:r>
              <a:rPr lang="en-US" dirty="0" err="1" smtClean="0"/>
              <a:t>Config</a:t>
            </a:r>
            <a:r>
              <a:rPr lang="en-US" dirty="0" smtClean="0"/>
              <a:t>, </a:t>
            </a:r>
            <a:r>
              <a:rPr lang="en-US" dirty="0" err="1" smtClean="0"/>
              <a:t>GuardDuty</a:t>
            </a:r>
            <a:r>
              <a:rPr lang="en-US" dirty="0" smtClean="0"/>
              <a:t>, Security Hub, and KMS	Lab Session 14: Disaster Recovery and Business Continuity – AWS Backup, Multi-Region, and Failover	Lab Session 15: Migration and Modernization – </a:t>
            </a:r>
            <a:r>
              <a:rPr lang="en-US" dirty="0" err="1" smtClean="0"/>
              <a:t>DataSync</a:t>
            </a:r>
            <a:r>
              <a:rPr lang="en-US" dirty="0" smtClean="0"/>
              <a:t>, DMS, MGN, Containers, and </a:t>
            </a:r>
            <a:r>
              <a:rPr lang="en-US" dirty="0" err="1" smtClean="0"/>
              <a:t>Serverless</a:t>
            </a:r>
            <a:r>
              <a:rPr lang="en-US" dirty="0" smtClean="0"/>
              <a:t>	</a:t>
            </a:r>
          </a:p>
          <a:p>
            <a:endParaRPr lang="en-US" dirty="0" smtClean="0"/>
          </a:p>
          <a:p>
            <a:r>
              <a:rPr lang="en-US" dirty="0" smtClean="0"/>
              <a:t>Lab Session 16: Cost Management and Optimization – Cost Explorer, Trusted Advisor, Budgets, and Well-Architected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https://www.youtube.com/watch?v=SOTamWNgDKc&amp;t=19604s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56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04249257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04249257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joining instructions will appear when you get to this slide.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SLIDES_API16671312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SLIDES_API16671312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a0e322b77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a0e322b77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206571510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206571510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a0e322b7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a0e322b77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SLIDES_API231245719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SLIDES_API231245719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3a0e322b77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3a0e322b77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SLIDES_API117377951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SLIDES_API117377951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39fa8099b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39fa8099b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SLIDES_API66496615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SLIDES_API66496615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9fa8099bd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9fa8099bd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SLIDES_API165542131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SLIDES_API165542131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fa8099bd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39fa8099bd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39fa8099bd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39fa8099bd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SLIDES_API1225944397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SLIDES_API1225944397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39fa8099bd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39fa8099bd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SLIDES_API184862634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SLIDES_API184862634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39fa8099bd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39fa8099bd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SLIDES_API544502288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SLIDES_API544502288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39fa8099bd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39fa8099bd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SLIDES_API98329722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SLIDES_API98329722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poll will launch automatically when you get to this slide.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39fa8099bd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39fa8099bd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39fa8099bd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39fa8099bd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39fa8099bd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39fa8099bd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39fa8099bd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39fa8099bd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39fa8099bd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39fa8099bd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39fa8099bd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39fa8099bd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39fa8099bd_0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39fa8099bd_0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SLIDES_API72985905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SLIDES_API72985905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📣 This is Slido interaction slide, please don't delete it.</a:t>
            </a:r>
            <a:br>
              <a:rPr lang="en-GB"/>
            </a:br>
            <a:r>
              <a:rPr lang="en-GB"/>
              <a:t>✅ Click on 'Present with Slido' and the questions from your audience will appear when you get to this slide.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9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amelcharolinesgn2/AWS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oRTVmbkItTEZaSTY3eWZRRGt2Tm1xQkkxLTZvZHBFVFRvb2VROGhUb3pNIiwic2xpZGVJZCI6IlNMSURFU19BUEkxMDQyNDkyNTcyXzAiLCJ0eXBlIjoiU2xpZG9Kb2luaW5n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6.png"/><Relationship Id="rId4" Type="http://schemas.openxmlformats.org/officeDocument/2006/relationships/hyperlink" Target="https://www.sli.do/features-google-slides?interaction-type=Sm9pbg%3D%3D" TargetMode="Externa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VXVpZCI6IjE4MGUyMTM0LWEyMTYtNDFhNy04NWRhLTY5Yzg4MjAyZmVjMyIsInByZXNlbnRhdGlvbklkIjoiMWhFNWZuQi1MRlpJNjd5ZlFEa3ZObXFCSTEtNm9kcEVUVG9vZVE4aFRvek0iLCJzbGlkZUlkIjoiU0xJREVTX0FQSTE2NjcxMzEyMTBfMCIsInRpbWVsaW5lIjpbeyJwb2xsUXVlc3Rpb25VdWlkIjoiNzE5ZmY5NTctOTViZC00YTE0LTg2NjAtMGQ1YTg0M2JjZWMwIiwic2hvd1Jlc3VsdHMiOmZhbHNlfSx7InBvbGxRdWVzdGlvblV1aWQiOiI3MTlmZjk1Ny05NWJkLTRhMTQtODY2MC0wZDVhODQzYmNlYzAiLCJzaG93UmVzdWx0cyI6dHJ1ZX1dLCJ0eXBlIjoiU2xpZG9Qb2xs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9.png"/><Relationship Id="rId4" Type="http://schemas.openxmlformats.org/officeDocument/2006/relationships/hyperlink" Target="https://www.sli.do/features-google-slides?interaction-type=T3BlblRleHQ%3D" TargetMode="External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Y2VjYjllMGMtZDc3NC00MjZiLTkwNjUtNWE5MzAyZGNmZmE5IiwicG9sbFV1aWQiOiJmOWMyMzU0Zi0yYjEyLTRkYTEtODU3Yy03NWM2NzJkZDk4ZDAiLCJwcmVzZW50YXRpb25JZCI6IjFoRTVmbkItTEZaSTY3eWZRRGt2Tm1xQkkxLTZvZHBFVFRvb2VROGhUb3pNIiwic2xpZGVJZCI6IlNMSURFU19BUEkyMDY1NzE1MTAwXzAiLCJ0aW1lbGluZSI6W3sic2NyZWVuIjoiUXVpekpvaW5pbmcifSx7InBvbGxRdWVzdGlvblV1aWQiOiJjZWNiOWUwYy1kNzc0LTQyNmItOTA2NS01YTkzMDJkY2ZmYTkiLCJzaG93Q29ycmVjdEFuc3dlcnMiOmZhbHNlLCJzaG93UmVzdWx0cyI6ZmFsc2UsInZvdGluZ0xvY2tlZCI6ZmFsc2V9LHsicG9sbFF1ZXN0aW9uVXVpZCI6ImNlY2I5ZTBjLWQ3NzQtNDI2Yi05MDY1LTVhOTMwMmRjZmZhOSIsInNob3dDb3JyZWN0QW5zd2VycyI6ZmFsc2UsInNob3dSZXN1bHRzIjp0cnVlLCJ2b3RpbmdMb2NrZWQiOnRydWV9LHsicG9sbFF1ZXN0aW9uVXVpZCI6ImNlY2I5ZTBjLWQ3NzQtNDI2Yi05MDY1LTVhOTMwMmRjZmZhOSIsInNob3dDb3JyZWN0QW5zd2VycyI6dHJ1ZSwic2hvd1Jlc3VsdHMiOnRydWUsInZvdGluZ0xvY2tlZCI6dHJ1ZX0seyJwb2xsUXVlc3Rpb25VdWlkIjoiY2VjYjllMGMtZDc3NC00MjZiLTkwNjUtNWE5MzAyZGNmZmE5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DE1NDA5MjQtMDcwZS00NzU3LTg0NzYtYzc5ZmYwMWJmOGQzIiwicG9sbFV1aWQiOiJmOWMyMzU0Zi0yYjEyLTRkYTEtODU3Yy03NWM2NzJkZDk4ZDAiLCJwcmVzZW50YXRpb25JZCI6IjFoRTVmbkItTEZaSTY3eWZRRGt2Tm1xQkkxLTZvZHBFVFRvb2VROGhUb3pNIiwic2xpZGVJZCI6IlNMSURFU19BUEkyMzEyNDU3MTlfMCIsInRpbWVsaW5lIjpbeyJzY3JlZW4iOiJRdWl6R2V0UmVhZHkifSx7InBvbGxRdWVzdGlvblV1aWQiOiIwMTU0MDkyNC0wNzBlLTQ3NTctODQ3Ni1jNzlmZjAxYmY4ZDMiLCJzaG93Q29ycmVjdEFuc3dlcnMiOmZhbHNlLCJzaG93UmVzdWx0cyI6ZmFsc2UsInZvdGluZ0xvY2tlZCI6ZmFsc2V9LHsicG9sbFF1ZXN0aW9uVXVpZCI6IjAxNTQwOTI0LTA3MGUtNDc1Ny04NDc2LWM3OWZmMDFiZjhkMyIsInNob3dDb3JyZWN0QW5zd2VycyI6ZmFsc2UsInNob3dSZXN1bHRzIjp0cnVlLCJ2b3RpbmdMb2NrZWQiOnRydWV9LHsicG9sbFF1ZXN0aW9uVXVpZCI6IjAxNTQwOTI0LTA3MGUtNDc1Ny04NDc2LWM3OWZmMDFiZjhkMyIsInNob3dDb3JyZWN0QW5zd2VycyI6dHJ1ZSwic2hvd1Jlc3VsdHMiOnRydWUsInZvdGluZ0xvY2tlZCI6dHJ1ZX0seyJwb2xsUXVlc3Rpb25VdWlkIjoiMDE1NDA5MjQtMDcwZS00NzU3LTg0NzYtYzc5ZmYwMWJmOGQz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jgzY2FjMzQtMWUxYS00ZjliLWE4NmUtYTk5NTY2MTczOWRjIiwicG9sbFV1aWQiOiJmOWMyMzU0Zi0yYjEyLTRkYTEtODU3Yy03NWM2NzJkZDk4ZDAiLCJwcmVzZW50YXRpb25JZCI6IjFoRTVmbkItTEZaSTY3eWZRRGt2Tm1xQkkxLTZvZHBFVFRvb2VROGhUb3pNIiwic2xpZGVJZCI6IlNMSURFU19BUEkxMTczNzc5NTEwXzAiLCJ0aW1lbGluZSI6W3sic2NyZWVuIjoiUXVpekdldFJlYWR5In0seyJwb2xsUXVlc3Rpb25VdWlkIjoiZjgzY2FjMzQtMWUxYS00ZjliLWE4NmUtYTk5NTY2MTczOWRjIiwic2hvd0NvcnJlY3RBbnN3ZXJzIjpmYWxzZSwic2hvd1Jlc3VsdHMiOmZhbHNlLCJ2b3RpbmdMb2NrZWQiOmZhbHNlfSx7InBvbGxRdWVzdGlvblV1aWQiOiJmODNjYWMzNC0xZTFhLTRmOWItYTg2ZS1hOTk1NjYxNzM5ZGMiLCJzaG93Q29ycmVjdEFuc3dlcnMiOmZhbHNlLCJzaG93UmVzdWx0cyI6dHJ1ZSwidm90aW5nTG9ja2VkIjp0cnVlfSx7InBvbGxRdWVzdGlvblV1aWQiOiJmODNjYWMzNC0xZTFhLTRmOWItYTg2ZS1hOTk1NjYxNzM5ZGMiLCJzaG93Q29ycmVjdEFuc3dlcnMiOnRydWUsInNob3dSZXN1bHRzIjp0cnVlLCJ2b3RpbmdMb2NrZWQiOnRydWV9LHsicG9sbFF1ZXN0aW9uVXVpZCI6ImY4M2NhYzM0LTFlMWEtNGY5Yi1hODZlLWE5OTU2NjE3MzlkYy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b2xsUXVlc3Rpb25VdWlkIjoiODdlM2VmZjAtYTU1ZS00MjU2LWExNzEtOTc4YmJlMmFkOTUyIiwicG9sbFV1aWQiOiJmOWMyMzU0Zi0yYjEyLTRkYTEtODU3Yy03NWM2NzJkZDk4ZDAiLCJwcmVzZW50YXRpb25JZCI6IjFoRTVmbkItTEZaSTY3eWZRRGt2Tm1xQkkxLTZvZHBFVFRvb2VROGhUb3pNIiwic2xpZGVJZCI6IlNMSURFU19BUEk2NjQ5NjYxNTVfMCIsInRpbWVsaW5lIjpbeyJzY3JlZW4iOiJRdWl6R2V0UmVhZHkifSx7InBvbGxRdWVzdGlvblV1aWQiOiI4N2UzZWZmMC1hNTVlLTQyNTYtYTE3MS05NzhiYmUyYWQ5NTIiLCJzaG93Q29ycmVjdEFuc3dlcnMiOmZhbHNlLCJzaG93UmVzdWx0cyI6ZmFsc2UsInZvdGluZ0xvY2tlZCI6ZmFsc2V9LHsicG9sbFF1ZXN0aW9uVXVpZCI6Ijg3ZTNlZmYwLWE1NWUtNDI1Ni1hMTcxLTk3OGJiZTJhZDk1MiIsInNob3dDb3JyZWN0QW5zd2VycyI6ZmFsc2UsInNob3dSZXN1bHRzIjp0cnVlLCJ2b3RpbmdMb2NrZWQiOnRydWV9LHsicG9sbFF1ZXN0aW9uVXVpZCI6Ijg3ZTNlZmYwLWE1NWUtNDI1Ni1hMTcxLTk3OGJiZTJhZDk1MiIsInNob3dDb3JyZWN0QW5zd2VycyI6dHJ1ZSwic2hvd1Jlc3VsdHMiOnRydWUsInZvdGluZ0xvY2tlZCI6dHJ1ZX0seyJwb2xsUXVlc3Rpb25VdWlkIjoiODdlM2VmZjAtYTU1ZS00MjU2LWExNzEtOTc4YmJlMmFkOTUyIiwic2NyZWVuIjoiUXVpekludGVyaW1MZWFkZXJib2FyZCJ9XSwidHlwZSI6IlNsaWRvUG9sbCJ9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www.sli.do/features-google-slides?interaction-type=UXVpeg%3D%3D" TargetMode="External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mUyYTk5MjItOTQ5MC00MWMwLTk5ZjQtY2MzOTgwODYzZGI0IiwicG9sbFV1aWQiOiJmOWMyMzU0Zi0yYjEyLTRkYTEtODU3Yy03NWM2NzJkZDk4ZDAiLCJwcmVzZW50YXRpb25JZCI6IjFoRTVmbkItTEZaSTY3eWZRRGt2Tm1xQkkxLTZvZHBFVFRvb2VROGhUb3pNIiwic2xpZGVJZCI6IlNMSURFU19BUEkxNjU1NDIxMzE1XzAiLCJ0aW1lbGluZSI6W3sic2NyZWVuIjoiUXVpekdldFJlYWR5In0seyJwb2xsUXVlc3Rpb25VdWlkIjoiMmUyYTk5MjItOTQ5MC00MWMwLTk5ZjQtY2MzOTgwODYzZGI0Iiwic2hvd0NvcnJlY3RBbnN3ZXJzIjpmYWxzZSwic2hvd1Jlc3VsdHMiOmZhbHNlLCJ2b3RpbmdMb2NrZWQiOmZhbHNlfSx7InBvbGxRdWVzdGlvblV1aWQiOiIyZTJhOTkyMi05NDkwLTQxYzAtOTlmNC1jYzM5ODA4NjNkYjQiLCJzaG93Q29ycmVjdEFuc3dlcnMiOmZhbHNlLCJzaG93UmVzdWx0cyI6dHJ1ZSwidm90aW5nTG9ja2VkIjp0cnVlfSx7InBvbGxRdWVzdGlvblV1aWQiOiIyZTJhOTkyMi05NDkwLTQxYzAtOTlmNC1jYzM5ODA4NjNkYjQiLCJzaG93Q29ycmVjdEFuc3dlcnMiOnRydWUsInNob3dSZXN1bHRzIjp0cnVlLCJ2b3RpbmdMb2NrZWQiOnRydWV9LHsicG9sbFF1ZXN0aW9uVXVpZCI6IjJlMmE5OTIyLTk0OTAtNDFjMC05OWY0LWNjMzk4MDg2M2RiN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zY0MjdjYmMtZDU1Mi00NmQ2LThlODMtY2YzMmIxMmY1ZGY0IiwicG9sbFV1aWQiOiJmOWMyMzU0Zi0yYjEyLTRkYTEtODU3Yy03NWM2NzJkZDk4ZDAiLCJwcmVzZW50YXRpb25JZCI6IjFoRTVmbkItTEZaSTY3eWZRRGt2Tm1xQkkxLTZvZHBFVFRvb2VROGhUb3pNIiwic2xpZGVJZCI6IlNMSURFU19BUEkxMjI1OTQ0Mzk3XzAiLCJ0aW1lbGluZSI6W3sic2NyZWVuIjoiUXVpekdldFJlYWR5In0seyJwb2xsUXVlc3Rpb25VdWlkIjoiMzY0MjdjYmMtZDU1Mi00NmQ2LThlODMtY2YzMmIxMmY1ZGY0Iiwic2hvd0NvcnJlY3RBbnN3ZXJzIjpmYWxzZSwic2hvd1Jlc3VsdHMiOmZhbHNlLCJ2b3RpbmdMb2NrZWQiOmZhbHNlfSx7InBvbGxRdWVzdGlvblV1aWQiOiIzNjQyN2NiYy1kNTUyLTQ2ZDYtOGU4My1jZjMyYjEyZjVkZjQiLCJzaG93Q29ycmVjdEFuc3dlcnMiOmZhbHNlLCJzaG93UmVzdWx0cyI6dHJ1ZSwidm90aW5nTG9ja2VkIjp0cnVlfSx7InBvbGxRdWVzdGlvblV1aWQiOiIzNjQyN2NiYy1kNTUyLTQ2ZDYtOGU4My1jZjMyYjEyZjVkZjQiLCJzaG93Q29ycmVjdEFuc3dlcnMiOnRydWUsInNob3dSZXN1bHRzIjp0cnVlLCJ2b3RpbmdMb2NrZWQiOnRydWV9LHsicG9sbFF1ZXN0aW9uVXVpZCI6IjM2NDI3Y2JjLWQ1NTItNDZkNi04ZTgzLWNmMzJiMTJmNWRmN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ZDBmYzU4MmMtMTVlNC00NGYwLWJhZmMtZjA1YzFlZGM5YzQwIiwicG9sbFV1aWQiOiJmOWMyMzU0Zi0yYjEyLTRkYTEtODU3Yy03NWM2NzJkZDk4ZDAiLCJwcmVzZW50YXRpb25JZCI6IjFoRTVmbkItTEZaSTY3eWZRRGt2Tm1xQkkxLTZvZHBFVFRvb2VROGhUb3pNIiwic2xpZGVJZCI6IlNMSURFU19BUEkxODQ4NjI2MzQyXzAiLCJ0aW1lbGluZSI6W3sic2NyZWVuIjoiUXVpekdldFJlYWR5In0seyJwb2xsUXVlc3Rpb25VdWlkIjoiZDBmYzU4MmMtMTVlNC00NGYwLWJhZmMtZjA1YzFlZGM5YzQwIiwic2hvd0NvcnJlY3RBbnN3ZXJzIjpmYWxzZSwic2hvd1Jlc3VsdHMiOmZhbHNlLCJ2b3RpbmdMb2NrZWQiOmZhbHNlfSx7InBvbGxRdWVzdGlvblV1aWQiOiJkMGZjNTgyYy0xNWU0LTQ0ZjAtYmFmYy1mMDVjMWVkYzljNDAiLCJzaG93Q29ycmVjdEFuc3dlcnMiOmZhbHNlLCJzaG93UmVzdWx0cyI6dHJ1ZSwidm90aW5nTG9ja2VkIjp0cnVlfSx7InBvbGxRdWVzdGlvblV1aWQiOiJkMGZjNTgyYy0xNWU0LTQ0ZjAtYmFmYy1mMDVjMWVkYzljNDAiLCJzaG93Q29ycmVjdEFuc3dlcnMiOnRydWUsInNob3dSZXN1bHRzIjp0cnVlLCJ2b3RpbmdMb2NrZWQiOnRydWV9LHsicG9sbFF1ZXN0aW9uVXVpZCI6ImQwZmM1ODJjLTE1ZTQtNDRmMC1iYWZjLWYwNWMxZWRjOWM0MCIsInNjcmVlbiI6IlF1aXpJbnRlcmltTGVhZGVyYm9hcmQi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MjIzMGVjNDgtOTc3YS00NTI1LTgzOWUtNjYyZmI4MGYwNDkzIiwicG9sbFV1aWQiOiJmOWMyMzU0Zi0yYjEyLTRkYTEtODU3Yy03NWM2NzJkZDk4ZDAiLCJwcmVzZW50YXRpb25JZCI6IjFoRTVmbkItTEZaSTY3eWZRRGt2Tm1xQkkxLTZvZHBFVFRvb2VROGhUb3pNIiwic2xpZGVJZCI6IlNMSURFU19BUEk1NDQ1MDIyODhfMCIsInRpbWVsaW5lIjpbeyJzY3JlZW4iOiJRdWl6R2V0UmVhZHkifSx7InBvbGxRdWVzdGlvblV1aWQiOiIyMjMwZWM0OC05NzdhLTQ1MjUtODM5ZS02NjJmYjgwZjA0OTMiLCJzaG93Q29ycmVjdEFuc3dlcnMiOmZhbHNlLCJzaG93UmVzdWx0cyI6ZmFsc2UsInZvdGluZ0xvY2tlZCI6ZmFsc2V9LHsicG9sbFF1ZXN0aW9uVXVpZCI6IjIyMzBlYzQ4LTk3N2EtNDUyNS04MzllLTY2MmZiODBmMDQ5MyIsInNob3dDb3JyZWN0QW5zd2VycyI6ZmFsc2UsInNob3dSZXN1bHRzIjp0cnVlLCJ2b3RpbmdMb2NrZWQiOnRydWV9LHsicG9sbFF1ZXN0aW9uVXVpZCI6IjIyMzBlYzQ4LTk3N2EtNDUyNS04MzllLTY2MmZiODBmMDQ5MyIsInNob3dDb3JyZWN0QW5zd2VycyI6dHJ1ZSwic2hvd1Jlc3VsdHMiOnRydWUsInZvdGluZ0xvY2tlZCI6dHJ1ZX0seyJwb2xsUXVlc3Rpb25VdWlkIjoiMjIzMGVjNDgtOTc3YS00NTI1LTgzOWUtNjYyZmI4MGYwNDkzIiwic2NyZWVuIjoiUXVpekludGVyaW1MZWFkZXJib2FyZCJ9XSwidHlwZSI6IlNsaWRvUG9sbCJ9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interaction-type=UXVpeg%3D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sli.do/features-google-slides?payload=eyJwb2xsUXVlc3Rpb25VdWlkIjoiY2FiMGM3OWQtY2MxNS00OGRhLWFmN2ItYTc1YTg5NDViZjM5IiwicG9sbFV1aWQiOiJmOWMyMzU0Zi0yYjEyLTRkYTEtODU3Yy03NWM2NzJkZDk4ZDAiLCJwcmVzZW50YXRpb25JZCI6IjFoRTVmbkItTEZaSTY3eWZRRGt2Tm1xQkkxLTZvZHBFVFRvb2VROGhUb3pNIiwic2xpZGVJZCI6IlNMSURFU19BUEk5ODMyOTcyMjVfMCIsInRpbWVsaW5lIjpbeyJzY3JlZW4iOiJRdWl6R2V0UmVhZHkifSx7InBvbGxRdWVzdGlvblV1aWQiOiJjYWIwYzc5ZC1jYzE1LTQ4ZGEtYWY3Yi1hNzVhODk0NWJmMzkiLCJzaG93Q29ycmVjdEFuc3dlcnMiOmZhbHNlLCJzaG93UmVzdWx0cyI6ZmFsc2UsInZvdGluZ0xvY2tlZCI6ZmFsc2V9LHsicG9sbFF1ZXN0aW9uVXVpZCI6ImNhYjBjNzlkLWNjMTUtNDhkYS1hZjdiLWE3NWE4OTQ1YmYzOSIsInNob3dDb3JyZWN0QW5zd2VycyI6ZmFsc2UsInNob3dSZXN1bHRzIjp0cnVlLCJ2b3RpbmdMb2NrZWQiOnRydWV9LHsicG9sbFF1ZXN0aW9uVXVpZCI6ImNhYjBjNzlkLWNjMTUtNDhkYS1hZjdiLWE3NWE4OTQ1YmYzOSIsInNob3dDb3JyZWN0QW5zd2VycyI6dHJ1ZSwic2hvd1Jlc3VsdHMiOnRydWUsInZvdGluZ0xvY2tlZCI6dHJ1ZX0seyJwb2xsUXVlc3Rpb25VdWlkIjoiY2FiMGM3OWQtY2MxNS00OGRhLWFmN2ItYTc1YTg5NDViZjM5Iiwic2NyZWVuIjoiUXVpekxlYWRlcmJvYXJkIiwic2hvd0NvcnJlY3RBbnN3ZXJzIjp0cnVlLCJzaG93UmVzdWx0cyI6dHJ1ZSwidm90aW5nTG9ja2VkIjp0cnVlfV0sInR5cGUiOiJTbGlkb1BvbGwifQ%3D%3D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chrome.google.com/webstore/detail/slido/dhhclfjehmpacimcdknijodpjpmppkii" TargetMode="External"/><Relationship Id="rId9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.do/features-google-slides?payload=eyJwcmVzZW50YXRpb25JZCI6IjFoRTVmbkItTEZaSTY3eWZRRGt2Tm1xQkkxLTZvZHBFVFRvb2VROGhUb3pNIiwic2xpZGVJZCI6IlNMSURFU19BUEk3Mjk4NTkwNTRfMCIsInR5cGUiOiJTbGlkb1FBIn0%3D" TargetMode="External"/><Relationship Id="rId3" Type="http://schemas.openxmlformats.org/officeDocument/2006/relationships/hyperlink" Target="https://www.slido.com/support/gsi/how-to-change-the-design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chrome.google.com/webstore/detail/slido/dhhclfjehmpacimcdknijodpjpmppkii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sli.do/features-google-slides?interaction-type=UUE%3D" TargetMode="External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9919" y="1"/>
            <a:ext cx="3979069" cy="2536031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277816" y="1346868"/>
            <a:ext cx="3603272" cy="1447266"/>
            <a:chOff x="89638" y="359621"/>
            <a:chExt cx="4804363" cy="192968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5105" y="1881965"/>
              <a:ext cx="3104181" cy="263526"/>
            </a:xfrm>
            <a:prstGeom prst="rect">
              <a:avLst/>
            </a:prstGeom>
          </p:spPr>
        </p:pic>
        <p:sp>
          <p:nvSpPr>
            <p:cNvPr id="1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89638" y="1389204"/>
              <a:ext cx="4804363" cy="900105"/>
            </a:xfrm>
            <a:prstGeom prst="rect">
              <a:avLst/>
            </a:prstGeom>
          </p:spPr>
          <p:txBody>
            <a:bodyPr vert="horz" lIns="68580" tIns="34290" rIns="68580" bIns="3429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3000" dirty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sz="3000" dirty="0">
                  <a:solidFill>
                    <a:srgbClr val="00B0F0"/>
                  </a:solidFill>
                </a:rPr>
                <a:t>Vision</a:t>
              </a:r>
              <a:endParaRPr lang="en-US" sz="3000" dirty="0">
                <a:solidFill>
                  <a:srgbClr val="00B0F0"/>
                </a:solidFill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27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176068" y="503243"/>
              <a:ext cx="1334145" cy="620384"/>
              <a:chOff x="7439031" y="1585639"/>
              <a:chExt cx="2143740" cy="996849"/>
            </a:xfrm>
            <a:solidFill>
              <a:schemeClr val="accent6"/>
            </a:solidFill>
          </p:grpSpPr>
          <p:sp>
            <p:nvSpPr>
              <p:cNvPr id="17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439031" y="1585639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1800" dirty="0"/>
              </a:p>
            </p:txBody>
          </p:sp>
          <p:sp>
            <p:nvSpPr>
              <p:cNvPr id="18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174174" y="1963600"/>
                <a:ext cx="443936" cy="326799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560697" y="757061"/>
              <a:ext cx="729275" cy="203382"/>
            </a:xfrm>
            <a:prstGeom prst="rect">
              <a:avLst/>
            </a:prstGeom>
          </p:spPr>
          <p:txBody>
            <a:bodyPr vert="horz" lIns="68580" tIns="34290" rIns="68580" bIns="34290" rtlCol="0">
              <a:normAutofit fontScale="550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7030A0"/>
                  </a:solidFill>
                </a:rPr>
                <a:t>PDS</a:t>
              </a:r>
              <a:endParaRPr lang="en-US" sz="1200" dirty="0">
                <a:solidFill>
                  <a:srgbClr val="7030A0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8807" y="1979698"/>
            <a:ext cx="334565" cy="47689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5773" y="1991577"/>
            <a:ext cx="460043" cy="43704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784" y="1979697"/>
            <a:ext cx="449747" cy="43316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31268" y="4287340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https://www.youtube.com/@AmelOline/videos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5564" y="4188538"/>
            <a:ext cx="1394132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https://github.com/siagianp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88313" y="4400890"/>
            <a:ext cx="2207657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63518" y="4502428"/>
            <a:ext cx="2632452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600" dirty="0"/>
              <a:t>https://github.com/amelcharolinesgn2/ClouD-Infrastructure-SISKA-2025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31268" y="4583219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github.com/amelcharolinesgn2/CCNA1</a:t>
            </a:r>
            <a:endParaRPr lang="en-US" sz="600" dirty="0"/>
          </a:p>
        </p:txBody>
      </p:sp>
      <p:sp>
        <p:nvSpPr>
          <p:cNvPr id="32" name="Rectangle 31"/>
          <p:cNvSpPr/>
          <p:nvPr/>
        </p:nvSpPr>
        <p:spPr>
          <a:xfrm>
            <a:off x="6931268" y="4681038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/>
              <a:t>https://</a:t>
            </a:r>
            <a:r>
              <a:rPr lang="en-US" sz="600" dirty="0"/>
              <a:t>github.com/amelcharolinesgn2/CCNA2</a:t>
            </a:r>
            <a:endParaRPr lang="en-US" sz="600" dirty="0"/>
          </a:p>
        </p:txBody>
      </p:sp>
      <p:sp>
        <p:nvSpPr>
          <p:cNvPr id="33" name="Rectangle 32"/>
          <p:cNvSpPr/>
          <p:nvPr/>
        </p:nvSpPr>
        <p:spPr>
          <a:xfrm>
            <a:off x="6931268" y="4754935"/>
            <a:ext cx="206381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600" dirty="0">
                <a:hlinkClick r:id="rId8"/>
              </a:rPr>
              <a:t>https://</a:t>
            </a:r>
            <a:r>
              <a:rPr lang="en-US" sz="600" dirty="0">
                <a:hlinkClick r:id="rId8"/>
              </a:rPr>
              <a:t>github.com/amelcharolinesgn2/AWS</a:t>
            </a:r>
            <a:r>
              <a:rPr lang="en-US" sz="600" dirty="0"/>
              <a:t> Certificate</a:t>
            </a:r>
            <a:endParaRPr lang="en-US" sz="600" dirty="0"/>
          </a:p>
        </p:txBody>
      </p:sp>
      <p:sp>
        <p:nvSpPr>
          <p:cNvPr id="24" name="Google Shape;66;p13"/>
          <p:cNvSpPr txBox="1">
            <a:spLocks/>
          </p:cNvSpPr>
          <p:nvPr/>
        </p:nvSpPr>
        <p:spPr>
          <a:xfrm>
            <a:off x="1260707" y="2853828"/>
            <a:ext cx="7136700" cy="80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6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pPr lvl="0"/>
            <a: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br>
              <a:rPr lang="en-GB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GB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4818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8" name="Google Shape;68;p1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 dirty="0" smtClean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slido.com</a:t>
            </a:r>
            <a: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br>
              <a:rPr lang="en-GB" sz="3600" b="1" dirty="0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</a:br>
            <a:endParaRPr sz="3600" b="1" dirty="0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72" name="Google Shape;7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" name="Google Shape;79;p1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0" name="Google Shape;80;p14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are the use case of serverless computing?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4" name="Google Shape;8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ctrTitle"/>
          </p:nvPr>
        </p:nvSpPr>
        <p:spPr>
          <a:xfrm>
            <a:off x="1004150" y="1337329"/>
            <a:ext cx="7136700" cy="143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160"/>
              <a:t>Monitoring &amp; Logging in AWS (CloudWatch, CloudTrail, Logging)</a:t>
            </a:r>
            <a:endParaRPr sz="4160"/>
          </a:p>
        </p:txBody>
      </p:sp>
      <p:sp>
        <p:nvSpPr>
          <p:cNvPr id="91" name="Google Shape;91;p15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application behavior and performance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AWS CloudFormation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51615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AWS CloudFormation allows you to model and provision AWS resources using Infrastructure as Code (IaC).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Automates the creation and management of AWS resources.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YAML and JSON templates.</a:t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5600" y="1304825"/>
            <a:ext cx="3366001" cy="33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5" name="Google Shape;105;p17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the primary purpose of AWS CloudFormation?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7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Key Features of AWS CloudFormation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Template-driven resource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Supports rollback on failure.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Stack creation, update, and deletion.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Integrates with CI/CD pipelines.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9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feature allows AWS CloudFormation to revert changes when stack creation fails?</a:t>
            </a:r>
            <a:endParaRPr sz="30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6" name="Google Shape;12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CloudFormation Stacks and Templates</a:t>
            </a:r>
            <a:endParaRPr/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Stack</a:t>
            </a:r>
            <a:r>
              <a:rPr lang="en-GB"/>
              <a:t>: Collection of AWS resources managed as a single unit.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b="1"/>
              <a:t>Template</a:t>
            </a:r>
            <a:r>
              <a:rPr lang="en-GB"/>
              <a:t>: JSON or YAML file defining AWS resources and configurations.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Parameters, resources, mappings, outputs, and conditions are key template components.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1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an AWS CloudFormation stack?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Monitoring &amp; Logging in AWS</a:t>
            </a:r>
            <a:endParaRPr/>
          </a:p>
        </p:txBody>
      </p:sp>
      <p:sp>
        <p:nvSpPr>
          <p:cNvPr id="152" name="Google Shape;152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6177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Monitoring and logging are essential for understanding application behavior and performance in the cloud.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AWS provides services like CloudWatch, CloudTrail, and various logging options for complete visibility.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82700" y="2747750"/>
            <a:ext cx="1552200" cy="15013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700" y="1013500"/>
            <a:ext cx="1552200" cy="150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3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1" name="Google Shape;161;p23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services are primarily used for monitoring and logging?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3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65" name="Google Shape;16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3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Amazon CloudWatch</a:t>
            </a:r>
            <a:endParaRPr/>
          </a:p>
        </p:txBody>
      </p:sp>
      <p:sp>
        <p:nvSpPr>
          <p:cNvPr id="172" name="Google Shape;172;p2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CloudWatch provides </a:t>
            </a:r>
            <a:r>
              <a:rPr lang="en-GB" b="1"/>
              <a:t>monitoring for AWS resources and applications.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Key features:</a:t>
            </a:r>
            <a:r>
              <a:rPr lang="en-GB"/>
              <a:t> metrics collection, logs, dashboards, and alarms.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Enables real-time observability and operational insights.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5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25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What is a key feature of Amazon CloudWatch?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0" name="Google Shape;180;p25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82" name="Google Shape;18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5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5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91" name="Google Shape;19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6813" y="200025"/>
            <a:ext cx="681037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CloudWatch Logs and Metrics</a:t>
            </a:r>
            <a:endParaRPr/>
          </a:p>
        </p:txBody>
      </p:sp>
      <p:sp>
        <p:nvSpPr>
          <p:cNvPr id="197" name="Google Shape;197;p2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CloudWatch Logs: </a:t>
            </a:r>
            <a:r>
              <a:rPr lang="en-GB"/>
              <a:t>Store, monitor, and access log files from AWS services and applications.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CloudWatch Metrics:</a:t>
            </a:r>
            <a:r>
              <a:rPr lang="en-GB"/>
              <a:t> Provide performance data for AWS resources.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Supports real-time application and infrastructure insights.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8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4" name="Google Shape;204;p28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component of CloudWatch stores log files?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28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8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7" name="Google Shape;20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8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8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AWS CloudTrail</a:t>
            </a:r>
            <a:endParaRPr/>
          </a:p>
        </p:txBody>
      </p:sp>
      <p:sp>
        <p:nvSpPr>
          <p:cNvPr id="215" name="Google Shape;215;p2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CloudTrail records AWS API calls for account activity.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Provides event history for auditing and compliance.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Integrates with CloudWatch for real-time monitoring.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2" name="Google Shape;222;p30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records API call history for auditing purposes?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3" name="Google Shape;223;p30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30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5" name="Google Shape;22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0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0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CloudTrail Event Categories</a:t>
            </a:r>
            <a:endParaRPr/>
          </a:p>
        </p:txBody>
      </p:sp>
      <p:sp>
        <p:nvSpPr>
          <p:cNvPr id="233" name="Google Shape;233;p3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Management Events:</a:t>
            </a:r>
            <a:r>
              <a:rPr lang="en-GB"/>
              <a:t> Track control plane operations (e.g., creating resources).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/>
              <a:t>Data Events: </a:t>
            </a:r>
            <a:r>
              <a:rPr lang="en-GB"/>
              <a:t>Provide insights into data plane operations (e.g., S3 object access).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Insight Events: </a:t>
            </a:r>
            <a:r>
              <a:rPr lang="en-GB"/>
              <a:t>Detect unusual operational activities.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3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0" name="Google Shape;240;p32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CloudTrail event category tracks S3 object access?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1" name="Google Shape;241;p3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2" name="Google Shape;242;p3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43" name="Google Shape;24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2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2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Logging Best Practices</a:t>
            </a:r>
            <a:endParaRPr/>
          </a:p>
        </p:txBody>
      </p:sp>
      <p:sp>
        <p:nvSpPr>
          <p:cNvPr id="251" name="Google Shape;251;p3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Enable multi-region CloudTrail for comprehensive tracking.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Use CloudWatch Alarms to detect anomalies.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Centralize logs using S3 and analyze with AWS Athena.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Regularly review logs for security and operational health.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34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34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Which AWS service is commonly used to store centralized logs?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34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34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1" name="Google Shape;26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4" descr="logo-id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4" descr="poll-type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3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270" name="Google Shape;2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613" y="576263"/>
            <a:ext cx="8486775" cy="399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1:</a:t>
            </a:r>
            <a:endParaRPr/>
          </a:p>
        </p:txBody>
      </p:sp>
      <p:sp>
        <p:nvSpPr>
          <p:cNvPr id="276" name="Google Shape;276;p3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company wants to track all API activities across multiple AWS regions for security auditing. Which AWS service and configuration would you recommend?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1:</a:t>
            </a:r>
            <a:endParaRPr/>
          </a:p>
        </p:txBody>
      </p:sp>
      <p:sp>
        <p:nvSpPr>
          <p:cNvPr id="282" name="Google Shape;282;p37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company wants to track all API activities across multiple AWS regions for security auditing. Which AWS service and configuration would you recommend?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Use AWS CloudTrail with multi-region trails to record all API activities.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Store logs in Amazon S3 for durability and use AWS Athena for querying.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2:</a:t>
            </a:r>
            <a:endParaRPr/>
          </a:p>
        </p:txBody>
      </p:sp>
      <p:sp>
        <p:nvSpPr>
          <p:cNvPr id="288" name="Google Shape;288;p3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Your application experiences performance issues during peak hours. How can you monitor and troubleshoot the root cause using AWS services?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 2:</a:t>
            </a:r>
            <a:endParaRPr/>
          </a:p>
        </p:txBody>
      </p:sp>
      <p:sp>
        <p:nvSpPr>
          <p:cNvPr id="294" name="Google Shape;294;p3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application experiences performance issues during peak hours. How can you monitor and troubleshoot the root cause using AWS services?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Utilize Amazon CloudWatch to set up dashboards for real-time metrics.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Analyze CloudWatch Logs for application errors.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Set CloudWatch Alarms to trigger notifications for performance anomalies.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Q3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A client needs to detect unusual API activities that might indicate a security threat. What AWS service and feature would you suggest?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Q3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client needs to detect unusual API activities that might indicate a security threat. What AWS service and feature would you suggest?</a:t>
            </a:r>
            <a:br>
              <a:rPr lang="en-GB"/>
            </a:br>
            <a:r>
              <a:rPr lang="en-GB"/>
              <a:t/>
            </a:r>
            <a:br>
              <a:rPr lang="en-GB"/>
            </a:b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Recommend AWS CloudTrail Insights, which automatically detects unusual patterns in API activity.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Integrate with Amazon CloudWatch for real-time alerts.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2"/>
          <p:cNvSpPr/>
          <p:nvPr/>
        </p:nvSpPr>
        <p:spPr>
          <a:xfrm rot="5400000">
            <a:off x="7365228" y="0"/>
            <a:ext cx="1778700" cy="1778700"/>
          </a:xfrm>
          <a:prstGeom prst="diagStripe">
            <a:avLst>
              <a:gd name="adj" fmla="val 50000"/>
            </a:avLst>
          </a:prstGeom>
          <a:solidFill>
            <a:srgbClr val="EDFA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42"/>
          <p:cNvSpPr txBox="1"/>
          <p:nvPr/>
        </p:nvSpPr>
        <p:spPr>
          <a:xfrm rot="2700000">
            <a:off x="7215273" y="386217"/>
            <a:ext cx="2501461" cy="583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</a:rPr>
              <a:t>Do not edit</a:t>
            </a:r>
            <a:endParaRPr sz="1200" b="1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198038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How to change the design</a:t>
            </a:r>
            <a:endParaRPr sz="1200">
              <a:solidFill>
                <a:srgbClr val="19803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3" name="Google Shape;313;p42" descr="poll-type-id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520" y="1307027"/>
            <a:ext cx="1778772" cy="1778772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2" descr="title-id"/>
          <p:cNvSpPr txBox="1"/>
          <p:nvPr/>
        </p:nvSpPr>
        <p:spPr>
          <a:xfrm>
            <a:off x="2334638" y="1320628"/>
            <a:ext cx="6364800" cy="17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 b="1">
                <a:solidFill>
                  <a:srgbClr val="5B5B5B"/>
                </a:solidFill>
                <a:latin typeface="Inter"/>
                <a:ea typeface="Inter"/>
                <a:cs typeface="Inter"/>
                <a:sym typeface="Inter"/>
              </a:rPr>
              <a:t>Audience Q&amp;A</a:t>
            </a:r>
            <a:endParaRPr sz="3600" b="1">
              <a:solidFill>
                <a:srgbClr val="5B5B5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15" name="Google Shape;315;p42"/>
          <p:cNvSpPr/>
          <p:nvPr/>
        </p:nvSpPr>
        <p:spPr>
          <a:xfrm>
            <a:off x="0" y="4365024"/>
            <a:ext cx="9144000" cy="778500"/>
          </a:xfrm>
          <a:prstGeom prst="rect">
            <a:avLst/>
          </a:prstGeom>
          <a:solidFill>
            <a:srgbClr val="19803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42"/>
          <p:cNvSpPr txBox="1"/>
          <p:nvPr/>
        </p:nvSpPr>
        <p:spPr>
          <a:xfrm>
            <a:off x="555866" y="4365024"/>
            <a:ext cx="6948300" cy="77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Presenting with animations, GIFs or speaker notes? Enable our </a:t>
            </a:r>
            <a:r>
              <a:rPr lang="en-GB" sz="1200" u="sng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Chrome extension</a:t>
            </a:r>
            <a:endParaRPr sz="120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17" name="Google Shape;317;p4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2" descr="logo-id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921094" y="4476329"/>
            <a:ext cx="1111733" cy="555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1032</Words>
  <Application>Microsoft Office PowerPoint</Application>
  <PresentationFormat>On-screen Show (16:9)</PresentationFormat>
  <Paragraphs>137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Open Sans</vt:lpstr>
      <vt:lpstr>맑은 고딕</vt:lpstr>
      <vt:lpstr>PT Sans Narrow</vt:lpstr>
      <vt:lpstr>Inter</vt:lpstr>
      <vt:lpstr>Arial</vt:lpstr>
      <vt:lpstr>Tropic</vt:lpstr>
      <vt:lpstr>PowerPoint Presentation</vt:lpstr>
      <vt:lpstr>PowerPoint Presentation</vt:lpstr>
      <vt:lpstr>PowerPoint Presentation</vt:lpstr>
      <vt:lpstr>Monitoring &amp; Logging in AWS (CloudWatch, CloudTrail, Logging)</vt:lpstr>
      <vt:lpstr>Introduction to AWS CloudFormation</vt:lpstr>
      <vt:lpstr>PowerPoint Presentation</vt:lpstr>
      <vt:lpstr>Key Features of AWS CloudFormation</vt:lpstr>
      <vt:lpstr>PowerPoint Presentation</vt:lpstr>
      <vt:lpstr>CloudFormation Stacks and Templates</vt:lpstr>
      <vt:lpstr>PowerPoint Presentation</vt:lpstr>
      <vt:lpstr>Introduction to Monitoring &amp; Logging in AWS</vt:lpstr>
      <vt:lpstr>PowerPoint Presentation</vt:lpstr>
      <vt:lpstr>Introduction to Amazon CloudWatch</vt:lpstr>
      <vt:lpstr>PowerPoint Presentation</vt:lpstr>
      <vt:lpstr>PowerPoint Presentation</vt:lpstr>
      <vt:lpstr>CloudWatch Logs and Metrics</vt:lpstr>
      <vt:lpstr>PowerPoint Presentation</vt:lpstr>
      <vt:lpstr>Introduction to AWS CloudTrail</vt:lpstr>
      <vt:lpstr>PowerPoint Presentation</vt:lpstr>
      <vt:lpstr>CloudTrail Event Categories</vt:lpstr>
      <vt:lpstr>PowerPoint Presentation</vt:lpstr>
      <vt:lpstr>Logging Best Practices</vt:lpstr>
      <vt:lpstr>PowerPoint Presentation</vt:lpstr>
      <vt:lpstr>PowerPoint Presentation</vt:lpstr>
      <vt:lpstr>Question 1:</vt:lpstr>
      <vt:lpstr>Question 1:</vt:lpstr>
      <vt:lpstr>Question 2:</vt:lpstr>
      <vt:lpstr>Question 2:</vt:lpstr>
      <vt:lpstr>Q3</vt:lpstr>
      <vt:lpstr>Q3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PDS</cp:lastModifiedBy>
  <cp:revision>2</cp:revision>
  <dcterms:modified xsi:type="dcterms:W3CDTF">2026-10-05T01:34:11Z</dcterms:modified>
</cp:coreProperties>
</file>