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PT Sans Narrow" panose="020B0604020202020204" charset="0"/>
      <p:regular r:id="rId25"/>
      <p:bold r:id="rId26"/>
    </p:embeddedFont>
    <p:embeddedFont>
      <p:font typeface="Space Mono" panose="020B0604020202020204" charset="0"/>
      <p:regular r:id="rId27"/>
      <p:bold r:id="rId28"/>
      <p:italic r:id="rId29"/>
      <p:boldItalic r:id="rId30"/>
    </p:embeddedFont>
    <p:embeddedFont>
      <p:font typeface="Inter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727FAA-C759-4758-8499-7AECF4696E92}">
  <a:tblStyle styleId="{24727FAA-C759-4758-8499-7AECF4696E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32" y="9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0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fe2c2316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fe2c2316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fe2c2316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fe2c2316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fe2c2316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fe2c2316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fe2c23167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fe2c23167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fe2c23167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fe2c23167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fe2c2316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fe2c23167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fe2c23167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fe2c23167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fe2c23167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fe2c23167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fe2c23167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fe2c23167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fe2c23167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fe2c23167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fe2c23167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fe2c23167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fe2c23167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fe2c23167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d11e0e7c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d11e0e7c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Amazon 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Amazon RDS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Managed Relational Database Service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Relational Databases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75" y="1152421"/>
            <a:ext cx="9144003" cy="320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https://github.com/Anurag876999/school-database/raw/main/ER_diagra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8991"/>
            <a:ext cx="9269378" cy="387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NoSQL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NoSQL = non-SQL = non relational databases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NoSQL databases are purpose built for specific data models and have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flexible schemas for building modern applications.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44076"/>
            <a:ext cx="4278726" cy="406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D7E6B"/>
                </a:solidFill>
                <a:highlight>
                  <a:schemeClr val="lt1"/>
                </a:highlight>
              </a:rPr>
              <a:t>Practice </a:t>
            </a:r>
            <a:endParaRPr>
              <a:solidFill>
                <a:srgbClr val="DD7E6B"/>
              </a:solidFill>
              <a:highlight>
                <a:schemeClr val="lt1"/>
              </a:highlight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874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Find the username with the highest marks from the table.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Find the second highest marks from the table.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2325" y="1111925"/>
            <a:ext cx="3758999" cy="3844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6"/>
          <p:cNvGraphicFramePr/>
          <p:nvPr/>
        </p:nvGraphicFramePr>
        <p:xfrm>
          <a:off x="5319375" y="715725"/>
          <a:ext cx="3704900" cy="396210"/>
        </p:xfrm>
        <a:graphic>
          <a:graphicData uri="http://schemas.openxmlformats.org/drawingml/2006/table">
            <a:tbl>
              <a:tblPr>
                <a:noFill/>
                <a:tableStyleId>{24727FAA-C759-4758-8499-7AECF4696E92}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SL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Username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Marks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time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" name="Google Shape;90;p16"/>
          <p:cNvSpPr txBox="1"/>
          <p:nvPr/>
        </p:nvSpPr>
        <p:spPr>
          <a:xfrm>
            <a:off x="5741600" y="0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Students</a:t>
            </a:r>
            <a:endParaRPr sz="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40"/>
              <a:t>1. Find the username with the highest marks from the table.</a:t>
            </a:r>
            <a:endParaRPr sz="3040"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311700" y="12498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SELECT Username, Marks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FROM Students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WHERE Marks = (SELECT MAX(Marks) FROM Students);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second highest marks from the table.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SELECT Name, Marks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FROM Students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WHERE Marks = (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    SELECT MAX(Marks)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    FROM Students 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    WHERE Marks &lt; (SELECT MAX(Marks) FROM Students)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Space Mono"/>
                <a:ea typeface="Space Mono"/>
                <a:cs typeface="Space Mono"/>
                <a:sym typeface="Space Mono"/>
              </a:rPr>
              <a:t>);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 &amp; Shared Responsibility on AWS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Many databases technologies could be run on EC2,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but you must handle yourself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The resiliency,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Backup,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Patching,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High availability,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Fault tolerance, 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343939"/>
              </a:buClr>
              <a:buSzPts val="2100"/>
              <a:buFont typeface="Arial"/>
              <a:buChar char="●"/>
            </a:pPr>
            <a:r>
              <a:rPr lang="en-GB" sz="2100">
                <a:solidFill>
                  <a:srgbClr val="343939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 sz="2100">
              <a:solidFill>
                <a:srgbClr val="3439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RDS Overview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069875"/>
            <a:ext cx="61218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91" b="1">
                <a:highlight>
                  <a:schemeClr val="lt1"/>
                </a:highlight>
              </a:rPr>
              <a:t>What is Amazon RDS?</a:t>
            </a:r>
            <a:endParaRPr sz="2091" b="1">
              <a:highlight>
                <a:schemeClr val="lt1"/>
              </a:highlight>
            </a:endParaRPr>
          </a:p>
          <a:p>
            <a:pPr marL="457200" lvl="0" indent="-35147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en-GB" sz="2091">
                <a:highlight>
                  <a:schemeClr val="lt1"/>
                </a:highlight>
              </a:rPr>
              <a:t>A </a:t>
            </a:r>
            <a:r>
              <a:rPr lang="en-GB" sz="2091" b="1">
                <a:highlight>
                  <a:schemeClr val="lt1"/>
                </a:highlight>
              </a:rPr>
              <a:t>fully managed relational database service</a:t>
            </a:r>
            <a:r>
              <a:rPr lang="en-GB" sz="2091">
                <a:highlight>
                  <a:schemeClr val="lt1"/>
                </a:highlight>
              </a:rPr>
              <a:t> supporting MySQL, PostgreSQL, MariaDB, Oracle, SQL Server, and Amazon Aurora.</a:t>
            </a:r>
            <a:endParaRPr sz="2091">
              <a:highlight>
                <a:schemeClr val="lt1"/>
              </a:highlight>
            </a:endParaRPr>
          </a:p>
          <a:p>
            <a:pPr marL="457200" lvl="0" indent="-35147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n-GB" sz="2091">
                <a:highlight>
                  <a:schemeClr val="lt1"/>
                </a:highlight>
              </a:rPr>
              <a:t>Handles database administration tasks (backups, patching, scaling).</a:t>
            </a:r>
            <a:endParaRPr sz="2091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91" b="1">
                <a:highlight>
                  <a:schemeClr val="lt1"/>
                </a:highlight>
              </a:rPr>
              <a:t>Key Benefits</a:t>
            </a:r>
            <a:endParaRPr sz="2091" b="1">
              <a:highlight>
                <a:schemeClr val="lt1"/>
              </a:highlight>
            </a:endParaRPr>
          </a:p>
          <a:p>
            <a:pPr marL="457200" lvl="0" indent="-35147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n-GB" sz="2091">
                <a:highlight>
                  <a:schemeClr val="lt1"/>
                </a:highlight>
              </a:rPr>
              <a:t>High availability with Multi-AZ deployments.</a:t>
            </a:r>
            <a:endParaRPr sz="2091">
              <a:highlight>
                <a:schemeClr val="lt1"/>
              </a:highlight>
            </a:endParaRPr>
          </a:p>
          <a:p>
            <a:pPr marL="457200" lvl="0" indent="-35147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n-GB" sz="2091">
                <a:highlight>
                  <a:schemeClr val="lt1"/>
                </a:highlight>
              </a:rPr>
              <a:t>Automated backups and point-in-time recovery.</a:t>
            </a:r>
            <a:endParaRPr sz="2091">
              <a:highlight>
                <a:schemeClr val="lt1"/>
              </a:highlight>
            </a:endParaRPr>
          </a:p>
          <a:p>
            <a:pPr marL="457200" lvl="0" indent="-35147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"/>
              <a:buChar char="●"/>
            </a:pPr>
            <a:r>
              <a:rPr lang="en-GB" sz="2091">
                <a:highlight>
                  <a:schemeClr val="lt1"/>
                </a:highlight>
              </a:rPr>
              <a:t>Scalable compute and storage.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3350" y="1204525"/>
            <a:ext cx="2558251" cy="23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Supported Database Engines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92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highlight>
                  <a:schemeClr val="lt1"/>
                </a:highlight>
              </a:rPr>
              <a:t>Available Engines</a:t>
            </a:r>
            <a:endParaRPr sz="1700" b="1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MySQL</a:t>
            </a:r>
            <a:r>
              <a:rPr lang="en-GB" sz="1700">
                <a:highlight>
                  <a:schemeClr val="lt1"/>
                </a:highlight>
              </a:rPr>
              <a:t>: Open-source, widely used for web apps.</a:t>
            </a:r>
            <a:endParaRPr sz="1700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PostgreSQL</a:t>
            </a:r>
            <a:r>
              <a:rPr lang="en-GB" sz="1700">
                <a:highlight>
                  <a:schemeClr val="lt1"/>
                </a:highlight>
              </a:rPr>
              <a:t>: Advanced features, JSON support.</a:t>
            </a:r>
            <a:endParaRPr sz="1700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MariaDB</a:t>
            </a:r>
            <a:r>
              <a:rPr lang="en-GB" sz="1700">
                <a:highlight>
                  <a:schemeClr val="lt1"/>
                </a:highlight>
              </a:rPr>
              <a:t>: MySQL fork with enhanced performance.</a:t>
            </a:r>
            <a:endParaRPr sz="1700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Oracle</a:t>
            </a:r>
            <a:r>
              <a:rPr lang="en-GB" sz="1700">
                <a:highlight>
                  <a:schemeClr val="lt1"/>
                </a:highlight>
              </a:rPr>
              <a:t>: Enterprise-grade, licensed.</a:t>
            </a:r>
            <a:endParaRPr sz="1700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SQL Server</a:t>
            </a:r>
            <a:r>
              <a:rPr lang="en-GB" sz="1700">
                <a:highlight>
                  <a:schemeClr val="lt1"/>
                </a:highlight>
              </a:rPr>
              <a:t>: Microsoft’s relational database.</a:t>
            </a:r>
            <a:endParaRPr sz="1700">
              <a:highlight>
                <a:schemeClr val="lt1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nter"/>
              <a:buAutoNum type="arabicPeriod"/>
            </a:pPr>
            <a:r>
              <a:rPr lang="en-GB" sz="1700" b="1">
                <a:highlight>
                  <a:schemeClr val="lt1"/>
                </a:highlight>
              </a:rPr>
              <a:t>Amazon Aurora</a:t>
            </a:r>
            <a:r>
              <a:rPr lang="en-GB" sz="1700">
                <a:highlight>
                  <a:schemeClr val="lt1"/>
                </a:highlight>
              </a:rPr>
              <a:t>: AWS-optimized MySQL/PostgreSQL-compatible DB.</a:t>
            </a:r>
            <a:endParaRPr sz="2300">
              <a:highlight>
                <a:schemeClr val="lt1"/>
              </a:highlight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350" y="1626375"/>
            <a:ext cx="2935501" cy="2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1. Automated Backups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Daily backups + transaction logs (retained for up to 35 days).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Restore to any point within the retention period.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2. Multi-AZ Deployments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Synchronous replication to a standby instance in another AZ.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Automatic failover during outages.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3. Read Replicas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Asynchronous replication for read-heavy workloads (up to 15 replicas).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Available for MySQL, PostgreSQL, MariaDB, and Aurora.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Cases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rgbClr val="F8FAFF"/>
                </a:highlight>
              </a:rPr>
              <a:t>1. Web Applications</a:t>
            </a:r>
            <a:endParaRPr b="1">
              <a:highlight>
                <a:srgbClr val="F8FAFF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rgbClr val="F8FAFF"/>
                </a:highlight>
              </a:rPr>
              <a:t>Host dynamic websites (e.g., WordPress, e-commerce).</a:t>
            </a:r>
            <a:endParaRPr>
              <a:highlight>
                <a:srgbClr val="F8FA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rgbClr val="F8FAFF"/>
                </a:highlight>
              </a:rPr>
              <a:t>2. Enterprise Applications</a:t>
            </a:r>
            <a:endParaRPr b="1">
              <a:highlight>
                <a:srgbClr val="F8FAFF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rgbClr val="F8FAFF"/>
                </a:highlight>
              </a:rPr>
              <a:t>Run ERPs, CRMs, or financial systems.</a:t>
            </a:r>
            <a:endParaRPr>
              <a:highlight>
                <a:srgbClr val="F8FA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rgbClr val="F8FAFF"/>
                </a:highlight>
              </a:rPr>
              <a:t>3. Analytics</a:t>
            </a:r>
            <a:endParaRPr b="1">
              <a:highlight>
                <a:srgbClr val="F8FAFF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rgbClr val="F8FAFF"/>
                </a:highlight>
              </a:rPr>
              <a:t>Use read replicas for reporting without impacting production.</a:t>
            </a:r>
            <a:endParaRPr>
              <a:highlight>
                <a:srgbClr val="F8FA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RDS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Vertical Scaling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</a:pPr>
            <a:r>
              <a:rPr lang="en-GB">
                <a:highlight>
                  <a:schemeClr val="lt1"/>
                </a:highlight>
              </a:rPr>
              <a:t>Increase instance size (e.g., from db.t3.small to db.r5.large).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Requires downtime for some engines.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Horizontal Scaling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Add read replicas to distribute read traffic.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Storage Scaling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Automatically scales up (no downtime) for most engines.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</a:t>
            </a:r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1. Backups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Enable automated backups and test restores.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2. Monitoring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Use CloudWatch for CPU, memory, and storage metrics.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3. Cost Optimization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Use Reserved Instances for long-term workloads.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Delete unused instances.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ElastiCache</a:t>
            </a: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73900" cy="37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</a:rPr>
              <a:t>• The same way RDS is to get managed Relational Databases…</a:t>
            </a:r>
            <a:endParaRPr sz="2100">
              <a:solidFill>
                <a:srgbClr val="3439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</a:rPr>
              <a:t>• ElastiCache is to get managed Redis or Memcached</a:t>
            </a:r>
            <a:endParaRPr sz="2100">
              <a:solidFill>
                <a:srgbClr val="3439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</a:rPr>
              <a:t>• </a:t>
            </a:r>
            <a:r>
              <a:rPr lang="en-GB" sz="2100" b="1">
                <a:solidFill>
                  <a:srgbClr val="343939"/>
                </a:solidFill>
              </a:rPr>
              <a:t>Caches are in-memory databases</a:t>
            </a:r>
            <a:r>
              <a:rPr lang="en-GB" sz="2100">
                <a:solidFill>
                  <a:srgbClr val="343939"/>
                </a:solidFill>
              </a:rPr>
              <a:t> with high performance, low latency</a:t>
            </a:r>
            <a:endParaRPr sz="2100">
              <a:solidFill>
                <a:srgbClr val="34393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43939"/>
                </a:solidFill>
              </a:rPr>
              <a:t>• Helps reduce load off databases for read intensive workloads</a:t>
            </a:r>
            <a:endParaRPr sz="2100">
              <a:solidFill>
                <a:srgbClr val="343939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000000"/>
              </a:solidFill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000" y="1304825"/>
            <a:ext cx="2553600" cy="2505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85179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595</Words>
  <Application>Microsoft Office PowerPoint</Application>
  <PresentationFormat>On-screen Show (16:9)</PresentationFormat>
  <Paragraphs>118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Open Sans</vt:lpstr>
      <vt:lpstr>맑은 고딕</vt:lpstr>
      <vt:lpstr>PT Sans Narrow</vt:lpstr>
      <vt:lpstr>Space Mono</vt:lpstr>
      <vt:lpstr>Inter</vt:lpstr>
      <vt:lpstr>Roboto</vt:lpstr>
      <vt:lpstr>Arial</vt:lpstr>
      <vt:lpstr>Tropic</vt:lpstr>
      <vt:lpstr>PowerPoint Presentation</vt:lpstr>
      <vt:lpstr>Amazon RDS</vt:lpstr>
      <vt:lpstr>Relational Databases</vt:lpstr>
      <vt:lpstr>NoSQL</vt:lpstr>
      <vt:lpstr>Practice </vt:lpstr>
      <vt:lpstr>1. Find the username with the highest marks from the table.</vt:lpstr>
      <vt:lpstr>Find the second highest marks from the table.</vt:lpstr>
      <vt:lpstr>Databases &amp; Shared Responsibility on AWS</vt:lpstr>
      <vt:lpstr>AWS RDS Overview</vt:lpstr>
      <vt:lpstr>Supported Database Engines</vt:lpstr>
      <vt:lpstr>Key Features</vt:lpstr>
      <vt:lpstr>Use Cases</vt:lpstr>
      <vt:lpstr>Scaling RDS</vt:lpstr>
      <vt:lpstr>Best Practices</vt:lpstr>
      <vt:lpstr>AWS ElastiCache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4</cp:revision>
  <dcterms:modified xsi:type="dcterms:W3CDTF">2026-10-05T01:25:06Z</dcterms:modified>
</cp:coreProperties>
</file>